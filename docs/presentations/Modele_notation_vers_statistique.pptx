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984fd844-e2f6-0d4c-002e-945d5cbcf8e5}">
          <p14:sldIdLst>
            <p14:sldId id="256"/>
            <p14:sldId id="257"/>
          </p14:sldIdLst>
        </p14:section>
        <p14:section name="Enjeux" id="{6adef724-e0ee-596f-432a-8f5d98d973d9}">
          <p14:sldIdLst>
            <p14:sldId id="258"/>
          </p14:sldIdLst>
        </p14:section>
        <p14:section name="L'outil" id="{1edfa864-818c-8daf-1c7c-c97da56cb412}">
          <p14:sldIdLst>
            <p14:sldId id="259"/>
            <p14:sldId id="260"/>
          </p14:sldIdLst>
        </p14:section>
        <p14:section name="Pilotage" id="{d25cff36-180e-681e-dbc0-d44027c1fb15}">
          <p14:sldIdLst>
            <p14:sldId id="261"/>
            <p14:sldId id="262"/>
            <p14:sldId id="263"/>
            <p14:sldId id="264"/>
          </p14:sldIdLst>
        </p14:section>
        <p14:section name="Fiabilité et suite" id="{d172d8ed-f1cc-4767-6ac6-5daf44896569}">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6" Type="http://schemas.openxmlformats.org/officeDocument/2006/relationships/slide" Target="slides/slide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Présentation d'environ 30 minutes en deux parties : 1) comment le modèle actuel note une entreprise, grille et cas fictifs à l'appui ; 2) comment passer à un modèle statistique : prérequis, grandes étapes, écarts attendus et maîtrise de la bascule. Un simulateur Excel accompagne la présentation : il reproduit le calcul et rejoue les cinq cas.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principal : la méthode est bonne, les paramètres sont à confirmer. Aujourd'hui, les poids et les barèmes sont des choix d'experts. Le passage au statistique ne change pas la logique de la note ; il remplace des choix par des mesures, sur l'historique de la banque. Les 18 mois sont un ordre de grandeur, qui dépend surtout de la disponibilité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partie : le modèle tel qu'il est appliqué par l'outil.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calcul est déterministe : un même dossier donne toujours la même note. L'analyste ne choisit pas la note, il fournit des données qualifiées et des appréciations ancrées sur des repères écrits. Le défaut constaté est examiné avant la porte de qualité : un défaut s'impose même sur un dossier incomplet. Les exceptions agissent après le grade, sans modifier le score.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poids changent avec la taille : pour une TPE, le compte en dit plus que des comptes souvent peu fiables ; pour une grande entreprise, la capacité à servir la dette domine. Ces poids sont des choix d'experts : c'est précisément ce que l'estimation statistique viendra confirmer ou corriger.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de la grille PME : 14 des 45 critères sont des ratios notés sur un barème à cinq paliers. Les bornes varient selon le segment pour certains ratios (fonds propres, endettement, DSCR). Le barème complet de chaque segment est dans l'onglet « Grille » du simulateur Excel. Une donnée manquante reçoit un score prudent de 25, sauf pour les trois données critiques, qui bloquent la notation.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critères qualitatifs sont ancrés : chaque niveau décrit des faits vérifiables. Cela limite la subjectivité, sans la supprimer. Dans le modèle statistique, ces critères seront testés comme les ratios : ceux qui ne prédisent pas le défaut perdront du poids ou seront regroupés.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score se convertit en grade par des bornes fixes. Les garde-fous empêchent qu'une moyenne masque une situation grave : ils ne modifient jamais le score, ils plafonnent ou remplacent le grade. Aucune probabilité de défaut n'est affichée : la calibration actuelle repose sur des données simulées.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profils choisis pour montrer chaque mécanisme. A : une PME saine obtient STD-P3. B : des comptes corrects, mais retards de 20 jours, dépassements et incidents d'effets : STD-P6. C : un score correct (STD-P5), mais un DSCR de 0,9 en scénario de base plafonne la note à STD-P7. D : trop de données manquantes (46 % du poids observé, contre 60 % exigés) : aucun grade, il faut compléter le dossier. E : un impayé de plus de 90 jours : DEF1, quel que soit le score.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chaque domaine est noté sur 100. Le cas B illustre un point clé pour la suite : le comportement bancaire pèse 20 % pour une PME, et il fait déjà basculer la note. Le modèle statistique pourrait lui donner encore plus de poids, si l'historique le confirme. Le cas D montre la porte de qualité : D2 et D3 sont sous 30 % de données observées.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mécanismes qui distinguent ce modèle d'une simple moyenne. Le simulateur Excel remis avec la présentation permet de les tester : changer un ratio, déclarer une donnée manquante, activer une exception ou un défaut. Il a été contrôlé contre le moteur de l'outil sur les cinq cas : mêmes scores au centième, mêmes grades.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Réponse honnête : oui sur le fond, non démontré statistiquement. Le modèle est un bon modèle de démarrage et d'aide au jugement, cohérent avec le contexte marocain. Il ne devient un outil de mesure du risque qu'en le confrontant aux défauts réels de la banque. Point urgent déjà identifié : la donnée absente notée 25 peut améliorer un critère réellement mauvais (D-32).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partie : comment passer d'un modèle expert à un modèle estimé sur les données de la banque.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modèle statistique garde la structure : critères, domaines, échelle, garde-fous, workflow. Ce qui change, ce sont les nombres : poids, bornes des barèmes et probabilités de défaut par grade. C'est ce qui permet ensuite des usages décisionnels, après validation indépendante et comité.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définition du défaut est le premier chantier : sans elle stable, aucune estimation n'a de sens. Le volume de défauts conditionne la méthode : régression classique là où il y a assez de défauts, méthodes dédiées aux portefeuilles à faibles défauts pour les grandes entreprises. Chaque notation enregistrée par l'outil dès maintenant, en mode pilote, alimente une base propre et datée pour l'avenir.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premières étapes représentent souvent plus de la moitié de l'effort : un modèle ne vaut que ses données. L'échantillon « récent » est une période non utilisée pour construire le modèle, qui sert à vérifier qu'il tient dans le temps. La mise en production commence en parallèle de l'ancien modèle.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régression logistique reste la référence des banques et des régulateurs : chaque point se justifie. Elle produit exactement le format de grille que l'outil sait déjà appliquer : une nouvelle version de modèle se publie sans réécrire l'outil. L'apprentissage automatique sert de garde-fou méthodologique : s'il fait nettement mieux, c'est qu'une variable ou un effet manque dans la grille.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écarts sont ceux qu'on observe habituellement quand un modèle expert est remplacé par un modèle statistique sur des PME ; les vrais écarts ne seront connus qu'avec les données de la banque. Le cas B de la première partie en donne un avant-goût : le compte y fait déjà perdre trois crans. Les écarts de trois crans ou plus concernent typiquement des dossiers aux comptes flatteurs mais au compte dégradé, ou des dossiers très incomplets.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Gini mesure la capacité à classer les futurs défauts dans les mauvais grades : 0 % pour un tirage au hasard, 100 % pour un modèle parfait. Entre 50 et 60 % est un bon niveau pour des PME. L'indice de stabilité vérifie que la population notée ressemble à celle de construction. Les tests par grade vérifient que les défauts observés correspondent aux PD annoncées.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bascule ne se fait pas d'un coup. Les écarts importants sont une information : ils montrent soit ce que l'analyste ne voyait pas, soit une faiblesse de données. Les impacts financiers (provisions, fonds propres, tarification) doivent être chiffrés avant la décision de bascule.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calendrier dépend d'abord de la disponibilité des données historiques. Le pilote de l'outil actuel n'est pas perdu : il forme les équipes, fiabilise les saisies et constitue la base de données de demain. Les grandes entreprises, peu nombreuses à faire défaut, suivront avec des méthodes adaptées.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décisions pour lancer le chantier. La première et la deuxième conditionnent tout le reste. La quatrième est un correctif rapide du modèle actuel, sans attendre le statistique.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Le simulateur Excel permet de rejouer les cinq cas et de tester d'autres profils.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NTERCALAIRE-image-3.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rgbClr val="FFFFFF"/>
        </a:solidFill>
      </p:bgPr>
    </p:bg>
    <p:spTree>
      <p:nvGrpSpPr>
        <p:cNvPr id="1" name=""/>
        <p:cNvGrpSpPr/>
        <p:nvPr/>
      </p:nvGrpSpPr>
      <p:grpSpPr>
        <a:xfrm>
          <a:off x="0" y="0"/>
          <a:ext cx="0" cy="0"/>
          <a:chOff x="0" y="0"/>
          <a:chExt cx="0" cy="0"/>
        </a:xfrm>
      </p:grpSpPr>
      <p:pic>
        <p:nvPicPr>
          <p:cNvPr id="2" name="Image 0" descr="/tmp/claude-0/pdfbcp/assets/fond.png">    </p:cNvPr>
          <p:cNvPicPr>
            <a:picLocks noChangeAspect="1"/>
          </p:cNvPicPr>
          <p:nvPr/>
        </p:nvPicPr>
        <p:blipFill>
          <a:blip r:embed="rId1"/>
          <a:stretch>
            <a:fillRect/>
          </a:stretch>
        </p:blipFill>
        <p:spPr>
          <a:xfrm>
            <a:off x="0" y="1417320"/>
            <a:ext cx="12191695" cy="5440680"/>
          </a:xfrm>
          <a:prstGeom prst="rect">
            <a:avLst/>
          </a:prstGeom>
        </p:spPr>
      </p:pic>
      <p:pic>
        <p:nvPicPr>
          <p:cNvPr id="3" name="Image 1" descr="/tmp/claude-0/pdfbcp/assets/logo.png">    </p:cNvPr>
          <p:cNvPicPr>
            <a:picLocks noChangeAspect="1"/>
          </p:cNvPicPr>
          <p:nvPr/>
        </p:nvPicPr>
        <p:blipFill>
          <a:blip r:embed="rId2"/>
          <a:stretch>
            <a:fillRect/>
          </a:stretch>
        </p:blipFill>
        <p:spPr>
          <a:xfrm>
            <a:off x="5074920" y="164592"/>
            <a:ext cx="2039112" cy="1060704"/>
          </a:xfrm>
          <a:prstGeom prst="rect">
            <a:avLst/>
          </a:prstGeom>
        </p:spPr>
      </p:pic>
      <p:pic>
        <p:nvPicPr>
          <p:cNvPr id="4" name="Image 2" descr="/tmp/claude-0/pdfbcp/assets/motif.png">    </p:cNvPr>
          <p:cNvPicPr>
            <a:picLocks noChangeAspect="1"/>
          </p:cNvPicPr>
          <p:nvPr/>
        </p:nvPicPr>
        <p:blipFill>
          <a:blip r:embed="rId3"/>
          <a:stretch>
            <a:fillRect/>
          </a:stretch>
        </p:blipFill>
        <p:spPr>
          <a:xfrm>
            <a:off x="9646920" y="1691640"/>
            <a:ext cx="1828800" cy="2706624"/>
          </a:xfrm>
          <a:prstGeom prst="rect">
            <a:avLst/>
          </a:prstGeom>
        </p:spPr>
      </p:pic>
      <p:pic>
        <p:nvPicPr>
          <p:cNvPr id="5" name="Image 3" descr="/tmp/claude-0/pdfbcp/assets/motif2.png">    </p:cNvPr>
          <p:cNvPicPr>
            <a:picLocks noChangeAspect="1"/>
          </p:cNvPicPr>
          <p:nvPr/>
        </p:nvPicPr>
        <p:blipFill>
          <a:blip r:embed="rId4"/>
          <a:stretch>
            <a:fillRect/>
          </a:stretch>
        </p:blipFill>
        <p:spPr>
          <a:xfrm>
            <a:off x="9646920" y="4526280"/>
            <a:ext cx="1828800" cy="2103120"/>
          </a:xfrm>
          <a:prstGeom prst="rect">
            <a:avLst/>
          </a:prstGeom>
        </p:spPr>
      </p:pic>
      <p:sp>
        <p:nvSpPr>
          <p:cNvPr id="6" name="Text 0"/>
          <p:cNvSpPr/>
          <p:nvPr>
            <p:ph idx="104" type="title" hasCustomPrompt="1"/>
          </p:nvPr>
        </p:nvSpPr>
        <p:spPr>
          <a:xfrm>
            <a:off x="731520" y="2240280"/>
            <a:ext cx="7863840" cy="201168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7" name="Text 0"/>
          <p:cNvSpPr/>
          <p:nvPr>
            <p:ph idx="105" type="body" hasCustomPrompt="1"/>
          </p:nvPr>
        </p:nvSpPr>
        <p:spPr>
          <a:xfrm>
            <a:off x="731520" y="4434840"/>
            <a:ext cx="7863840" cy="1280160"/>
          </a:xfrm>
          <a:prstGeom prst="rect">
            <a:avLst/>
          </a:prstGeom>
          <a:noFill/>
          <a:ln/>
        </p:spPr>
        <p:txBody>
          <a:bodyPr wrap="square" rtlCol="0"/>
          <a:lstStyle>
            <a:lvl1pPr algn="l" indent="0" marL="0">
              <a:buNone/>
              <a:defRPr lang="en-US" sz="1800" dirty="0">
                <a:solidFill>
                  <a:schemeClr val="bg1"/>
                </a:solidFill>
                <a:latin typeface="Arial" pitchFamily="34" charset="0"/>
                <a:ea typeface="Arial" pitchFamily="34" charset="-122"/>
                <a:cs typeface="Arial"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pdfbcp/assets/logo_blanc.png">    </p:cNvPr>
          <p:cNvPicPr>
            <a:picLocks noChangeAspect="1"/>
          </p:cNvPicPr>
          <p:nvPr/>
        </p:nvPicPr>
        <p:blipFill>
          <a:blip r:embed="rId1"/>
          <a:stretch>
            <a:fillRect/>
          </a:stretch>
        </p:blipFill>
        <p:spPr>
          <a:xfrm>
            <a:off x="548640" y="411480"/>
            <a:ext cx="1371600" cy="713232"/>
          </a:xfrm>
          <a:prstGeom prst="rect">
            <a:avLst/>
          </a:prstGeom>
        </p:spPr>
      </p:pic>
      <p:pic>
        <p:nvPicPr>
          <p:cNvPr id="3" name="Image 1" descr="/tmp/claude-0/pdfbcp/assets/motif.png">    </p:cNvPr>
          <p:cNvPicPr>
            <a:picLocks noChangeAspect="1"/>
          </p:cNvPicPr>
          <p:nvPr/>
        </p:nvPicPr>
        <p:blipFill>
          <a:blip r:embed="rId2"/>
          <a:stretch>
            <a:fillRect/>
          </a:stretch>
        </p:blipFill>
        <p:spPr>
          <a:xfrm>
            <a:off x="9692640" y="502920"/>
            <a:ext cx="1920240" cy="2834640"/>
          </a:xfrm>
          <a:prstGeom prst="rect">
            <a:avLst/>
          </a:prstGeom>
        </p:spPr>
      </p:pic>
      <p:sp>
        <p:nvSpPr>
          <p:cNvPr id="4" name="Text 0"/>
          <p:cNvSpPr/>
          <p:nvPr>
            <p:ph idx="102" type="body" hasCustomPrompt="1"/>
          </p:nvPr>
        </p:nvSpPr>
        <p:spPr>
          <a:xfrm>
            <a:off x="731520" y="2103120"/>
            <a:ext cx="2743200" cy="1097280"/>
          </a:xfrm>
          <a:prstGeom prst="rect">
            <a:avLst/>
          </a:prstGeom>
          <a:noFill/>
          <a:ln/>
        </p:spPr>
        <p:txBody>
          <a:bodyPr wrap="square" rtlCol="0"/>
          <a:lstStyle>
            <a:lvl1pPr algn="l" indent="0" marL="0">
              <a:buNone/>
              <a:defRPr lang="en-US" sz="6000" b="1" dirty="0">
                <a:solidFill>
                  <a:schemeClr val="bg1"/>
                </a:solidFill>
                <a:latin typeface="Arial" pitchFamily="34" charset="0"/>
                <a:ea typeface="Arial" pitchFamily="34" charset="-122"/>
                <a:cs typeface="Arial" pitchFamily="34" charset="-120"/>
              </a:defRPr>
            </a:lvl1pPr>
          </a:lstStyle>
          <a:p>
            <a:pPr algn="l" indent="0" marL="0">
              <a:buNone/>
            </a:pPr>
            <a:endParaRPr lang="en-US" sz="6000" dirty="0"/>
          </a:p>
        </p:txBody>
      </p:sp>
      <p:sp>
        <p:nvSpPr>
          <p:cNvPr id="5" name="Text 0"/>
          <p:cNvSpPr/>
          <p:nvPr>
            <p:ph idx="103" type="title" hasCustomPrompt="1"/>
          </p:nvPr>
        </p:nvSpPr>
        <p:spPr>
          <a:xfrm>
            <a:off x="731520" y="3200400"/>
            <a:ext cx="8595360" cy="137160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6" name="Text 0"/>
          <p:cNvSpPr/>
          <p:nvPr>
            <p:ph idx="104" type="body" hasCustomPrompt="1"/>
          </p:nvPr>
        </p:nvSpPr>
        <p:spPr>
          <a:xfrm>
            <a:off x="731520" y="4617720"/>
            <a:ext cx="8595360" cy="1097280"/>
          </a:xfrm>
          <a:prstGeom prst="rect">
            <a:avLst/>
          </a:prstGeom>
          <a:noFill/>
          <a:ln/>
        </p:spPr>
        <p:txBody>
          <a:bodyPr wrap="square" rtlCol="0"/>
          <a:lstStyle>
            <a:lvl1pPr algn="l" indent="0" marL="0">
              <a:buNone/>
              <a:defRPr lang="en-US" sz="1800" dirty="0">
                <a:solidFill>
                  <a:schemeClr val="bg1"/>
                </a:solidFill>
                <a:latin typeface="Arial" pitchFamily="34" charset="0"/>
                <a:ea typeface="Arial" pitchFamily="34" charset="-122"/>
                <a:cs typeface="Arial" pitchFamily="34" charset="-120"/>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p:bgPr>
    </p:bg>
    <p:spTree>
      <p:nvGrpSpPr>
        <p:cNvPr id="1" name=""/>
        <p:cNvGrpSpPr/>
        <p:nvPr/>
      </p:nvGrpSpPr>
      <p:grpSpPr>
        <a:xfrm>
          <a:off x="0" y="0"/>
          <a:ext cx="0" cy="0"/>
          <a:chOff x="0" y="0"/>
          <a:chExt cx="0" cy="0"/>
        </a:xfrm>
      </p:grpSpPr>
      <p:pic>
        <p:nvPicPr>
          <p:cNvPr id="2" name="Image 0" descr="/tmp/claude-0/pdfbcp/assets/bandeau.png">    </p:cNvPr>
          <p:cNvPicPr>
            <a:picLocks noChangeAspect="1"/>
          </p:cNvPicPr>
          <p:nvPr/>
        </p:nvPicPr>
        <p:blipFill>
          <a:blip r:embed="rId1"/>
          <a:stretch>
            <a:fillRect/>
          </a:stretch>
        </p:blipFill>
        <p:spPr>
          <a:xfrm>
            <a:off x="411480" y="274320"/>
            <a:ext cx="11365992" cy="713232"/>
          </a:xfrm>
          <a:prstGeom prst="rect">
            <a:avLst/>
          </a:prstGeom>
        </p:spPr>
      </p:pic>
      <p:pic>
        <p:nvPicPr>
          <p:cNvPr id="3" name="Image 1" descr="/tmp/claude-0/pdfbcp/assets/logo_blanc.png">    </p:cNvPr>
          <p:cNvPicPr>
            <a:picLocks noChangeAspect="1"/>
          </p:cNvPicPr>
          <p:nvPr/>
        </p:nvPicPr>
        <p:blipFill>
          <a:blip r:embed="rId2"/>
          <a:stretch>
            <a:fillRect/>
          </a:stretch>
        </p:blipFill>
        <p:spPr>
          <a:xfrm>
            <a:off x="10744200" y="329184"/>
            <a:ext cx="914400" cy="475488"/>
          </a:xfrm>
          <a:prstGeom prst="rect">
            <a:avLst/>
          </a:prstGeom>
        </p:spPr>
      </p:pic>
      <p:sp>
        <p:nvSpPr>
          <p:cNvPr id="4" name="Text 0"/>
          <p:cNvSpPr/>
          <p:nvPr>
            <p:ph idx="102" type="title" hasCustomPrompt="1"/>
          </p:nvPr>
        </p:nvSpPr>
        <p:spPr>
          <a:xfrm>
            <a:off x="594360" y="274320"/>
            <a:ext cx="9966960" cy="713232"/>
          </a:xfrm>
          <a:prstGeom prst="rect">
            <a:avLst/>
          </a:prstGeom>
          <a:noFill/>
          <a:ln/>
        </p:spPr>
        <p:txBody>
          <a:bodyPr wrap="square" rtlCol="0"/>
          <a:lstStyle>
            <a:lvl1pPr indent="0" marL="0">
              <a:buNone/>
              <a:defRPr lang="en-US" sz="2400" b="1" dirty="0">
                <a:solidFill>
                  <a:schemeClr val="bg1"/>
                </a:solidFill>
                <a:latin typeface="Arial" pitchFamily="34" charset="0"/>
                <a:ea typeface="Arial" pitchFamily="34" charset="-122"/>
                <a:cs typeface="Arial" pitchFamily="34" charset="-120"/>
              </a:defRPr>
            </a:lvl1pPr>
          </a:lstStyle>
          <a:p>
            <a:pPr indent="0" marL="0">
              <a:buNone/>
            </a:pPr>
            <a:endParaRPr lang="en-US" sz="2400" dirty="0"/>
          </a:p>
        </p:txBody>
      </p:sp>
      <p:sp>
        <p:nvSpPr>
          <p:cNvPr id="5" name="Text 0"/>
          <p:cNvSpPr/>
          <p:nvPr/>
        </p:nvSpPr>
        <p:spPr>
          <a:xfrm>
            <a:off x="411480" y="6446520"/>
            <a:ext cx="8229600" cy="274320"/>
          </a:xfrm>
          <a:prstGeom prst="rect">
            <a:avLst/>
          </a:prstGeom>
          <a:noFill/>
          <a:ln/>
        </p:spPr>
        <p:txBody>
          <a:bodyPr wrap="square" rtlCol="0" anchor="ctr"/>
          <a:lstStyle/>
          <a:p>
            <a:pPr indent="0" marL="0">
              <a:buNone/>
            </a:pPr>
            <a:r>
              <a:rPr lang="en-US" sz="1000" dirty="0">
                <a:solidFill>
                  <a:schemeClr val="accent4"/>
                </a:solidFill>
                <a:latin typeface="Arial" pitchFamily="34" charset="0"/>
                <a:ea typeface="Arial" pitchFamily="34" charset="-122"/>
                <a:cs typeface="Arial" pitchFamily="34" charset="-120"/>
              </a:rPr>
              <a:t>Modèle de notation interne des entreprises — TPE, PME et grandes entreprises</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3-1.png"/><Relationship Id="rId9" Type="http://schemas.openxmlformats.org/officeDocument/2006/relationships/image" Target="../media/image3.png"/><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6.png"/><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4" type="title" hasCustomPrompt="1"/>
          </p:nvPr>
        </p:nvSpPr>
        <p:spPr>
          <a:xfrm>
            <a:off x="731520" y="2240280"/>
            <a:ext cx="7863840" cy="2011680"/>
          </a:xfrm>
          <a:prstGeom prst="rect">
            <a:avLst/>
          </a:prstGeom>
          <a:noFill/>
          <a:ln/>
        </p:spPr>
        <p:txBody>
          <a:bodyPr wrap="square" rtlCol="0" anchor="b"/>
          <a:lstStyle/>
          <a:p>
            <a:pPr algn="l" indent="0" marL="0">
              <a:buNone/>
            </a:pPr>
            <a:r>
              <a:rPr lang="en-US" sz="5400" b="1" dirty="0">
                <a:solidFill>
                  <a:schemeClr val="bg1"/>
                </a:solidFill>
                <a:latin typeface="Arial" pitchFamily="34" charset="0"/>
                <a:ea typeface="Arial" pitchFamily="34" charset="-122"/>
                <a:cs typeface="Arial" pitchFamily="34" charset="-120"/>
              </a:rPr>
              <a:t>MODÈLE DE NOTATION</a:t>
            </a:r>
            <a:endParaRPr lang="en-US" sz="4000" dirty="0"/>
          </a:p>
          <a:p>
            <a:pPr algn="l" indent="0" marL="0">
              <a:buNone/>
            </a:pPr>
            <a:r>
              <a:rPr lang="en-US" sz="3000" b="1" dirty="0">
                <a:solidFill>
                  <a:schemeClr val="bg1"/>
                </a:solidFill>
                <a:latin typeface="Arial" pitchFamily="34" charset="0"/>
                <a:ea typeface="Arial" pitchFamily="34" charset="-122"/>
                <a:cs typeface="Arial" pitchFamily="34" charset="-120"/>
              </a:rPr>
              <a:t>DU MODÈLE EXPERT AU MODÈLE STATISTIQUE</a:t>
            </a:r>
            <a:endParaRPr lang="en-US" sz="4000" dirty="0"/>
          </a:p>
        </p:txBody>
      </p:sp>
      <p:sp>
        <p:nvSpPr>
          <p:cNvPr id="3" name="Text 0"/>
          <p:cNvSpPr/>
          <p:nvPr>
            <p:ph idx="105" type="body" hasCustomPrompt="1"/>
          </p:nvPr>
        </p:nvSpPr>
        <p:spPr>
          <a:xfrm>
            <a:off x="731520" y="4434840"/>
            <a:ext cx="7863840" cy="1280160"/>
          </a:xfrm>
          <a:prstGeom prst="rect">
            <a:avLst/>
          </a:prstGeom>
          <a:noFill/>
          <a:ln/>
        </p:spPr>
        <p:txBody>
          <a:bodyPr wrap="square" rtlCol="0" anchor="t"/>
          <a:lstStyle/>
          <a:p>
            <a:pPr algn="l" indent="0" marL="0">
              <a:buNone/>
            </a:pPr>
            <a:r>
              <a:rPr lang="en-US" sz="1800" dirty="0">
                <a:solidFill>
                  <a:schemeClr val="bg1"/>
                </a:solidFill>
                <a:latin typeface="Arial" pitchFamily="34" charset="0"/>
                <a:ea typeface="Arial" pitchFamily="34" charset="-122"/>
                <a:cs typeface="Arial" pitchFamily="34" charset="-120"/>
              </a:rPr>
              <a:t>La grille actuelle, des cas concrets, et la démarche pour passer à un modèle estimé sur les défauts de la banque — octobre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L'ESSENTIEL</a:t>
            </a:r>
            <a:endParaRPr lang="en-US" sz="2400" dirty="0"/>
          </a:p>
        </p:txBody>
      </p:sp>
      <p:sp>
        <p:nvSpPr>
          <p:cNvPr id="4" name="Text 1"/>
          <p:cNvSpPr txBox="1"/>
          <p:nvPr/>
        </p:nvSpPr>
        <p:spPr>
          <a:xfrm>
            <a:off x="457200" y="1188720"/>
            <a:ext cx="11320272" cy="731520"/>
          </a:xfrm>
          <a:prstGeom prst="rect">
            <a:avLst/>
          </a:prstGeom>
          <a:noFill/>
          <a:ln/>
        </p:spPr>
        <p:txBody>
          <a:bodyPr wrap="square" lIns="0" tIns="0" rIns="0" bIns="0" rtlCol="0" anchor="ctr"/>
          <a:lstStyle/>
          <a:p>
            <a:pPr indent="0" marL="0">
              <a:buNone/>
            </a:pPr>
            <a:r>
              <a:rPr lang="en-US" sz="2200" b="1" dirty="0">
                <a:solidFill>
                  <a:srgbClr val="462016"/>
                </a:solidFill>
              </a:rPr>
              <a:t>Le modèle actuel est solide dans sa construction ; il devient un outil de mesure du risque en l'estimant sur les défauts réels de la banque.</a:t>
            </a:r>
            <a:endParaRPr lang="en-US" sz="2200" dirty="0"/>
          </a:p>
        </p:txBody>
      </p:sp>
      <p:sp>
        <p:nvSpPr>
          <p:cNvPr id="5" name="chiffre-0"/>
          <p:cNvSpPr/>
          <p:nvPr/>
        </p:nvSpPr>
        <p:spPr>
          <a:xfrm>
            <a:off x="457200" y="2194560"/>
            <a:ext cx="2670048" cy="3017520"/>
          </a:xfrm>
          <a:prstGeom prst="roundRect">
            <a:avLst>
              <a:gd name="adj" fmla="val 3425"/>
            </a:avLst>
          </a:prstGeom>
          <a:solidFill>
            <a:srgbClr val="F2E8DB"/>
          </a:solidFill>
          <a:ln/>
        </p:spPr>
      </p:sp>
      <p:sp>
        <p:nvSpPr>
          <p:cNvPr id="6" name="Text 3"/>
          <p:cNvSpPr txBox="1"/>
          <p:nvPr/>
        </p:nvSpPr>
        <p:spPr>
          <a:xfrm>
            <a:off x="685800" y="2377440"/>
            <a:ext cx="2194560" cy="1143000"/>
          </a:xfrm>
          <a:prstGeom prst="rect">
            <a:avLst/>
          </a:prstGeom>
          <a:noFill/>
          <a:ln/>
        </p:spPr>
        <p:txBody>
          <a:bodyPr wrap="square" lIns="0" tIns="0" rIns="0" bIns="0" rtlCol="0" anchor="ctr"/>
          <a:lstStyle/>
          <a:p>
            <a:pPr indent="0" marL="0">
              <a:buNone/>
            </a:pPr>
            <a:r>
              <a:rPr lang="en-US" sz="6600" b="1" dirty="0">
                <a:solidFill>
                  <a:srgbClr val="E37B05"/>
                </a:solidFill>
              </a:rPr>
              <a:t>45</a:t>
            </a:r>
            <a:endParaRPr lang="en-US" sz="6600" dirty="0"/>
          </a:p>
        </p:txBody>
      </p:sp>
      <p:sp>
        <p:nvSpPr>
          <p:cNvPr id="7" name="Text 4"/>
          <p:cNvSpPr txBox="1"/>
          <p:nvPr/>
        </p:nvSpPr>
        <p:spPr>
          <a:xfrm>
            <a:off x="685800" y="3520440"/>
            <a:ext cx="2194560" cy="457200"/>
          </a:xfrm>
          <a:prstGeom prst="rect">
            <a:avLst/>
          </a:prstGeom>
          <a:noFill/>
          <a:ln/>
        </p:spPr>
        <p:txBody>
          <a:bodyPr wrap="square" lIns="0" tIns="0" rIns="0" bIns="0" rtlCol="0" anchor="ctr"/>
          <a:lstStyle/>
          <a:p>
            <a:pPr indent="0" marL="0">
              <a:buNone/>
            </a:pPr>
            <a:r>
              <a:rPr lang="en-US" sz="1800" b="1" dirty="0">
                <a:solidFill>
                  <a:srgbClr val="462016"/>
                </a:solidFill>
              </a:rPr>
              <a:t>CRITÈRES</a:t>
            </a:r>
            <a:endParaRPr lang="en-US" sz="1800" dirty="0"/>
          </a:p>
        </p:txBody>
      </p:sp>
      <p:sp>
        <p:nvSpPr>
          <p:cNvPr id="8" name="Text 5"/>
          <p:cNvSpPr txBox="1"/>
          <p:nvPr/>
        </p:nvSpPr>
        <p:spPr>
          <a:xfrm>
            <a:off x="685800" y="4023360"/>
            <a:ext cx="2240280" cy="1554480"/>
          </a:xfrm>
          <a:prstGeom prst="rect">
            <a:avLst/>
          </a:prstGeom>
          <a:noFill/>
          <a:ln/>
        </p:spPr>
        <p:txBody>
          <a:bodyPr wrap="square" lIns="0" tIns="0" rIns="0" bIns="0" rtlCol="0" anchor="t"/>
          <a:lstStyle/>
          <a:p>
            <a:pPr indent="0" marL="0">
              <a:buNone/>
            </a:pPr>
            <a:r>
              <a:rPr lang="en-US" sz="1400" dirty="0">
                <a:solidFill>
                  <a:srgbClr val="3D3D3B"/>
                </a:solidFill>
              </a:rPr>
              <a:t>sur 7 domaines, pondérés selon la taille : TPE, PME ou grande entreprise</a:t>
            </a:r>
            <a:endParaRPr lang="en-US" sz="1400" dirty="0"/>
          </a:p>
        </p:txBody>
      </p:sp>
      <p:sp>
        <p:nvSpPr>
          <p:cNvPr id="9" name="chiffre-1"/>
          <p:cNvSpPr/>
          <p:nvPr/>
        </p:nvSpPr>
        <p:spPr>
          <a:xfrm>
            <a:off x="3319272" y="2194560"/>
            <a:ext cx="2670048" cy="3017520"/>
          </a:xfrm>
          <a:prstGeom prst="roundRect">
            <a:avLst>
              <a:gd name="adj" fmla="val 3425"/>
            </a:avLst>
          </a:prstGeom>
          <a:solidFill>
            <a:srgbClr val="FBF6F0"/>
          </a:solidFill>
          <a:ln/>
        </p:spPr>
      </p:sp>
      <p:sp>
        <p:nvSpPr>
          <p:cNvPr id="10" name="Text 7"/>
          <p:cNvSpPr txBox="1"/>
          <p:nvPr/>
        </p:nvSpPr>
        <p:spPr>
          <a:xfrm>
            <a:off x="3547872" y="2377440"/>
            <a:ext cx="2194560" cy="1143000"/>
          </a:xfrm>
          <a:prstGeom prst="rect">
            <a:avLst/>
          </a:prstGeom>
          <a:noFill/>
          <a:ln/>
        </p:spPr>
        <p:txBody>
          <a:bodyPr wrap="square" lIns="0" tIns="0" rIns="0" bIns="0" rtlCol="0" anchor="ctr"/>
          <a:lstStyle/>
          <a:p>
            <a:pPr indent="0" marL="0">
              <a:buNone/>
            </a:pPr>
            <a:r>
              <a:rPr lang="en-US" sz="6600" b="1" dirty="0">
                <a:solidFill>
                  <a:srgbClr val="E37B05"/>
                </a:solidFill>
              </a:rPr>
              <a:t>5</a:t>
            </a:r>
            <a:endParaRPr lang="en-US" sz="6600" dirty="0"/>
          </a:p>
        </p:txBody>
      </p:sp>
      <p:sp>
        <p:nvSpPr>
          <p:cNvPr id="11" name="Text 8"/>
          <p:cNvSpPr txBox="1"/>
          <p:nvPr/>
        </p:nvSpPr>
        <p:spPr>
          <a:xfrm>
            <a:off x="3547872" y="3520440"/>
            <a:ext cx="2194560" cy="457200"/>
          </a:xfrm>
          <a:prstGeom prst="rect">
            <a:avLst/>
          </a:prstGeom>
          <a:noFill/>
          <a:ln/>
        </p:spPr>
        <p:txBody>
          <a:bodyPr wrap="square" lIns="0" tIns="0" rIns="0" bIns="0" rtlCol="0" anchor="ctr"/>
          <a:lstStyle/>
          <a:p>
            <a:pPr indent="0" marL="0">
              <a:buNone/>
            </a:pPr>
            <a:r>
              <a:rPr lang="en-US" sz="1800" b="1" dirty="0">
                <a:solidFill>
                  <a:srgbClr val="462016"/>
                </a:solidFill>
              </a:rPr>
              <a:t>CAS FICTIFS</a:t>
            </a:r>
            <a:endParaRPr lang="en-US" sz="1800" dirty="0"/>
          </a:p>
        </p:txBody>
      </p:sp>
      <p:sp>
        <p:nvSpPr>
          <p:cNvPr id="12" name="Text 9"/>
          <p:cNvSpPr txBox="1"/>
          <p:nvPr/>
        </p:nvSpPr>
        <p:spPr>
          <a:xfrm>
            <a:off x="3547872" y="4023360"/>
            <a:ext cx="2240280" cy="1554480"/>
          </a:xfrm>
          <a:prstGeom prst="rect">
            <a:avLst/>
          </a:prstGeom>
          <a:noFill/>
          <a:ln/>
        </p:spPr>
        <p:txBody>
          <a:bodyPr wrap="square" lIns="0" tIns="0" rIns="0" bIns="0" rtlCol="0" anchor="t"/>
          <a:lstStyle/>
          <a:p>
            <a:pPr indent="0" marL="0">
              <a:buNone/>
            </a:pPr>
            <a:r>
              <a:rPr lang="en-US" sz="1400" dirty="0">
                <a:solidFill>
                  <a:srgbClr val="3D3D3B"/>
                </a:solidFill>
              </a:rPr>
              <a:t>calculés par le moteur de l'outil et rejouables dans le simulateur Excel</a:t>
            </a:r>
            <a:endParaRPr lang="en-US" sz="1400" dirty="0"/>
          </a:p>
        </p:txBody>
      </p:sp>
      <p:sp>
        <p:nvSpPr>
          <p:cNvPr id="13" name="chiffre-2"/>
          <p:cNvSpPr/>
          <p:nvPr/>
        </p:nvSpPr>
        <p:spPr>
          <a:xfrm>
            <a:off x="6181344" y="2194560"/>
            <a:ext cx="2670048" cy="3017520"/>
          </a:xfrm>
          <a:prstGeom prst="roundRect">
            <a:avLst>
              <a:gd name="adj" fmla="val 3425"/>
            </a:avLst>
          </a:prstGeom>
          <a:solidFill>
            <a:srgbClr val="F2E8DB"/>
          </a:solidFill>
          <a:ln/>
        </p:spPr>
      </p:sp>
      <p:sp>
        <p:nvSpPr>
          <p:cNvPr id="14" name="Text 11"/>
          <p:cNvSpPr txBox="1"/>
          <p:nvPr/>
        </p:nvSpPr>
        <p:spPr>
          <a:xfrm>
            <a:off x="6409944" y="2377440"/>
            <a:ext cx="2194560" cy="1143000"/>
          </a:xfrm>
          <a:prstGeom prst="rect">
            <a:avLst/>
          </a:prstGeom>
          <a:noFill/>
          <a:ln/>
        </p:spPr>
        <p:txBody>
          <a:bodyPr wrap="square" lIns="0" tIns="0" rIns="0" bIns="0" rtlCol="0" anchor="ctr"/>
          <a:lstStyle/>
          <a:p>
            <a:pPr indent="0" marL="0">
              <a:buNone/>
            </a:pPr>
            <a:r>
              <a:rPr lang="en-US" sz="6600" b="1" dirty="0">
                <a:solidFill>
                  <a:srgbClr val="E37B05"/>
                </a:solidFill>
              </a:rPr>
              <a:t>4</a:t>
            </a:r>
            <a:endParaRPr lang="en-US" sz="6600" dirty="0"/>
          </a:p>
        </p:txBody>
      </p:sp>
      <p:sp>
        <p:nvSpPr>
          <p:cNvPr id="15" name="Text 12"/>
          <p:cNvSpPr txBox="1"/>
          <p:nvPr/>
        </p:nvSpPr>
        <p:spPr>
          <a:xfrm>
            <a:off x="6409944" y="3520440"/>
            <a:ext cx="2194560" cy="457200"/>
          </a:xfrm>
          <a:prstGeom prst="rect">
            <a:avLst/>
          </a:prstGeom>
          <a:noFill/>
          <a:ln/>
        </p:spPr>
        <p:txBody>
          <a:bodyPr wrap="square" lIns="0" tIns="0" rIns="0" bIns="0" rtlCol="0" anchor="ctr"/>
          <a:lstStyle/>
          <a:p>
            <a:pPr indent="0" marL="0">
              <a:buNone/>
            </a:pPr>
            <a:r>
              <a:rPr lang="en-US" sz="1800" b="1" dirty="0">
                <a:solidFill>
                  <a:srgbClr val="462016"/>
                </a:solidFill>
              </a:rPr>
              <a:t>PRÉREQUIS</a:t>
            </a:r>
            <a:endParaRPr lang="en-US" sz="1800" dirty="0"/>
          </a:p>
        </p:txBody>
      </p:sp>
      <p:sp>
        <p:nvSpPr>
          <p:cNvPr id="16" name="Text 13"/>
          <p:cNvSpPr txBox="1"/>
          <p:nvPr/>
        </p:nvSpPr>
        <p:spPr>
          <a:xfrm>
            <a:off x="6409944" y="4023360"/>
            <a:ext cx="2240280" cy="1554480"/>
          </a:xfrm>
          <a:prstGeom prst="rect">
            <a:avLst/>
          </a:prstGeom>
          <a:noFill/>
          <a:ln/>
        </p:spPr>
        <p:txBody>
          <a:bodyPr wrap="square" lIns="0" tIns="0" rIns="0" bIns="0" rtlCol="0" anchor="t"/>
          <a:lstStyle/>
          <a:p>
            <a:pPr indent="0" marL="0">
              <a:buNone/>
            </a:pPr>
            <a:r>
              <a:rPr lang="en-US" sz="1400" dirty="0">
                <a:solidFill>
                  <a:srgbClr val="3D3D3B"/>
                </a:solidFill>
              </a:rPr>
              <a:t>définition du défaut, historique de 5 à 7 ans, volume de défauts, données traçables</a:t>
            </a:r>
            <a:endParaRPr lang="en-US" sz="1400" dirty="0"/>
          </a:p>
        </p:txBody>
      </p:sp>
      <p:sp>
        <p:nvSpPr>
          <p:cNvPr id="17" name="chiffre-3"/>
          <p:cNvSpPr/>
          <p:nvPr/>
        </p:nvSpPr>
        <p:spPr>
          <a:xfrm>
            <a:off x="9043416" y="2194560"/>
            <a:ext cx="2670048" cy="3017520"/>
          </a:xfrm>
          <a:prstGeom prst="roundRect">
            <a:avLst>
              <a:gd name="adj" fmla="val 3425"/>
            </a:avLst>
          </a:prstGeom>
          <a:solidFill>
            <a:srgbClr val="FBF6F0"/>
          </a:solidFill>
          <a:ln/>
        </p:spPr>
      </p:sp>
      <p:sp>
        <p:nvSpPr>
          <p:cNvPr id="18" name="Text 15"/>
          <p:cNvSpPr txBox="1"/>
          <p:nvPr/>
        </p:nvSpPr>
        <p:spPr>
          <a:xfrm>
            <a:off x="9272016" y="2377440"/>
            <a:ext cx="2194560" cy="1143000"/>
          </a:xfrm>
          <a:prstGeom prst="rect">
            <a:avLst/>
          </a:prstGeom>
          <a:noFill/>
          <a:ln/>
        </p:spPr>
        <p:txBody>
          <a:bodyPr wrap="square" lIns="0" tIns="0" rIns="0" bIns="0" rtlCol="0" anchor="ctr"/>
          <a:lstStyle/>
          <a:p>
            <a:pPr indent="0" marL="0">
              <a:buNone/>
            </a:pPr>
            <a:r>
              <a:rPr lang="en-US" sz="6600" b="1" dirty="0">
                <a:solidFill>
                  <a:srgbClr val="E37B05"/>
                </a:solidFill>
              </a:rPr>
              <a:t>18</a:t>
            </a:r>
            <a:endParaRPr lang="en-US" sz="6600" dirty="0"/>
          </a:p>
        </p:txBody>
      </p:sp>
      <p:sp>
        <p:nvSpPr>
          <p:cNvPr id="19" name="Text 16"/>
          <p:cNvSpPr txBox="1"/>
          <p:nvPr/>
        </p:nvSpPr>
        <p:spPr>
          <a:xfrm>
            <a:off x="9272016" y="3520440"/>
            <a:ext cx="2194560" cy="457200"/>
          </a:xfrm>
          <a:prstGeom prst="rect">
            <a:avLst/>
          </a:prstGeom>
          <a:noFill/>
          <a:ln/>
        </p:spPr>
        <p:txBody>
          <a:bodyPr wrap="square" lIns="0" tIns="0" rIns="0" bIns="0" rtlCol="0" anchor="ctr"/>
          <a:lstStyle/>
          <a:p>
            <a:pPr indent="0" marL="0">
              <a:buNone/>
            </a:pPr>
            <a:r>
              <a:rPr lang="en-US" sz="1800" b="1" dirty="0">
                <a:solidFill>
                  <a:srgbClr val="462016"/>
                </a:solidFill>
              </a:rPr>
              <a:t>MOIS</a:t>
            </a:r>
            <a:endParaRPr lang="en-US" sz="1800" dirty="0"/>
          </a:p>
        </p:txBody>
      </p:sp>
      <p:sp>
        <p:nvSpPr>
          <p:cNvPr id="20" name="Text 17"/>
          <p:cNvSpPr txBox="1"/>
          <p:nvPr/>
        </p:nvSpPr>
        <p:spPr>
          <a:xfrm>
            <a:off x="9272016" y="4023360"/>
            <a:ext cx="2240280" cy="1554480"/>
          </a:xfrm>
          <a:prstGeom prst="rect">
            <a:avLst/>
          </a:prstGeom>
          <a:noFill/>
          <a:ln/>
        </p:spPr>
        <p:txBody>
          <a:bodyPr wrap="square" lIns="0" tIns="0" rIns="0" bIns="0" rtlCol="0" anchor="t"/>
          <a:lstStyle/>
          <a:p>
            <a:pPr indent="0" marL="0">
              <a:buNone/>
            </a:pPr>
            <a:r>
              <a:rPr lang="en-US" sz="1400" dirty="0">
                <a:solidFill>
                  <a:srgbClr val="3D3D3B"/>
                </a:solidFill>
              </a:rPr>
              <a:t>environ, de la collecte des données à la mise en production d'un modèle statistique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3" type="title" hasCustomPrompt="1"/>
          </p:nvPr>
        </p:nvSpPr>
        <p:spPr>
          <a:xfrm>
            <a:off x="731520" y="3200400"/>
            <a:ext cx="8595360" cy="137160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1. LE MODÈLE ACTUEL</a:t>
            </a:r>
            <a:endParaRPr lang="en-US" sz="4000" dirty="0"/>
          </a:p>
        </p:txBody>
      </p:sp>
      <p:sp>
        <p:nvSpPr>
          <p:cNvPr id="3" name="Text 0"/>
          <p:cNvSpPr/>
          <p:nvPr>
            <p:ph idx="104" type="body" hasCustomPrompt="1"/>
          </p:nvPr>
        </p:nvSpPr>
        <p:spPr>
          <a:xfrm>
            <a:off x="731520" y="4617720"/>
            <a:ext cx="8595360" cy="1097280"/>
          </a:xfrm>
          <a:prstGeom prst="rect">
            <a:avLst/>
          </a:prstGeom>
          <a:noFill/>
          <a:ln/>
        </p:spPr>
        <p:txBody>
          <a:bodyPr wrap="square" rtlCol="0" anchor="t"/>
          <a:lstStyle/>
          <a:p>
            <a:pPr algn="l" indent="0" marL="0">
              <a:buNone/>
            </a:pPr>
            <a:r>
              <a:rPr lang="en-US" sz="1800" dirty="0">
                <a:solidFill>
                  <a:schemeClr val="bg1"/>
                </a:solidFill>
                <a:latin typeface="Arial" pitchFamily="34" charset="0"/>
                <a:ea typeface="Arial" pitchFamily="34" charset="-122"/>
                <a:cs typeface="Arial" pitchFamily="34" charset="-120"/>
              </a:rPr>
              <a:t>Comment une entreprise est notée aujourd'hui : la grille, le calcul et cinq cas</a:t>
            </a:r>
            <a:endParaRPr lang="en-US" sz="1800" dirty="0"/>
          </a:p>
        </p:txBody>
      </p:sp>
      <p:sp>
        <p:nvSpPr>
          <p:cNvPr id="4" name="Text 0"/>
          <p:cNvSpPr/>
          <p:nvPr>
            <p:ph idx="102" type="body" hasCustomPrompt="1"/>
          </p:nvPr>
        </p:nvSpPr>
        <p:spPr>
          <a:xfrm>
            <a:off x="731520" y="2103120"/>
            <a:ext cx="2743200" cy="1097280"/>
          </a:xfrm>
          <a:prstGeom prst="rect">
            <a:avLst/>
          </a:prstGeom>
          <a:noFill/>
          <a:ln/>
        </p:spPr>
        <p:txBody>
          <a:bodyPr wrap="square" rtlCol="0"/>
          <a:lstStyle/>
          <a:p>
            <a:pPr algn="l" indent="0" marL="0">
              <a:buNone/>
            </a:pPr>
            <a:endParaRPr lang="en-US" sz="6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COMMENT SE CONSTRUIT UNE NOTE</a:t>
            </a:r>
            <a:endParaRPr lang="en-US" sz="2400" dirty="0"/>
          </a:p>
        </p:txBody>
      </p:sp>
      <p:sp>
        <p:nvSpPr>
          <p:cNvPr id="4" name="etape-1"/>
          <p:cNvSpPr/>
          <p:nvPr/>
        </p:nvSpPr>
        <p:spPr>
          <a:xfrm>
            <a:off x="457200" y="1417320"/>
            <a:ext cx="2240280" cy="1051560"/>
          </a:xfrm>
          <a:prstGeom prst="chevron">
            <a:avLst/>
          </a:prstGeom>
          <a:solidFill>
            <a:srgbClr val="E37B05"/>
          </a:solidFill>
          <a:ln/>
        </p:spPr>
      </p:sp>
      <p:sp>
        <p:nvSpPr>
          <p:cNvPr id="5" name="Text 2"/>
          <p:cNvSpPr txBox="1"/>
          <p:nvPr/>
        </p:nvSpPr>
        <p:spPr>
          <a:xfrm>
            <a:off x="868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1</a:t>
            </a:r>
            <a:endParaRPr lang="en-US" sz="2800" dirty="0"/>
          </a:p>
        </p:txBody>
      </p:sp>
      <p:sp>
        <p:nvSpPr>
          <p:cNvPr id="6" name="Text 3"/>
          <p:cNvSpPr txBox="1"/>
          <p:nvPr/>
        </p:nvSpPr>
        <p:spPr>
          <a:xfrm>
            <a:off x="548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Données du dossier</a:t>
            </a:r>
            <a:endParaRPr lang="en-US" sz="1500" dirty="0"/>
          </a:p>
          <a:p>
            <a:pPr algn="ctr" indent="0" marL="0">
              <a:buNone/>
            </a:pPr>
            <a:r>
              <a:rPr lang="en-US" sz="1500" dirty="0">
                <a:solidFill>
                  <a:srgbClr val="8C5B52"/>
                </a:solidFill>
              </a:rPr>
              <a:t>états financiers, compte</a:t>
            </a:r>
            <a:endParaRPr lang="en-US" sz="1500" dirty="0"/>
          </a:p>
        </p:txBody>
      </p:sp>
      <p:sp>
        <p:nvSpPr>
          <p:cNvPr id="7" name="etape-2"/>
          <p:cNvSpPr/>
          <p:nvPr/>
        </p:nvSpPr>
        <p:spPr>
          <a:xfrm>
            <a:off x="2743200" y="1417320"/>
            <a:ext cx="2240280" cy="1051560"/>
          </a:xfrm>
          <a:prstGeom prst="chevron">
            <a:avLst/>
          </a:prstGeom>
          <a:solidFill>
            <a:srgbClr val="E37B05"/>
          </a:solidFill>
          <a:ln/>
        </p:spPr>
      </p:sp>
      <p:sp>
        <p:nvSpPr>
          <p:cNvPr id="8" name="Text 5"/>
          <p:cNvSpPr txBox="1"/>
          <p:nvPr/>
        </p:nvSpPr>
        <p:spPr>
          <a:xfrm>
            <a:off x="3154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2</a:t>
            </a:r>
            <a:endParaRPr lang="en-US" sz="2800" dirty="0"/>
          </a:p>
        </p:txBody>
      </p:sp>
      <p:sp>
        <p:nvSpPr>
          <p:cNvPr id="9" name="Text 6"/>
          <p:cNvSpPr txBox="1"/>
          <p:nvPr/>
        </p:nvSpPr>
        <p:spPr>
          <a:xfrm>
            <a:off x="2834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Statut de chaque donnée</a:t>
            </a:r>
            <a:endParaRPr lang="en-US" sz="1500" dirty="0"/>
          </a:p>
          <a:p>
            <a:pPr algn="ctr" indent="0" marL="0">
              <a:buNone/>
            </a:pPr>
            <a:r>
              <a:rPr lang="en-US" sz="1500" dirty="0">
                <a:solidFill>
                  <a:srgbClr val="8C5B52"/>
                </a:solidFill>
              </a:rPr>
              <a:t>observée, estimée, absente</a:t>
            </a:r>
            <a:endParaRPr lang="en-US" sz="1500" dirty="0"/>
          </a:p>
        </p:txBody>
      </p:sp>
      <p:sp>
        <p:nvSpPr>
          <p:cNvPr id="10" name="etape-3"/>
          <p:cNvSpPr/>
          <p:nvPr/>
        </p:nvSpPr>
        <p:spPr>
          <a:xfrm>
            <a:off x="5029200" y="1417320"/>
            <a:ext cx="2240280" cy="1051560"/>
          </a:xfrm>
          <a:prstGeom prst="chevron">
            <a:avLst/>
          </a:prstGeom>
          <a:solidFill>
            <a:srgbClr val="E37B05"/>
          </a:solidFill>
          <a:ln/>
        </p:spPr>
      </p:sp>
      <p:sp>
        <p:nvSpPr>
          <p:cNvPr id="11" name="Text 8"/>
          <p:cNvSpPr txBox="1"/>
          <p:nvPr/>
        </p:nvSpPr>
        <p:spPr>
          <a:xfrm>
            <a:off x="5440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3</a:t>
            </a:r>
            <a:endParaRPr lang="en-US" sz="2800" dirty="0"/>
          </a:p>
        </p:txBody>
      </p:sp>
      <p:sp>
        <p:nvSpPr>
          <p:cNvPr id="12" name="Text 9"/>
          <p:cNvSpPr txBox="1"/>
          <p:nvPr/>
        </p:nvSpPr>
        <p:spPr>
          <a:xfrm>
            <a:off x="5120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Score par critère</a:t>
            </a:r>
            <a:endParaRPr lang="en-US" sz="1500" dirty="0"/>
          </a:p>
          <a:p>
            <a:pPr algn="ctr" indent="0" marL="0">
              <a:buNone/>
            </a:pPr>
            <a:r>
              <a:rPr lang="en-US" sz="1500" dirty="0">
                <a:solidFill>
                  <a:srgbClr val="8C5B52"/>
                </a:solidFill>
              </a:rPr>
              <a:t>barème ou repère, sur 100</a:t>
            </a:r>
            <a:endParaRPr lang="en-US" sz="1500" dirty="0"/>
          </a:p>
        </p:txBody>
      </p:sp>
      <p:sp>
        <p:nvSpPr>
          <p:cNvPr id="13" name="etape-4"/>
          <p:cNvSpPr/>
          <p:nvPr/>
        </p:nvSpPr>
        <p:spPr>
          <a:xfrm>
            <a:off x="7315200" y="1417320"/>
            <a:ext cx="2240280" cy="1051560"/>
          </a:xfrm>
          <a:prstGeom prst="chevron">
            <a:avLst/>
          </a:prstGeom>
          <a:solidFill>
            <a:srgbClr val="E37B05"/>
          </a:solidFill>
          <a:ln/>
        </p:spPr>
      </p:sp>
      <p:sp>
        <p:nvSpPr>
          <p:cNvPr id="14" name="Text 11"/>
          <p:cNvSpPr txBox="1"/>
          <p:nvPr/>
        </p:nvSpPr>
        <p:spPr>
          <a:xfrm>
            <a:off x="7726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4</a:t>
            </a:r>
            <a:endParaRPr lang="en-US" sz="2800" dirty="0"/>
          </a:p>
        </p:txBody>
      </p:sp>
      <p:sp>
        <p:nvSpPr>
          <p:cNvPr id="15" name="Text 12"/>
          <p:cNvSpPr txBox="1"/>
          <p:nvPr/>
        </p:nvSpPr>
        <p:spPr>
          <a:xfrm>
            <a:off x="7406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Poids du segment</a:t>
            </a:r>
            <a:endParaRPr lang="en-US" sz="1500" dirty="0"/>
          </a:p>
          <a:p>
            <a:pPr algn="ctr" indent="0" marL="0">
              <a:buNone/>
            </a:pPr>
            <a:r>
              <a:rPr lang="en-US" sz="1500" dirty="0">
                <a:solidFill>
                  <a:srgbClr val="8C5B52"/>
                </a:solidFill>
              </a:rPr>
              <a:t>TPE, PME ou GE</a:t>
            </a:r>
            <a:endParaRPr lang="en-US" sz="1500" dirty="0"/>
          </a:p>
        </p:txBody>
      </p:sp>
      <p:sp>
        <p:nvSpPr>
          <p:cNvPr id="16" name="etape-5"/>
          <p:cNvSpPr/>
          <p:nvPr/>
        </p:nvSpPr>
        <p:spPr>
          <a:xfrm>
            <a:off x="9601200" y="1417320"/>
            <a:ext cx="2240280" cy="1051560"/>
          </a:xfrm>
          <a:prstGeom prst="chevron">
            <a:avLst/>
          </a:prstGeom>
          <a:solidFill>
            <a:srgbClr val="E37B05"/>
          </a:solidFill>
          <a:ln/>
        </p:spPr>
      </p:sp>
      <p:sp>
        <p:nvSpPr>
          <p:cNvPr id="17" name="Text 14"/>
          <p:cNvSpPr txBox="1"/>
          <p:nvPr/>
        </p:nvSpPr>
        <p:spPr>
          <a:xfrm>
            <a:off x="10012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5</a:t>
            </a:r>
            <a:endParaRPr lang="en-US" sz="2800" dirty="0"/>
          </a:p>
        </p:txBody>
      </p:sp>
      <p:sp>
        <p:nvSpPr>
          <p:cNvPr id="18" name="Text 15"/>
          <p:cNvSpPr txBox="1"/>
          <p:nvPr/>
        </p:nvSpPr>
        <p:spPr>
          <a:xfrm>
            <a:off x="9692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Score brut</a:t>
            </a:r>
            <a:endParaRPr lang="en-US" sz="1500" dirty="0"/>
          </a:p>
          <a:p>
            <a:pPr algn="ctr" indent="0" marL="0">
              <a:buNone/>
            </a:pPr>
            <a:r>
              <a:rPr lang="en-US" sz="1500" dirty="0">
                <a:solidFill>
                  <a:srgbClr val="8C5B52"/>
                </a:solidFill>
              </a:rPr>
              <a:t>moyenne pondérée</a:t>
            </a:r>
            <a:endParaRPr lang="en-US" sz="1500" dirty="0"/>
          </a:p>
        </p:txBody>
      </p:sp>
      <p:sp>
        <p:nvSpPr>
          <p:cNvPr id="19" name="etape-6"/>
          <p:cNvSpPr/>
          <p:nvPr/>
        </p:nvSpPr>
        <p:spPr>
          <a:xfrm>
            <a:off x="457200" y="3749040"/>
            <a:ext cx="2240280" cy="1051560"/>
          </a:xfrm>
          <a:prstGeom prst="chevron">
            <a:avLst/>
          </a:prstGeom>
          <a:solidFill>
            <a:srgbClr val="8C5B52"/>
          </a:solidFill>
          <a:ln/>
        </p:spPr>
      </p:sp>
      <p:sp>
        <p:nvSpPr>
          <p:cNvPr id="20" name="Text 17"/>
          <p:cNvSpPr txBox="1"/>
          <p:nvPr/>
        </p:nvSpPr>
        <p:spPr>
          <a:xfrm>
            <a:off x="868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6</a:t>
            </a:r>
            <a:endParaRPr lang="en-US" sz="2800" dirty="0"/>
          </a:p>
        </p:txBody>
      </p:sp>
      <p:sp>
        <p:nvSpPr>
          <p:cNvPr id="21" name="Text 18"/>
          <p:cNvSpPr txBox="1"/>
          <p:nvPr/>
        </p:nvSpPr>
        <p:spPr>
          <a:xfrm>
            <a:off x="548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Défaut constaté ?</a:t>
            </a:r>
            <a:endParaRPr lang="en-US" sz="1500" dirty="0"/>
          </a:p>
          <a:p>
            <a:pPr algn="ctr" indent="0" marL="0">
              <a:buNone/>
            </a:pPr>
            <a:r>
              <a:rPr lang="en-US" sz="1500" dirty="0">
                <a:solidFill>
                  <a:srgbClr val="8C5B52"/>
                </a:solidFill>
              </a:rPr>
              <a:t>le grade DEF s'impose</a:t>
            </a:r>
            <a:endParaRPr lang="en-US" sz="1500" dirty="0"/>
          </a:p>
        </p:txBody>
      </p:sp>
      <p:sp>
        <p:nvSpPr>
          <p:cNvPr id="22" name="etape-7"/>
          <p:cNvSpPr/>
          <p:nvPr/>
        </p:nvSpPr>
        <p:spPr>
          <a:xfrm>
            <a:off x="2743200" y="3749040"/>
            <a:ext cx="2240280" cy="1051560"/>
          </a:xfrm>
          <a:prstGeom prst="chevron">
            <a:avLst/>
          </a:prstGeom>
          <a:solidFill>
            <a:srgbClr val="8C5B52"/>
          </a:solidFill>
          <a:ln/>
        </p:spPr>
      </p:sp>
      <p:sp>
        <p:nvSpPr>
          <p:cNvPr id="23" name="Text 20"/>
          <p:cNvSpPr txBox="1"/>
          <p:nvPr/>
        </p:nvSpPr>
        <p:spPr>
          <a:xfrm>
            <a:off x="3154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7</a:t>
            </a:r>
            <a:endParaRPr lang="en-US" sz="2800" dirty="0"/>
          </a:p>
        </p:txBody>
      </p:sp>
      <p:sp>
        <p:nvSpPr>
          <p:cNvPr id="24" name="Text 21"/>
          <p:cNvSpPr txBox="1"/>
          <p:nvPr/>
        </p:nvSpPr>
        <p:spPr>
          <a:xfrm>
            <a:off x="2834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Porte de qualité</a:t>
            </a:r>
            <a:endParaRPr lang="en-US" sz="1500" dirty="0"/>
          </a:p>
          <a:p>
            <a:pPr algn="ctr" indent="0" marL="0">
              <a:buNone/>
            </a:pPr>
            <a:r>
              <a:rPr lang="en-US" sz="1500" dirty="0">
                <a:solidFill>
                  <a:srgbClr val="8C5B52"/>
                </a:solidFill>
              </a:rPr>
              <a:t>assez de données ?</a:t>
            </a:r>
            <a:endParaRPr lang="en-US" sz="1500" dirty="0"/>
          </a:p>
        </p:txBody>
      </p:sp>
      <p:sp>
        <p:nvSpPr>
          <p:cNvPr id="25" name="etape-8"/>
          <p:cNvSpPr/>
          <p:nvPr/>
        </p:nvSpPr>
        <p:spPr>
          <a:xfrm>
            <a:off x="5029200" y="3749040"/>
            <a:ext cx="2240280" cy="1051560"/>
          </a:xfrm>
          <a:prstGeom prst="chevron">
            <a:avLst/>
          </a:prstGeom>
          <a:solidFill>
            <a:srgbClr val="8C5B52"/>
          </a:solidFill>
          <a:ln/>
        </p:spPr>
      </p:sp>
      <p:sp>
        <p:nvSpPr>
          <p:cNvPr id="26" name="Text 23"/>
          <p:cNvSpPr txBox="1"/>
          <p:nvPr/>
        </p:nvSpPr>
        <p:spPr>
          <a:xfrm>
            <a:off x="5440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8</a:t>
            </a:r>
            <a:endParaRPr lang="en-US" sz="2800" dirty="0"/>
          </a:p>
        </p:txBody>
      </p:sp>
      <p:sp>
        <p:nvSpPr>
          <p:cNvPr id="27" name="Text 24"/>
          <p:cNvSpPr txBox="1"/>
          <p:nvPr/>
        </p:nvSpPr>
        <p:spPr>
          <a:xfrm>
            <a:off x="5120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Grade issu du score</a:t>
            </a:r>
            <a:endParaRPr lang="en-US" sz="1500" dirty="0"/>
          </a:p>
          <a:p>
            <a:pPr algn="ctr" indent="0" marL="0">
              <a:buNone/>
            </a:pPr>
            <a:r>
              <a:rPr lang="en-US" sz="1500" dirty="0">
                <a:solidFill>
                  <a:srgbClr val="8C5B52"/>
                </a:solidFill>
              </a:rPr>
              <a:t>bornes fixes</a:t>
            </a:r>
            <a:endParaRPr lang="en-US" sz="1500" dirty="0"/>
          </a:p>
        </p:txBody>
      </p:sp>
      <p:sp>
        <p:nvSpPr>
          <p:cNvPr id="28" name="etape-9"/>
          <p:cNvSpPr/>
          <p:nvPr/>
        </p:nvSpPr>
        <p:spPr>
          <a:xfrm>
            <a:off x="7315200" y="3749040"/>
            <a:ext cx="2240280" cy="1051560"/>
          </a:xfrm>
          <a:prstGeom prst="chevron">
            <a:avLst/>
          </a:prstGeom>
          <a:solidFill>
            <a:srgbClr val="8C5B52"/>
          </a:solidFill>
          <a:ln/>
        </p:spPr>
      </p:sp>
      <p:sp>
        <p:nvSpPr>
          <p:cNvPr id="29" name="Text 26"/>
          <p:cNvSpPr txBox="1"/>
          <p:nvPr/>
        </p:nvSpPr>
        <p:spPr>
          <a:xfrm>
            <a:off x="7726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9</a:t>
            </a:r>
            <a:endParaRPr lang="en-US" sz="2800" dirty="0"/>
          </a:p>
        </p:txBody>
      </p:sp>
      <p:sp>
        <p:nvSpPr>
          <p:cNvPr id="30" name="Text 27"/>
          <p:cNvSpPr txBox="1"/>
          <p:nvPr/>
        </p:nvSpPr>
        <p:spPr>
          <a:xfrm>
            <a:off x="7406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Exceptions</a:t>
            </a:r>
            <a:endParaRPr lang="en-US" sz="1500" dirty="0"/>
          </a:p>
          <a:p>
            <a:pPr algn="ctr" indent="0" marL="0">
              <a:buNone/>
            </a:pPr>
            <a:r>
              <a:rPr lang="en-US" sz="1500" dirty="0">
                <a:solidFill>
                  <a:srgbClr val="8C5B52"/>
                </a:solidFill>
              </a:rPr>
              <a:t>plafonnent le grade</a:t>
            </a:r>
            <a:endParaRPr lang="en-US" sz="1500" dirty="0"/>
          </a:p>
        </p:txBody>
      </p:sp>
      <p:sp>
        <p:nvSpPr>
          <p:cNvPr id="31" name="etape-10"/>
          <p:cNvSpPr/>
          <p:nvPr/>
        </p:nvSpPr>
        <p:spPr>
          <a:xfrm>
            <a:off x="9601200" y="3749040"/>
            <a:ext cx="2240280" cy="1051560"/>
          </a:xfrm>
          <a:prstGeom prst="chevron">
            <a:avLst/>
          </a:prstGeom>
          <a:solidFill>
            <a:srgbClr val="8C5B52"/>
          </a:solidFill>
          <a:ln/>
        </p:spPr>
      </p:sp>
      <p:sp>
        <p:nvSpPr>
          <p:cNvPr id="32" name="Text 29"/>
          <p:cNvSpPr txBox="1"/>
          <p:nvPr/>
        </p:nvSpPr>
        <p:spPr>
          <a:xfrm>
            <a:off x="10012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10</a:t>
            </a:r>
            <a:endParaRPr lang="en-US" sz="2800" dirty="0"/>
          </a:p>
        </p:txBody>
      </p:sp>
      <p:sp>
        <p:nvSpPr>
          <p:cNvPr id="33" name="Text 30"/>
          <p:cNvSpPr txBox="1"/>
          <p:nvPr/>
        </p:nvSpPr>
        <p:spPr>
          <a:xfrm>
            <a:off x="9692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Support groupe</a:t>
            </a:r>
            <a:endParaRPr lang="en-US" sz="1500" dirty="0"/>
          </a:p>
          <a:p>
            <a:pPr algn="ctr" indent="0" marL="0">
              <a:buNone/>
            </a:pPr>
            <a:r>
              <a:rPr lang="en-US" sz="1500" dirty="0">
                <a:solidFill>
                  <a:srgbClr val="8C5B52"/>
                </a:solidFill>
              </a:rPr>
              <a:t>2 crans au plus</a:t>
            </a:r>
            <a:endParaRPr lang="en-US" sz="1500" dirty="0"/>
          </a:p>
        </p:txBody>
      </p:sp>
      <p:sp>
        <p:nvSpPr>
          <p:cNvPr id="34" name="Text 31"/>
          <p:cNvSpPr txBox="1"/>
          <p:nvPr/>
        </p:nvSpPr>
        <p:spPr>
          <a:xfrm>
            <a:off x="457200" y="5989320"/>
            <a:ext cx="11320272" cy="365760"/>
          </a:xfrm>
          <a:prstGeom prst="rect">
            <a:avLst/>
          </a:prstGeom>
          <a:noFill/>
          <a:ln/>
        </p:spPr>
        <p:txBody>
          <a:bodyPr wrap="square" lIns="0" tIns="0" rIns="0" bIns="0" rtlCol="0" anchor="ctr"/>
          <a:lstStyle/>
          <a:p>
            <a:pPr indent="0" marL="0">
              <a:buNone/>
            </a:pPr>
            <a:r>
              <a:rPr lang="en-US" sz="1400" i="1" dirty="0">
                <a:solidFill>
                  <a:srgbClr val="8C5B52"/>
                </a:solidFill>
              </a:rPr>
              <a:t>Étapes 1-2 : l'analyste saisit et qualifie. Étapes 3-10 : le moteur calcule, toujours dans le même ordre.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SEPT DOMAINES, PONDÉRÉS SELON LA TAILLE</a:t>
            </a:r>
            <a:endParaRPr lang="en-US" sz="2400" dirty="0"/>
          </a:p>
        </p:txBody>
      </p:sp>
      <p:sp>
        <p:nvSpPr>
          <p:cNvPr id="20" name="Text 17"/>
          <p:cNvSpPr txBox="1"/>
          <p:nvPr/>
        </p:nvSpPr>
        <p:spPr>
          <a:xfrm>
            <a:off x="457200" y="5532120"/>
            <a:ext cx="11320272" cy="457200"/>
          </a:xfrm>
          <a:prstGeom prst="rect">
            <a:avLst/>
          </a:prstGeom>
          <a:noFill/>
          <a:ln/>
        </p:spPr>
        <p:txBody>
          <a:bodyPr wrap="square" lIns="0" tIns="0" rIns="0" bIns="0" rtlCol="0" anchor="ctr"/>
          <a:lstStyle/>
          <a:p>
            <a:pPr indent="0" marL="0">
              <a:buNone/>
            </a:pPr>
            <a:r>
              <a:rPr lang="en-US" sz="1500" b="1" dirty="0">
                <a:solidFill>
                  <a:srgbClr val="462016"/>
                </a:solidFill>
              </a:rPr>
              <a:t>Pour une PME, 65 % du poids porte sur les chiffres (bilan, remboursement) et le comportement du compte.</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a:t>
            </a:fld>
            <a:endParaRPr lang="en-US"/>
          </a:p>
        </p:txBody>
      </p:sp>
      <p:graphicFrame>
        <p:nvGraphicFramePr>
          <p:cNvPr id="26" name="tableau"/>
          <p:cNvGraphicFramePr>
            <a:graphicFrameLocks noGrp="1"/>
          </p:cNvGraphicFramePr>
          <p:nvPr/>
        </p:nvGraphicFramePr>
        <p:xfrm>
          <a:off x="457200" y="1280160"/>
          <a:ext cx="11274552" cy="4096512"/>
        </p:xfrm>
        <a:graphic>
          <a:graphicData uri="http://schemas.openxmlformats.org/drawingml/2006/table">
            <a:tbl>
              <a:tblPr firstRow="0" bandRow="0"/>
              <a:tblGrid>
                <a:gridCol w="3291840"/>
                <a:gridCol w="5513832"/>
                <a:gridCol w="822960"/>
                <a:gridCol w="822960"/>
                <a:gridCol w="822960"/>
              </a:tblGrid>
              <a:tr h="512064">
                <a:tc>
                  <a:txBody>
                    <a:bodyPr wrap="square"/>
                    <a:lstStyle/>
                    <a:p>
                      <a:pPr algn="l"/>
                      <a:r>
                        <a:rPr sz="1300" b="1">
                          <a:solidFill>
                            <a:srgbClr val="FFFFFF"/>
                          </a:solidFill>
                          <a:latin typeface="Arial"/>
                        </a:rPr>
                        <a:t>Domaine</a:t>
                      </a:r>
                    </a:p>
                  </a:txBody>
                  <a:tcPr marL="91440" marR="91440" marT="36576" marB="36576" anchor="ctr">
                    <a:solidFill>
                      <a:srgbClr val="E37B05"/>
                    </a:solidFill>
                  </a:tcPr>
                </a:tc>
                <a:tc>
                  <a:txBody>
                    <a:bodyPr wrap="square"/>
                    <a:lstStyle/>
                    <a:p>
                      <a:pPr algn="l"/>
                      <a:r>
                        <a:rPr sz="1300" b="1">
                          <a:solidFill>
                            <a:srgbClr val="FFFFFF"/>
                          </a:solidFill>
                          <a:latin typeface="Arial"/>
                        </a:rPr>
                        <a:t>Ce qui est mesuré</a:t>
                      </a:r>
                    </a:p>
                  </a:txBody>
                  <a:tcPr marL="91440" marR="91440" marT="36576" marB="36576" anchor="ctr">
                    <a:solidFill>
                      <a:srgbClr val="E37B05"/>
                    </a:solidFill>
                  </a:tcPr>
                </a:tc>
                <a:tc>
                  <a:txBody>
                    <a:bodyPr wrap="square"/>
                    <a:lstStyle/>
                    <a:p>
                      <a:pPr algn="ctr"/>
                      <a:r>
                        <a:rPr sz="1300" b="1">
                          <a:solidFill>
                            <a:srgbClr val="FFFFFF"/>
                          </a:solidFill>
                          <a:latin typeface="Arial"/>
                        </a:rPr>
                        <a:t>TPE</a:t>
                      </a:r>
                    </a:p>
                  </a:txBody>
                  <a:tcPr marL="91440" marR="91440" marT="36576" marB="36576" anchor="ctr">
                    <a:solidFill>
                      <a:srgbClr val="E37B05"/>
                    </a:solidFill>
                  </a:tcPr>
                </a:tc>
                <a:tc>
                  <a:txBody>
                    <a:bodyPr wrap="square"/>
                    <a:lstStyle/>
                    <a:p>
                      <a:pPr algn="ctr"/>
                      <a:r>
                        <a:rPr sz="1300" b="1">
                          <a:solidFill>
                            <a:srgbClr val="FFFFFF"/>
                          </a:solidFill>
                          <a:latin typeface="Arial"/>
                        </a:rPr>
                        <a:t>PME</a:t>
                      </a:r>
                    </a:p>
                  </a:txBody>
                  <a:tcPr marL="91440" marR="91440" marT="36576" marB="36576" anchor="ctr">
                    <a:solidFill>
                      <a:srgbClr val="E37B05"/>
                    </a:solidFill>
                  </a:tcPr>
                </a:tc>
                <a:tc>
                  <a:txBody>
                    <a:bodyPr wrap="square"/>
                    <a:lstStyle/>
                    <a:p>
                      <a:pPr algn="ctr"/>
                      <a:r>
                        <a:rPr sz="1300" b="1">
                          <a:solidFill>
                            <a:srgbClr val="FFFFFF"/>
                          </a:solidFill>
                          <a:latin typeface="Arial"/>
                        </a:rPr>
                        <a:t>GE</a:t>
                      </a:r>
                    </a:p>
                  </a:txBody>
                  <a:tcPr marL="91440" marR="91440" marT="36576" marB="36576" anchor="ctr">
                    <a:solidFill>
                      <a:srgbClr val="E37B05"/>
                    </a:solidFill>
                  </a:tcPr>
                </a:tc>
              </a:tr>
              <a:tr h="512064">
                <a:tc>
                  <a:txBody>
                    <a:bodyPr wrap="square"/>
                    <a:lstStyle/>
                    <a:p>
                      <a:pPr algn="l"/>
                      <a:r>
                        <a:rPr sz="1300" b="1">
                          <a:solidFill>
                            <a:srgbClr val="462016"/>
                          </a:solidFill>
                          <a:latin typeface="Arial"/>
                        </a:rPr>
                        <a:t>D1 · Performance financière et bilan</a:t>
                      </a:r>
                    </a:p>
                  </a:txBody>
                  <a:tcPr marL="91440" marR="91440" marT="36576" marB="36576" anchor="ctr">
                    <a:solidFill>
                      <a:srgbClr val="F2E8DB"/>
                    </a:solidFill>
                  </a:tcPr>
                </a:tc>
                <a:tc>
                  <a:txBody>
                    <a:bodyPr wrap="square"/>
                    <a:lstStyle/>
                    <a:p>
                      <a:pPr algn="l"/>
                      <a:r>
                        <a:rPr sz="1300" b="0">
                          <a:solidFill>
                            <a:srgbClr val="3D3D3B"/>
                          </a:solidFill>
                          <a:latin typeface="Arial"/>
                        </a:rPr>
                        <a:t>Croissance, marges, fonds propres, endettement, liquidité</a:t>
                      </a:r>
                    </a:p>
                  </a:txBody>
                  <a:tcPr marL="91440" marR="91440" marT="36576" marB="36576" anchor="ctr">
                    <a:solidFill>
                      <a:srgbClr val="F2E8DB"/>
                    </a:solidFill>
                  </a:tcPr>
                </a:tc>
                <a:tc>
                  <a:txBody>
                    <a:bodyPr wrap="square"/>
                    <a:lstStyle/>
                    <a:p>
                      <a:pPr algn="ctr"/>
                      <a:r>
                        <a:rPr sz="1300" b="0">
                          <a:solidFill>
                            <a:srgbClr val="3D3D3B"/>
                          </a:solidFill>
                          <a:latin typeface="Arial"/>
                        </a:rPr>
                        <a:t>25 %</a:t>
                      </a:r>
                    </a:p>
                  </a:txBody>
                  <a:tcPr marL="91440" marR="91440" marT="36576" marB="36576" anchor="ctr">
                    <a:solidFill>
                      <a:srgbClr val="F2E8DB"/>
                    </a:solidFill>
                  </a:tcPr>
                </a:tc>
                <a:tc>
                  <a:txBody>
                    <a:bodyPr wrap="square"/>
                    <a:lstStyle/>
                    <a:p>
                      <a:pPr algn="ctr"/>
                      <a:r>
                        <a:rPr sz="1300" b="0">
                          <a:solidFill>
                            <a:srgbClr val="3D3D3B"/>
                          </a:solidFill>
                          <a:latin typeface="Arial"/>
                        </a:rPr>
                        <a:t>30 %</a:t>
                      </a:r>
                    </a:p>
                  </a:txBody>
                  <a:tcPr marL="91440" marR="91440" marT="36576" marB="36576" anchor="ctr">
                    <a:solidFill>
                      <a:srgbClr val="F2E8DB"/>
                    </a:solidFill>
                  </a:tcPr>
                </a:tc>
                <a:tc>
                  <a:txBody>
                    <a:bodyPr wrap="square"/>
                    <a:lstStyle/>
                    <a:p>
                      <a:pPr algn="ctr"/>
                      <a:r>
                        <a:rPr sz="1300" b="0">
                          <a:solidFill>
                            <a:srgbClr val="3D3D3B"/>
                          </a:solidFill>
                          <a:latin typeface="Arial"/>
                        </a:rPr>
                        <a:t>30 %</a:t>
                      </a:r>
                    </a:p>
                  </a:txBody>
                  <a:tcPr marL="91440" marR="91440" marT="36576" marB="36576" anchor="ctr">
                    <a:solidFill>
                      <a:srgbClr val="F2E8DB"/>
                    </a:solidFill>
                  </a:tcPr>
                </a:tc>
              </a:tr>
              <a:tr h="512064">
                <a:tc>
                  <a:txBody>
                    <a:bodyPr wrap="square"/>
                    <a:lstStyle/>
                    <a:p>
                      <a:pPr algn="l"/>
                      <a:r>
                        <a:rPr sz="1300" b="1">
                          <a:solidFill>
                            <a:srgbClr val="462016"/>
                          </a:solidFill>
                          <a:latin typeface="Arial"/>
                        </a:rPr>
                        <a:t>D2 · Capacité de remboursement</a:t>
                      </a:r>
                    </a:p>
                  </a:txBody>
                  <a:tcPr marL="91440" marR="91440" marT="36576" marB="36576" anchor="ctr">
                    <a:solidFill>
                      <a:srgbClr val="FBF6F0"/>
                    </a:solidFill>
                  </a:tcPr>
                </a:tc>
                <a:tc>
                  <a:txBody>
                    <a:bodyPr wrap="square"/>
                    <a:lstStyle/>
                    <a:p>
                      <a:pPr algn="l"/>
                      <a:r>
                        <a:rPr sz="1300" b="0">
                          <a:solidFill>
                            <a:srgbClr val="3D3D3B"/>
                          </a:solidFill>
                          <a:latin typeface="Arial"/>
                        </a:rPr>
                        <a:t>Couverture du service de la dette, résistance à un scénario de stress</a:t>
                      </a:r>
                    </a:p>
                  </a:txBody>
                  <a:tcPr marL="91440" marR="91440" marT="36576" marB="36576" anchor="ctr">
                    <a:solidFill>
                      <a:srgbClr val="FBF6F0"/>
                    </a:solidFill>
                  </a:tcPr>
                </a:tc>
                <a:tc>
                  <a:txBody>
                    <a:bodyPr wrap="square"/>
                    <a:lstStyle/>
                    <a:p>
                      <a:pPr algn="ctr"/>
                      <a:r>
                        <a:rPr sz="1300" b="0">
                          <a:solidFill>
                            <a:srgbClr val="3D3D3B"/>
                          </a:solidFill>
                          <a:latin typeface="Arial"/>
                        </a:rPr>
                        <a:t>10 %</a:t>
                      </a:r>
                    </a:p>
                  </a:txBody>
                  <a:tcPr marL="91440" marR="91440" marT="36576" marB="36576" anchor="ctr">
                    <a:solidFill>
                      <a:srgbClr val="FBF6F0"/>
                    </a:solidFill>
                  </a:tcPr>
                </a:tc>
                <a:tc>
                  <a:txBody>
                    <a:bodyPr wrap="square"/>
                    <a:lstStyle/>
                    <a:p>
                      <a:pPr algn="ctr"/>
                      <a:r>
                        <a:rPr sz="1300" b="0">
                          <a:solidFill>
                            <a:srgbClr val="3D3D3B"/>
                          </a:solidFill>
                          <a:latin typeface="Arial"/>
                        </a:rPr>
                        <a:t>15 %</a:t>
                      </a:r>
                    </a:p>
                  </a:txBody>
                  <a:tcPr marL="91440" marR="91440" marT="36576" marB="36576" anchor="ctr">
                    <a:solidFill>
                      <a:srgbClr val="FBF6F0"/>
                    </a:solidFill>
                  </a:tcPr>
                </a:tc>
                <a:tc>
                  <a:txBody>
                    <a:bodyPr wrap="square"/>
                    <a:lstStyle/>
                    <a:p>
                      <a:pPr algn="ctr"/>
                      <a:r>
                        <a:rPr sz="1300" b="0">
                          <a:solidFill>
                            <a:srgbClr val="3D3D3B"/>
                          </a:solidFill>
                          <a:latin typeface="Arial"/>
                        </a:rPr>
                        <a:t>20 %</a:t>
                      </a:r>
                    </a:p>
                  </a:txBody>
                  <a:tcPr marL="91440" marR="91440" marT="36576" marB="36576" anchor="ctr">
                    <a:solidFill>
                      <a:srgbClr val="FBF6F0"/>
                    </a:solidFill>
                  </a:tcPr>
                </a:tc>
              </a:tr>
              <a:tr h="512064">
                <a:tc>
                  <a:txBody>
                    <a:bodyPr wrap="square"/>
                    <a:lstStyle/>
                    <a:p>
                      <a:pPr algn="l"/>
                      <a:r>
                        <a:rPr sz="1300" b="1">
                          <a:solidFill>
                            <a:srgbClr val="462016"/>
                          </a:solidFill>
                          <a:latin typeface="Arial"/>
                        </a:rPr>
                        <a:t>D3 · Comportement bancaire</a:t>
                      </a:r>
                    </a:p>
                  </a:txBody>
                  <a:tcPr marL="91440" marR="91440" marT="36576" marB="36576" anchor="ctr">
                    <a:solidFill>
                      <a:srgbClr val="F2E8DB"/>
                    </a:solidFill>
                  </a:tcPr>
                </a:tc>
                <a:tc>
                  <a:txBody>
                    <a:bodyPr wrap="square"/>
                    <a:lstStyle/>
                    <a:p>
                      <a:pPr algn="l"/>
                      <a:r>
                        <a:rPr sz="1300" b="0">
                          <a:solidFill>
                            <a:srgbClr val="3D3D3B"/>
                          </a:solidFill>
                          <a:latin typeface="Arial"/>
                        </a:rPr>
                        <a:t>Retards de paiement, dépassements, utilisation des lignes, flux confiés</a:t>
                      </a:r>
                    </a:p>
                  </a:txBody>
                  <a:tcPr marL="91440" marR="91440" marT="36576" marB="36576" anchor="ctr">
                    <a:solidFill>
                      <a:srgbClr val="F2E8DB"/>
                    </a:solidFill>
                  </a:tcPr>
                </a:tc>
                <a:tc>
                  <a:txBody>
                    <a:bodyPr wrap="square"/>
                    <a:lstStyle/>
                    <a:p>
                      <a:pPr algn="ctr"/>
                      <a:r>
                        <a:rPr sz="1300" b="0">
                          <a:solidFill>
                            <a:srgbClr val="3D3D3B"/>
                          </a:solidFill>
                          <a:latin typeface="Arial"/>
                        </a:rPr>
                        <a:t>25 %</a:t>
                      </a:r>
                    </a:p>
                  </a:txBody>
                  <a:tcPr marL="91440" marR="91440" marT="36576" marB="36576" anchor="ctr">
                    <a:solidFill>
                      <a:srgbClr val="F2E8DB"/>
                    </a:solidFill>
                  </a:tcPr>
                </a:tc>
                <a:tc>
                  <a:txBody>
                    <a:bodyPr wrap="square"/>
                    <a:lstStyle/>
                    <a:p>
                      <a:pPr algn="ctr"/>
                      <a:r>
                        <a:rPr sz="1300" b="0">
                          <a:solidFill>
                            <a:srgbClr val="3D3D3B"/>
                          </a:solidFill>
                          <a:latin typeface="Arial"/>
                        </a:rPr>
                        <a:t>20 %</a:t>
                      </a:r>
                    </a:p>
                  </a:txBody>
                  <a:tcPr marL="91440" marR="91440" marT="36576" marB="36576" anchor="ctr">
                    <a:solidFill>
                      <a:srgbClr val="F2E8DB"/>
                    </a:solidFill>
                  </a:tcPr>
                </a:tc>
                <a:tc>
                  <a:txBody>
                    <a:bodyPr wrap="square"/>
                    <a:lstStyle/>
                    <a:p>
                      <a:pPr algn="ctr"/>
                      <a:r>
                        <a:rPr sz="1300" b="0">
                          <a:solidFill>
                            <a:srgbClr val="3D3D3B"/>
                          </a:solidFill>
                          <a:latin typeface="Arial"/>
                        </a:rPr>
                        <a:t>10 %</a:t>
                      </a:r>
                    </a:p>
                  </a:txBody>
                  <a:tcPr marL="91440" marR="91440" marT="36576" marB="36576" anchor="ctr">
                    <a:solidFill>
                      <a:srgbClr val="F2E8DB"/>
                    </a:solidFill>
                  </a:tcPr>
                </a:tc>
              </a:tr>
              <a:tr h="512064">
                <a:tc>
                  <a:txBody>
                    <a:bodyPr wrap="square"/>
                    <a:lstStyle/>
                    <a:p>
                      <a:pPr algn="l"/>
                      <a:r>
                        <a:rPr sz="1300" b="1">
                          <a:solidFill>
                            <a:srgbClr val="462016"/>
                          </a:solidFill>
                          <a:latin typeface="Arial"/>
                        </a:rPr>
                        <a:t>D4 · Activité et secteur</a:t>
                      </a:r>
                    </a:p>
                  </a:txBody>
                  <a:tcPr marL="91440" marR="91440" marT="36576" marB="36576" anchor="ctr">
                    <a:solidFill>
                      <a:srgbClr val="FBF6F0"/>
                    </a:solidFill>
                  </a:tcPr>
                </a:tc>
                <a:tc>
                  <a:txBody>
                    <a:bodyPr wrap="square"/>
                    <a:lstStyle/>
                    <a:p>
                      <a:pPr algn="l"/>
                      <a:r>
                        <a:rPr sz="1300" b="0">
                          <a:solidFill>
                            <a:srgbClr val="3D3D3B"/>
                          </a:solidFill>
                          <a:latin typeface="Arial"/>
                        </a:rPr>
                        <a:t>Risque sectoriel, concentration clients et fournisseurs, carnet de commandes</a:t>
                      </a:r>
                    </a:p>
                  </a:txBody>
                  <a:tcPr marL="91440" marR="91440" marT="36576" marB="36576" anchor="ctr">
                    <a:solidFill>
                      <a:srgbClr val="FBF6F0"/>
                    </a:solidFill>
                  </a:tcPr>
                </a:tc>
                <a:tc>
                  <a:txBody>
                    <a:bodyPr wrap="square"/>
                    <a:lstStyle/>
                    <a:p>
                      <a:pPr algn="ctr"/>
                      <a:r>
                        <a:rPr sz="1300" b="0">
                          <a:solidFill>
                            <a:srgbClr val="3D3D3B"/>
                          </a:solidFill>
                          <a:latin typeface="Arial"/>
                        </a:rPr>
                        <a:t>15 %</a:t>
                      </a:r>
                    </a:p>
                  </a:txBody>
                  <a:tcPr marL="91440" marR="91440" marT="36576" marB="36576" anchor="ctr">
                    <a:solidFill>
                      <a:srgbClr val="FBF6F0"/>
                    </a:solidFill>
                  </a:tcPr>
                </a:tc>
                <a:tc>
                  <a:txBody>
                    <a:bodyPr wrap="square"/>
                    <a:lstStyle/>
                    <a:p>
                      <a:pPr algn="ctr"/>
                      <a:r>
                        <a:rPr sz="1300" b="0">
                          <a:solidFill>
                            <a:srgbClr val="3D3D3B"/>
                          </a:solidFill>
                          <a:latin typeface="Arial"/>
                        </a:rPr>
                        <a:t>15 %</a:t>
                      </a:r>
                    </a:p>
                  </a:txBody>
                  <a:tcPr marL="91440" marR="91440" marT="36576" marB="36576" anchor="ctr">
                    <a:solidFill>
                      <a:srgbClr val="FBF6F0"/>
                    </a:solidFill>
                  </a:tcPr>
                </a:tc>
                <a:tc>
                  <a:txBody>
                    <a:bodyPr wrap="square"/>
                    <a:lstStyle/>
                    <a:p>
                      <a:pPr algn="ctr"/>
                      <a:r>
                        <a:rPr sz="1300" b="0">
                          <a:solidFill>
                            <a:srgbClr val="3D3D3B"/>
                          </a:solidFill>
                          <a:latin typeface="Arial"/>
                        </a:rPr>
                        <a:t>15 %</a:t>
                      </a:r>
                    </a:p>
                  </a:txBody>
                  <a:tcPr marL="91440" marR="91440" marT="36576" marB="36576" anchor="ctr">
                    <a:solidFill>
                      <a:srgbClr val="FBF6F0"/>
                    </a:solidFill>
                  </a:tcPr>
                </a:tc>
              </a:tr>
              <a:tr h="512064">
                <a:tc>
                  <a:txBody>
                    <a:bodyPr wrap="square"/>
                    <a:lstStyle/>
                    <a:p>
                      <a:pPr algn="l"/>
                      <a:r>
                        <a:rPr sz="1300" b="1">
                          <a:solidFill>
                            <a:srgbClr val="462016"/>
                          </a:solidFill>
                          <a:latin typeface="Arial"/>
                        </a:rPr>
                        <a:t>D5 · Management et groupe</a:t>
                      </a:r>
                    </a:p>
                  </a:txBody>
                  <a:tcPr marL="91440" marR="91440" marT="36576" marB="36576" anchor="ctr">
                    <a:solidFill>
                      <a:srgbClr val="F2E8DB"/>
                    </a:solidFill>
                  </a:tcPr>
                </a:tc>
                <a:tc>
                  <a:txBody>
                    <a:bodyPr wrap="square"/>
                    <a:lstStyle/>
                    <a:p>
                      <a:pPr algn="l"/>
                      <a:r>
                        <a:rPr sz="1300" b="0">
                          <a:solidFill>
                            <a:srgbClr val="3D3D3B"/>
                          </a:solidFill>
                          <a:latin typeface="Arial"/>
                        </a:rPr>
                        <a:t>Expérience, succession, gouvernance, actionnariat</a:t>
                      </a:r>
                    </a:p>
                  </a:txBody>
                  <a:tcPr marL="91440" marR="91440" marT="36576" marB="36576" anchor="ctr">
                    <a:solidFill>
                      <a:srgbClr val="F2E8DB"/>
                    </a:solidFill>
                  </a:tcPr>
                </a:tc>
                <a:tc>
                  <a:txBody>
                    <a:bodyPr wrap="square"/>
                    <a:lstStyle/>
                    <a:p>
                      <a:pPr algn="ctr"/>
                      <a:r>
                        <a:rPr sz="1300" b="0">
                          <a:solidFill>
                            <a:srgbClr val="3D3D3B"/>
                          </a:solidFill>
                          <a:latin typeface="Arial"/>
                        </a:rPr>
                        <a:t>15 %</a:t>
                      </a:r>
                    </a:p>
                  </a:txBody>
                  <a:tcPr marL="91440" marR="91440" marT="36576" marB="36576" anchor="ctr">
                    <a:solidFill>
                      <a:srgbClr val="F2E8DB"/>
                    </a:solidFill>
                  </a:tcPr>
                </a:tc>
                <a:tc>
                  <a:txBody>
                    <a:bodyPr wrap="square"/>
                    <a:lstStyle/>
                    <a:p>
                      <a:pPr algn="ctr"/>
                      <a:r>
                        <a:rPr sz="1300" b="0">
                          <a:solidFill>
                            <a:srgbClr val="3D3D3B"/>
                          </a:solidFill>
                          <a:latin typeface="Arial"/>
                        </a:rPr>
                        <a:t>12 %</a:t>
                      </a:r>
                    </a:p>
                  </a:txBody>
                  <a:tcPr marL="91440" marR="91440" marT="36576" marB="36576" anchor="ctr">
                    <a:solidFill>
                      <a:srgbClr val="F2E8DB"/>
                    </a:solidFill>
                  </a:tcPr>
                </a:tc>
                <a:tc>
                  <a:txBody>
                    <a:bodyPr wrap="square"/>
                    <a:lstStyle/>
                    <a:p>
                      <a:pPr algn="ctr"/>
                      <a:r>
                        <a:rPr sz="1300" b="0">
                          <a:solidFill>
                            <a:srgbClr val="3D3D3B"/>
                          </a:solidFill>
                          <a:latin typeface="Arial"/>
                        </a:rPr>
                        <a:t>15 %</a:t>
                      </a:r>
                    </a:p>
                  </a:txBody>
                  <a:tcPr marL="91440" marR="91440" marT="36576" marB="36576" anchor="ctr">
                    <a:solidFill>
                      <a:srgbClr val="F2E8DB"/>
                    </a:solidFill>
                  </a:tcPr>
                </a:tc>
              </a:tr>
              <a:tr h="512064">
                <a:tc>
                  <a:txBody>
                    <a:bodyPr wrap="square"/>
                    <a:lstStyle/>
                    <a:p>
                      <a:pPr algn="l"/>
                      <a:r>
                        <a:rPr sz="1300" b="1">
                          <a:solidFill>
                            <a:srgbClr val="462016"/>
                          </a:solidFill>
                          <a:latin typeface="Arial"/>
                        </a:rPr>
                        <a:t>D6 · Transparence et conformité</a:t>
                      </a:r>
                    </a:p>
                  </a:txBody>
                  <a:tcPr marL="91440" marR="91440" marT="36576" marB="36576" anchor="ctr">
                    <a:solidFill>
                      <a:srgbClr val="FBF6F0"/>
                    </a:solidFill>
                  </a:tcPr>
                </a:tc>
                <a:tc>
                  <a:txBody>
                    <a:bodyPr wrap="square"/>
                    <a:lstStyle/>
                    <a:p>
                      <a:pPr algn="l"/>
                      <a:r>
                        <a:rPr sz="1300" b="0">
                          <a:solidFill>
                            <a:srgbClr val="3D3D3B"/>
                          </a:solidFill>
                          <a:latin typeface="Arial"/>
                        </a:rPr>
                        <a:t>Qualité et délai de l'information financière, situation fiscale et sociale</a:t>
                      </a:r>
                    </a:p>
                  </a:txBody>
                  <a:tcPr marL="91440" marR="91440" marT="36576" marB="36576" anchor="ctr">
                    <a:solidFill>
                      <a:srgbClr val="FBF6F0"/>
                    </a:solidFill>
                  </a:tcPr>
                </a:tc>
                <a:tc>
                  <a:txBody>
                    <a:bodyPr wrap="square"/>
                    <a:lstStyle/>
                    <a:p>
                      <a:pPr algn="ctr"/>
                      <a:r>
                        <a:rPr sz="1300" b="0">
                          <a:solidFill>
                            <a:srgbClr val="3D3D3B"/>
                          </a:solidFill>
                          <a:latin typeface="Arial"/>
                        </a:rPr>
                        <a:t>7 %</a:t>
                      </a:r>
                    </a:p>
                  </a:txBody>
                  <a:tcPr marL="91440" marR="91440" marT="36576" marB="36576" anchor="ctr">
                    <a:solidFill>
                      <a:srgbClr val="FBF6F0"/>
                    </a:solidFill>
                  </a:tcPr>
                </a:tc>
                <a:tc>
                  <a:txBody>
                    <a:bodyPr wrap="square"/>
                    <a:lstStyle/>
                    <a:p>
                      <a:pPr algn="ctr"/>
                      <a:r>
                        <a:rPr sz="1300" b="0">
                          <a:solidFill>
                            <a:srgbClr val="3D3D3B"/>
                          </a:solidFill>
                          <a:latin typeface="Arial"/>
                        </a:rPr>
                        <a:t>5 %</a:t>
                      </a:r>
                    </a:p>
                  </a:txBody>
                  <a:tcPr marL="91440" marR="91440" marT="36576" marB="36576" anchor="ctr">
                    <a:solidFill>
                      <a:srgbClr val="FBF6F0"/>
                    </a:solidFill>
                  </a:tcPr>
                </a:tc>
                <a:tc>
                  <a:txBody>
                    <a:bodyPr wrap="square"/>
                    <a:lstStyle/>
                    <a:p>
                      <a:pPr algn="ctr"/>
                      <a:r>
                        <a:rPr sz="1300" b="0">
                          <a:solidFill>
                            <a:srgbClr val="3D3D3B"/>
                          </a:solidFill>
                          <a:latin typeface="Arial"/>
                        </a:rPr>
                        <a:t>5 %</a:t>
                      </a:r>
                    </a:p>
                  </a:txBody>
                  <a:tcPr marL="91440" marR="91440" marT="36576" marB="36576" anchor="ctr">
                    <a:solidFill>
                      <a:srgbClr val="FBF6F0"/>
                    </a:solidFill>
                  </a:tcPr>
                </a:tc>
              </a:tr>
              <a:tr h="512064">
                <a:tc>
                  <a:txBody>
                    <a:bodyPr wrap="square"/>
                    <a:lstStyle/>
                    <a:p>
                      <a:pPr algn="l"/>
                      <a:r>
                        <a:rPr sz="1300" b="1">
                          <a:solidFill>
                            <a:srgbClr val="462016"/>
                          </a:solidFill>
                          <a:latin typeface="Arial"/>
                        </a:rPr>
                        <a:t>D7 · ESG et climat</a:t>
                      </a:r>
                    </a:p>
                  </a:txBody>
                  <a:tcPr marL="91440" marR="91440" marT="36576" marB="36576" anchor="ctr">
                    <a:solidFill>
                      <a:srgbClr val="F2E8DB"/>
                    </a:solidFill>
                  </a:tcPr>
                </a:tc>
                <a:tc>
                  <a:txBody>
                    <a:bodyPr wrap="square"/>
                    <a:lstStyle/>
                    <a:p>
                      <a:pPr algn="l"/>
                      <a:r>
                        <a:rPr sz="1300" b="0">
                          <a:solidFill>
                            <a:srgbClr val="3D3D3B"/>
                          </a:solidFill>
                          <a:latin typeface="Arial"/>
                        </a:rPr>
                        <a:t>Risque climatique physique, transition, conformité environnementale</a:t>
                      </a:r>
                    </a:p>
                  </a:txBody>
                  <a:tcPr marL="91440" marR="91440" marT="36576" marB="36576" anchor="ctr">
                    <a:solidFill>
                      <a:srgbClr val="F2E8DB"/>
                    </a:solidFill>
                  </a:tcPr>
                </a:tc>
                <a:tc>
                  <a:txBody>
                    <a:bodyPr wrap="square"/>
                    <a:lstStyle/>
                    <a:p>
                      <a:pPr algn="ctr"/>
                      <a:r>
                        <a:rPr sz="1300" b="0">
                          <a:solidFill>
                            <a:srgbClr val="3D3D3B"/>
                          </a:solidFill>
                          <a:latin typeface="Arial"/>
                        </a:rPr>
                        <a:t>3 %</a:t>
                      </a:r>
                    </a:p>
                  </a:txBody>
                  <a:tcPr marL="91440" marR="91440" marT="36576" marB="36576" anchor="ctr">
                    <a:solidFill>
                      <a:srgbClr val="F2E8DB"/>
                    </a:solidFill>
                  </a:tcPr>
                </a:tc>
                <a:tc>
                  <a:txBody>
                    <a:bodyPr wrap="square"/>
                    <a:lstStyle/>
                    <a:p>
                      <a:pPr algn="ctr"/>
                      <a:r>
                        <a:rPr sz="1300" b="0">
                          <a:solidFill>
                            <a:srgbClr val="3D3D3B"/>
                          </a:solidFill>
                          <a:latin typeface="Arial"/>
                        </a:rPr>
                        <a:t>3 %</a:t>
                      </a:r>
                    </a:p>
                  </a:txBody>
                  <a:tcPr marL="91440" marR="91440" marT="36576" marB="36576" anchor="ctr">
                    <a:solidFill>
                      <a:srgbClr val="F2E8DB"/>
                    </a:solidFill>
                  </a:tcPr>
                </a:tc>
                <a:tc>
                  <a:txBody>
                    <a:bodyPr wrap="square"/>
                    <a:lstStyle/>
                    <a:p>
                      <a:pPr algn="ctr"/>
                      <a:r>
                        <a:rPr sz="1300" b="0">
                          <a:solidFill>
                            <a:srgbClr val="3D3D3B"/>
                          </a:solidFill>
                          <a:latin typeface="Arial"/>
                        </a:rPr>
                        <a:t>5 %</a:t>
                      </a:r>
                    </a:p>
                  </a:txBody>
                  <a:tcPr marL="91440" marR="91440" marT="36576" marB="36576" anchor="ctr">
                    <a:solidFill>
                      <a:srgbClr val="F2E8D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LA GRILLE : BARÈMES DES RATIOS (PME)</a:t>
            </a:r>
            <a:endParaRPr lang="en-US" sz="2400" dirty="0"/>
          </a:p>
        </p:txBody>
      </p:sp>
      <p:sp>
        <p:nvSpPr>
          <p:cNvPr id="20" name="Text 17"/>
          <p:cNvSpPr txBox="1"/>
          <p:nvPr/>
        </p:nvSpPr>
        <p:spPr>
          <a:xfrm>
            <a:off x="457200" y="5532120"/>
            <a:ext cx="11320272" cy="457200"/>
          </a:xfrm>
          <a:prstGeom prst="rect">
            <a:avLst/>
          </a:prstGeom>
          <a:noFill/>
          <a:ln/>
        </p:spPr>
        <p:txBody>
          <a:bodyPr wrap="square" lIns="0" tIns="0" rIns="0" bIns="0" rtlCol="0" anchor="ctr"/>
          <a:lstStyle/>
          <a:p>
            <a:pPr indent="0" marL="0">
              <a:buNone/>
            </a:pPr>
            <a:r>
              <a:rPr lang="en-US" sz="1500" b="1" dirty="0">
                <a:solidFill>
                  <a:srgbClr val="462016"/>
                </a:solidFill>
              </a:rPr>
              <a:t>Trois données sont critiques : sans fonds propres, dette nette sur EBE ou retards de paiement, aucune note n'est produite.</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a:t>
            </a:fld>
            <a:endParaRPr lang="en-US"/>
          </a:p>
        </p:txBody>
      </p:sp>
      <p:graphicFrame>
        <p:nvGraphicFramePr>
          <p:cNvPr id="26" name="tableau"/>
          <p:cNvGraphicFramePr>
            <a:graphicFrameLocks noGrp="1"/>
          </p:cNvGraphicFramePr>
          <p:nvPr/>
        </p:nvGraphicFramePr>
        <p:xfrm>
          <a:off x="457200" y="1280160"/>
          <a:ext cx="11274552" cy="3968496"/>
        </p:xfrm>
        <a:graphic>
          <a:graphicData uri="http://schemas.openxmlformats.org/drawingml/2006/table">
            <a:tbl>
              <a:tblPr firstRow="0" bandRow="0"/>
              <a:tblGrid>
                <a:gridCol w="3566160"/>
                <a:gridCol w="850392"/>
                <a:gridCol w="1371600"/>
                <a:gridCol w="1371600"/>
                <a:gridCol w="1371600"/>
                <a:gridCol w="1371600"/>
                <a:gridCol w="1371600"/>
              </a:tblGrid>
              <a:tr h="566928">
                <a:tc>
                  <a:txBody>
                    <a:bodyPr wrap="square"/>
                    <a:lstStyle/>
                    <a:p>
                      <a:pPr algn="l"/>
                      <a:r>
                        <a:rPr sz="1300" b="1">
                          <a:solidFill>
                            <a:srgbClr val="FFFFFF"/>
                          </a:solidFill>
                          <a:latin typeface="Arial"/>
                        </a:rPr>
                        <a:t>Critère</a:t>
                      </a:r>
                    </a:p>
                  </a:txBody>
                  <a:tcPr marL="91440" marR="91440" marT="36576" marB="36576" anchor="ctr">
                    <a:solidFill>
                      <a:srgbClr val="E37B05"/>
                    </a:solidFill>
                  </a:tcPr>
                </a:tc>
                <a:tc>
                  <a:txBody>
                    <a:bodyPr wrap="square"/>
                    <a:lstStyle/>
                    <a:p>
                      <a:pPr algn="ctr"/>
                      <a:r>
                        <a:rPr sz="1300" b="1">
                          <a:solidFill>
                            <a:srgbClr val="FFFFFF"/>
                          </a:solidFill>
                          <a:latin typeface="Arial"/>
                        </a:rPr>
                        <a:t>Poids</a:t>
                      </a:r>
                    </a:p>
                  </a:txBody>
                  <a:tcPr marL="91440" marR="91440" marT="36576" marB="36576" anchor="ctr">
                    <a:solidFill>
                      <a:srgbClr val="E37B05"/>
                    </a:solidFill>
                  </a:tcPr>
                </a:tc>
                <a:tc>
                  <a:txBody>
                    <a:bodyPr wrap="square"/>
                    <a:lstStyle/>
                    <a:p>
                      <a:pPr algn="ctr"/>
                      <a:r>
                        <a:rPr sz="1300" b="1">
                          <a:solidFill>
                            <a:srgbClr val="FFFFFF"/>
                          </a:solidFill>
                          <a:latin typeface="Arial"/>
                        </a:rPr>
                        <a:t>100</a:t>
                      </a:r>
                    </a:p>
                  </a:txBody>
                  <a:tcPr marL="91440" marR="91440" marT="36576" marB="36576" anchor="ctr">
                    <a:solidFill>
                      <a:srgbClr val="E37B05"/>
                    </a:solidFill>
                  </a:tcPr>
                </a:tc>
                <a:tc>
                  <a:txBody>
                    <a:bodyPr wrap="square"/>
                    <a:lstStyle/>
                    <a:p>
                      <a:pPr algn="ctr"/>
                      <a:r>
                        <a:rPr sz="1300" b="1">
                          <a:solidFill>
                            <a:srgbClr val="FFFFFF"/>
                          </a:solidFill>
                          <a:latin typeface="Arial"/>
                        </a:rPr>
                        <a:t>75</a:t>
                      </a:r>
                    </a:p>
                  </a:txBody>
                  <a:tcPr marL="91440" marR="91440" marT="36576" marB="36576" anchor="ctr">
                    <a:solidFill>
                      <a:srgbClr val="E37B05"/>
                    </a:solidFill>
                  </a:tcPr>
                </a:tc>
                <a:tc>
                  <a:txBody>
                    <a:bodyPr wrap="square"/>
                    <a:lstStyle/>
                    <a:p>
                      <a:pPr algn="ctr"/>
                      <a:r>
                        <a:rPr sz="1300" b="1">
                          <a:solidFill>
                            <a:srgbClr val="FFFFFF"/>
                          </a:solidFill>
                          <a:latin typeface="Arial"/>
                        </a:rPr>
                        <a:t>50</a:t>
                      </a:r>
                    </a:p>
                  </a:txBody>
                  <a:tcPr marL="91440" marR="91440" marT="36576" marB="36576" anchor="ctr">
                    <a:solidFill>
                      <a:srgbClr val="E37B05"/>
                    </a:solidFill>
                  </a:tcPr>
                </a:tc>
                <a:tc>
                  <a:txBody>
                    <a:bodyPr wrap="square"/>
                    <a:lstStyle/>
                    <a:p>
                      <a:pPr algn="ctr"/>
                      <a:r>
                        <a:rPr sz="1300" b="1">
                          <a:solidFill>
                            <a:srgbClr val="FFFFFF"/>
                          </a:solidFill>
                          <a:latin typeface="Arial"/>
                        </a:rPr>
                        <a:t>25</a:t>
                      </a:r>
                    </a:p>
                  </a:txBody>
                  <a:tcPr marL="91440" marR="91440" marT="36576" marB="36576" anchor="ctr">
                    <a:solidFill>
                      <a:srgbClr val="E37B05"/>
                    </a:solidFill>
                  </a:tcPr>
                </a:tc>
                <a:tc>
                  <a:txBody>
                    <a:bodyPr wrap="square"/>
                    <a:lstStyle/>
                    <a:p>
                      <a:pPr algn="ctr"/>
                      <a:r>
                        <a:rPr sz="1300" b="1">
                          <a:solidFill>
                            <a:srgbClr val="FFFFFF"/>
                          </a:solidFill>
                          <a:latin typeface="Arial"/>
                        </a:rPr>
                        <a:t>0</a:t>
                      </a:r>
                    </a:p>
                  </a:txBody>
                  <a:tcPr marL="91440" marR="91440" marT="36576" marB="36576" anchor="ctr">
                    <a:solidFill>
                      <a:srgbClr val="E37B05"/>
                    </a:solidFill>
                  </a:tcPr>
                </a:tc>
              </a:tr>
              <a:tr h="566928">
                <a:tc>
                  <a:txBody>
                    <a:bodyPr wrap="square"/>
                    <a:lstStyle/>
                    <a:p>
                      <a:pPr algn="l"/>
                      <a:r>
                        <a:rPr sz="1300" b="1">
                          <a:solidFill>
                            <a:srgbClr val="462016"/>
                          </a:solidFill>
                          <a:latin typeface="Arial"/>
                        </a:rPr>
                        <a:t>D1.4 · Fonds propres tangibles / bilan</a:t>
                      </a:r>
                    </a:p>
                  </a:txBody>
                  <a:tcPr marL="91440" marR="91440" marT="36576" marB="36576" anchor="ctr">
                    <a:solidFill>
                      <a:srgbClr val="F2E8DB"/>
                    </a:solidFill>
                  </a:tcPr>
                </a:tc>
                <a:tc>
                  <a:txBody>
                    <a:bodyPr wrap="square"/>
                    <a:lstStyle/>
                    <a:p>
                      <a:pPr algn="ctr"/>
                      <a:r>
                        <a:rPr sz="1300" b="0">
                          <a:solidFill>
                            <a:srgbClr val="3D3D3B"/>
                          </a:solidFill>
                          <a:latin typeface="Arial"/>
                        </a:rPr>
                        <a:t>5 %</a:t>
                      </a:r>
                    </a:p>
                  </a:txBody>
                  <a:tcPr marL="91440" marR="91440" marT="36576" marB="36576" anchor="ctr">
                    <a:solidFill>
                      <a:srgbClr val="F2E8DB"/>
                    </a:solidFill>
                  </a:tcPr>
                </a:tc>
                <a:tc>
                  <a:txBody>
                    <a:bodyPr wrap="square"/>
                    <a:lstStyle/>
                    <a:p>
                      <a:pPr algn="ctr"/>
                      <a:r>
                        <a:rPr sz="1300" b="0">
                          <a:solidFill>
                            <a:srgbClr val="3D3D3B"/>
                          </a:solidFill>
                          <a:latin typeface="Arial"/>
                        </a:rPr>
                        <a:t>≥ 35 %</a:t>
                      </a:r>
                    </a:p>
                  </a:txBody>
                  <a:tcPr marL="91440" marR="91440" marT="36576" marB="36576" anchor="ctr">
                    <a:solidFill>
                      <a:srgbClr val="F2E8DB"/>
                    </a:solidFill>
                  </a:tcPr>
                </a:tc>
                <a:tc>
                  <a:txBody>
                    <a:bodyPr wrap="square"/>
                    <a:lstStyle/>
                    <a:p>
                      <a:pPr algn="ctr"/>
                      <a:r>
                        <a:rPr sz="1300" b="0">
                          <a:solidFill>
                            <a:srgbClr val="3D3D3B"/>
                          </a:solidFill>
                          <a:latin typeface="Arial"/>
                        </a:rPr>
                        <a:t>25 – 35 %</a:t>
                      </a:r>
                    </a:p>
                  </a:txBody>
                  <a:tcPr marL="91440" marR="91440" marT="36576" marB="36576" anchor="ctr">
                    <a:solidFill>
                      <a:srgbClr val="F2E8DB"/>
                    </a:solidFill>
                  </a:tcPr>
                </a:tc>
                <a:tc>
                  <a:txBody>
                    <a:bodyPr wrap="square"/>
                    <a:lstStyle/>
                    <a:p>
                      <a:pPr algn="ctr"/>
                      <a:r>
                        <a:rPr sz="1300" b="0">
                          <a:solidFill>
                            <a:srgbClr val="3D3D3B"/>
                          </a:solidFill>
                          <a:latin typeface="Arial"/>
                        </a:rPr>
                        <a:t>15 – 25 %</a:t>
                      </a:r>
                    </a:p>
                  </a:txBody>
                  <a:tcPr marL="91440" marR="91440" marT="36576" marB="36576" anchor="ctr">
                    <a:solidFill>
                      <a:srgbClr val="F2E8DB"/>
                    </a:solidFill>
                  </a:tcPr>
                </a:tc>
                <a:tc>
                  <a:txBody>
                    <a:bodyPr wrap="square"/>
                    <a:lstStyle/>
                    <a:p>
                      <a:pPr algn="ctr"/>
                      <a:r>
                        <a:rPr sz="1300" b="0">
                          <a:solidFill>
                            <a:srgbClr val="3D3D3B"/>
                          </a:solidFill>
                          <a:latin typeface="Arial"/>
                        </a:rPr>
                        <a:t>8 – 15 %</a:t>
                      </a:r>
                    </a:p>
                  </a:txBody>
                  <a:tcPr marL="91440" marR="91440" marT="36576" marB="36576" anchor="ctr">
                    <a:solidFill>
                      <a:srgbClr val="F2E8DB"/>
                    </a:solidFill>
                  </a:tcPr>
                </a:tc>
                <a:tc>
                  <a:txBody>
                    <a:bodyPr wrap="square"/>
                    <a:lstStyle/>
                    <a:p>
                      <a:pPr algn="ctr"/>
                      <a:r>
                        <a:rPr sz="1300" b="0">
                          <a:solidFill>
                            <a:srgbClr val="3D3D3B"/>
                          </a:solidFill>
                          <a:latin typeface="Arial"/>
                        </a:rPr>
                        <a:t>&lt; 8 %</a:t>
                      </a:r>
                    </a:p>
                  </a:txBody>
                  <a:tcPr marL="91440" marR="91440" marT="36576" marB="36576" anchor="ctr">
                    <a:solidFill>
                      <a:srgbClr val="F2E8DB"/>
                    </a:solidFill>
                  </a:tcPr>
                </a:tc>
              </a:tr>
              <a:tr h="566928">
                <a:tc>
                  <a:txBody>
                    <a:bodyPr wrap="square"/>
                    <a:lstStyle/>
                    <a:p>
                      <a:pPr algn="l"/>
                      <a:r>
                        <a:rPr sz="1300" b="1">
                          <a:solidFill>
                            <a:srgbClr val="462016"/>
                          </a:solidFill>
                          <a:latin typeface="Arial"/>
                        </a:rPr>
                        <a:t>D1.5 · Dette nette / EBE</a:t>
                      </a:r>
                    </a:p>
                  </a:txBody>
                  <a:tcPr marL="91440" marR="91440" marT="36576" marB="36576" anchor="ctr">
                    <a:solidFill>
                      <a:srgbClr val="FBF6F0"/>
                    </a:solidFill>
                  </a:tcPr>
                </a:tc>
                <a:tc>
                  <a:txBody>
                    <a:bodyPr wrap="square"/>
                    <a:lstStyle/>
                    <a:p>
                      <a:pPr algn="ctr"/>
                      <a:r>
                        <a:rPr sz="1300" b="0">
                          <a:solidFill>
                            <a:srgbClr val="3D3D3B"/>
                          </a:solidFill>
                          <a:latin typeface="Arial"/>
                        </a:rPr>
                        <a:t>5 %</a:t>
                      </a:r>
                    </a:p>
                  </a:txBody>
                  <a:tcPr marL="91440" marR="91440" marT="36576" marB="36576" anchor="ctr">
                    <a:solidFill>
                      <a:srgbClr val="FBF6F0"/>
                    </a:solidFill>
                  </a:tcPr>
                </a:tc>
                <a:tc>
                  <a:txBody>
                    <a:bodyPr wrap="square"/>
                    <a:lstStyle/>
                    <a:p>
                      <a:pPr algn="ctr"/>
                      <a:r>
                        <a:rPr sz="1300" b="0">
                          <a:solidFill>
                            <a:srgbClr val="3D3D3B"/>
                          </a:solidFill>
                          <a:latin typeface="Arial"/>
                        </a:rPr>
                        <a:t>≤ 1,5x</a:t>
                      </a:r>
                    </a:p>
                  </a:txBody>
                  <a:tcPr marL="91440" marR="91440" marT="36576" marB="36576" anchor="ctr">
                    <a:solidFill>
                      <a:srgbClr val="FBF6F0"/>
                    </a:solidFill>
                  </a:tcPr>
                </a:tc>
                <a:tc>
                  <a:txBody>
                    <a:bodyPr wrap="square"/>
                    <a:lstStyle/>
                    <a:p>
                      <a:pPr algn="ctr"/>
                      <a:r>
                        <a:rPr sz="1300" b="0">
                          <a:solidFill>
                            <a:srgbClr val="3D3D3B"/>
                          </a:solidFill>
                          <a:latin typeface="Arial"/>
                        </a:rPr>
                        <a:t>1,5 – 2,5x</a:t>
                      </a:r>
                    </a:p>
                  </a:txBody>
                  <a:tcPr marL="91440" marR="91440" marT="36576" marB="36576" anchor="ctr">
                    <a:solidFill>
                      <a:srgbClr val="FBF6F0"/>
                    </a:solidFill>
                  </a:tcPr>
                </a:tc>
                <a:tc>
                  <a:txBody>
                    <a:bodyPr wrap="square"/>
                    <a:lstStyle/>
                    <a:p>
                      <a:pPr algn="ctr"/>
                      <a:r>
                        <a:rPr sz="1300" b="0">
                          <a:solidFill>
                            <a:srgbClr val="3D3D3B"/>
                          </a:solidFill>
                          <a:latin typeface="Arial"/>
                        </a:rPr>
                        <a:t>2,5 – 3,5x</a:t>
                      </a:r>
                    </a:p>
                  </a:txBody>
                  <a:tcPr marL="91440" marR="91440" marT="36576" marB="36576" anchor="ctr">
                    <a:solidFill>
                      <a:srgbClr val="FBF6F0"/>
                    </a:solidFill>
                  </a:tcPr>
                </a:tc>
                <a:tc>
                  <a:txBody>
                    <a:bodyPr wrap="square"/>
                    <a:lstStyle/>
                    <a:p>
                      <a:pPr algn="ctr"/>
                      <a:r>
                        <a:rPr sz="1300" b="0">
                          <a:solidFill>
                            <a:srgbClr val="3D3D3B"/>
                          </a:solidFill>
                          <a:latin typeface="Arial"/>
                        </a:rPr>
                        <a:t>3,5 – 5x</a:t>
                      </a:r>
                    </a:p>
                  </a:txBody>
                  <a:tcPr marL="91440" marR="91440" marT="36576" marB="36576" anchor="ctr">
                    <a:solidFill>
                      <a:srgbClr val="FBF6F0"/>
                    </a:solidFill>
                  </a:tcPr>
                </a:tc>
                <a:tc>
                  <a:txBody>
                    <a:bodyPr wrap="square"/>
                    <a:lstStyle/>
                    <a:p>
                      <a:pPr algn="ctr"/>
                      <a:r>
                        <a:rPr sz="1300" b="0">
                          <a:solidFill>
                            <a:srgbClr val="3D3D3B"/>
                          </a:solidFill>
                          <a:latin typeface="Arial"/>
                        </a:rPr>
                        <a:t>&gt; 5x</a:t>
                      </a:r>
                    </a:p>
                  </a:txBody>
                  <a:tcPr marL="91440" marR="91440" marT="36576" marB="36576" anchor="ctr">
                    <a:solidFill>
                      <a:srgbClr val="FBF6F0"/>
                    </a:solidFill>
                  </a:tcPr>
                </a:tc>
              </a:tr>
              <a:tr h="566928">
                <a:tc>
                  <a:txBody>
                    <a:bodyPr wrap="square"/>
                    <a:lstStyle/>
                    <a:p>
                      <a:pPr algn="l"/>
                      <a:r>
                        <a:rPr sz="1300" b="1">
                          <a:solidFill>
                            <a:srgbClr val="462016"/>
                          </a:solidFill>
                          <a:latin typeface="Arial"/>
                        </a:rPr>
                        <a:t>D1.6 · Liquidité court terme</a:t>
                      </a:r>
                    </a:p>
                  </a:txBody>
                  <a:tcPr marL="91440" marR="91440" marT="36576" marB="36576" anchor="ctr">
                    <a:solidFill>
                      <a:srgbClr val="F2E8DB"/>
                    </a:solidFill>
                  </a:tcPr>
                </a:tc>
                <a:tc>
                  <a:txBody>
                    <a:bodyPr wrap="square"/>
                    <a:lstStyle/>
                    <a:p>
                      <a:pPr algn="ctr"/>
                      <a:r>
                        <a:rPr sz="1300" b="0">
                          <a:solidFill>
                            <a:srgbClr val="3D3D3B"/>
                          </a:solidFill>
                          <a:latin typeface="Arial"/>
                        </a:rPr>
                        <a:t>4 %</a:t>
                      </a:r>
                    </a:p>
                  </a:txBody>
                  <a:tcPr marL="91440" marR="91440" marT="36576" marB="36576" anchor="ctr">
                    <a:solidFill>
                      <a:srgbClr val="F2E8DB"/>
                    </a:solidFill>
                  </a:tcPr>
                </a:tc>
                <a:tc>
                  <a:txBody>
                    <a:bodyPr wrap="square"/>
                    <a:lstStyle/>
                    <a:p>
                      <a:pPr algn="ctr"/>
                      <a:r>
                        <a:rPr sz="1300" b="0">
                          <a:solidFill>
                            <a:srgbClr val="3D3D3B"/>
                          </a:solidFill>
                          <a:latin typeface="Arial"/>
                        </a:rPr>
                        <a:t>≥ 1,5x</a:t>
                      </a:r>
                    </a:p>
                  </a:txBody>
                  <a:tcPr marL="91440" marR="91440" marT="36576" marB="36576" anchor="ctr">
                    <a:solidFill>
                      <a:srgbClr val="F2E8DB"/>
                    </a:solidFill>
                  </a:tcPr>
                </a:tc>
                <a:tc>
                  <a:txBody>
                    <a:bodyPr wrap="square"/>
                    <a:lstStyle/>
                    <a:p>
                      <a:pPr algn="ctr"/>
                      <a:r>
                        <a:rPr sz="1300" b="0">
                          <a:solidFill>
                            <a:srgbClr val="3D3D3B"/>
                          </a:solidFill>
                          <a:latin typeface="Arial"/>
                        </a:rPr>
                        <a:t>1,25 – 1,5x</a:t>
                      </a:r>
                    </a:p>
                  </a:txBody>
                  <a:tcPr marL="91440" marR="91440" marT="36576" marB="36576" anchor="ctr">
                    <a:solidFill>
                      <a:srgbClr val="F2E8DB"/>
                    </a:solidFill>
                  </a:tcPr>
                </a:tc>
                <a:tc>
                  <a:txBody>
                    <a:bodyPr wrap="square"/>
                    <a:lstStyle/>
                    <a:p>
                      <a:pPr algn="ctr"/>
                      <a:r>
                        <a:rPr sz="1300" b="0">
                          <a:solidFill>
                            <a:srgbClr val="3D3D3B"/>
                          </a:solidFill>
                          <a:latin typeface="Arial"/>
                        </a:rPr>
                        <a:t>1 – 1,25x</a:t>
                      </a:r>
                    </a:p>
                  </a:txBody>
                  <a:tcPr marL="91440" marR="91440" marT="36576" marB="36576" anchor="ctr">
                    <a:solidFill>
                      <a:srgbClr val="F2E8DB"/>
                    </a:solidFill>
                  </a:tcPr>
                </a:tc>
                <a:tc>
                  <a:txBody>
                    <a:bodyPr wrap="square"/>
                    <a:lstStyle/>
                    <a:p>
                      <a:pPr algn="ctr"/>
                      <a:r>
                        <a:rPr sz="1300" b="0">
                          <a:solidFill>
                            <a:srgbClr val="3D3D3B"/>
                          </a:solidFill>
                          <a:latin typeface="Arial"/>
                        </a:rPr>
                        <a:t>0,8 – 1x</a:t>
                      </a:r>
                    </a:p>
                  </a:txBody>
                  <a:tcPr marL="91440" marR="91440" marT="36576" marB="36576" anchor="ctr">
                    <a:solidFill>
                      <a:srgbClr val="F2E8DB"/>
                    </a:solidFill>
                  </a:tcPr>
                </a:tc>
                <a:tc>
                  <a:txBody>
                    <a:bodyPr wrap="square"/>
                    <a:lstStyle/>
                    <a:p>
                      <a:pPr algn="ctr"/>
                      <a:r>
                        <a:rPr sz="1300" b="0">
                          <a:solidFill>
                            <a:srgbClr val="3D3D3B"/>
                          </a:solidFill>
                          <a:latin typeface="Arial"/>
                        </a:rPr>
                        <a:t>&lt; 0,8x</a:t>
                      </a:r>
                    </a:p>
                  </a:txBody>
                  <a:tcPr marL="91440" marR="91440" marT="36576" marB="36576" anchor="ctr">
                    <a:solidFill>
                      <a:srgbClr val="F2E8DB"/>
                    </a:solidFill>
                  </a:tcPr>
                </a:tc>
              </a:tr>
              <a:tr h="566928">
                <a:tc>
                  <a:txBody>
                    <a:bodyPr wrap="square"/>
                    <a:lstStyle/>
                    <a:p>
                      <a:pPr algn="l"/>
                      <a:r>
                        <a:rPr sz="1300" b="1">
                          <a:solidFill>
                            <a:srgbClr val="462016"/>
                          </a:solidFill>
                          <a:latin typeface="Arial"/>
                        </a:rPr>
                        <a:t>D2.2 · DSCR (service de la dette)</a:t>
                      </a:r>
                    </a:p>
                  </a:txBody>
                  <a:tcPr marL="91440" marR="91440" marT="36576" marB="36576" anchor="ctr">
                    <a:solidFill>
                      <a:srgbClr val="FBF6F0"/>
                    </a:solidFill>
                  </a:tcPr>
                </a:tc>
                <a:tc>
                  <a:txBody>
                    <a:bodyPr wrap="square"/>
                    <a:lstStyle/>
                    <a:p>
                      <a:pPr algn="ctr"/>
                      <a:r>
                        <a:rPr sz="1300" b="0">
                          <a:solidFill>
                            <a:srgbClr val="3D3D3B"/>
                          </a:solidFill>
                          <a:latin typeface="Arial"/>
                        </a:rPr>
                        <a:t>4 %</a:t>
                      </a:r>
                    </a:p>
                  </a:txBody>
                  <a:tcPr marL="91440" marR="91440" marT="36576" marB="36576" anchor="ctr">
                    <a:solidFill>
                      <a:srgbClr val="FBF6F0"/>
                    </a:solidFill>
                  </a:tcPr>
                </a:tc>
                <a:tc>
                  <a:txBody>
                    <a:bodyPr wrap="square"/>
                    <a:lstStyle/>
                    <a:p>
                      <a:pPr algn="ctr"/>
                      <a:r>
                        <a:rPr sz="1300" b="0">
                          <a:solidFill>
                            <a:srgbClr val="3D3D3B"/>
                          </a:solidFill>
                          <a:latin typeface="Arial"/>
                        </a:rPr>
                        <a:t>≥ 1,6x</a:t>
                      </a:r>
                    </a:p>
                  </a:txBody>
                  <a:tcPr marL="91440" marR="91440" marT="36576" marB="36576" anchor="ctr">
                    <a:solidFill>
                      <a:srgbClr val="FBF6F0"/>
                    </a:solidFill>
                  </a:tcPr>
                </a:tc>
                <a:tc>
                  <a:txBody>
                    <a:bodyPr wrap="square"/>
                    <a:lstStyle/>
                    <a:p>
                      <a:pPr algn="ctr"/>
                      <a:r>
                        <a:rPr sz="1300" b="0">
                          <a:solidFill>
                            <a:srgbClr val="3D3D3B"/>
                          </a:solidFill>
                          <a:latin typeface="Arial"/>
                        </a:rPr>
                        <a:t>1,35 – 1,6x</a:t>
                      </a:r>
                    </a:p>
                  </a:txBody>
                  <a:tcPr marL="91440" marR="91440" marT="36576" marB="36576" anchor="ctr">
                    <a:solidFill>
                      <a:srgbClr val="FBF6F0"/>
                    </a:solidFill>
                  </a:tcPr>
                </a:tc>
                <a:tc>
                  <a:txBody>
                    <a:bodyPr wrap="square"/>
                    <a:lstStyle/>
                    <a:p>
                      <a:pPr algn="ctr"/>
                      <a:r>
                        <a:rPr sz="1300" b="0">
                          <a:solidFill>
                            <a:srgbClr val="3D3D3B"/>
                          </a:solidFill>
                          <a:latin typeface="Arial"/>
                        </a:rPr>
                        <a:t>1,2 – 1,35x</a:t>
                      </a:r>
                    </a:p>
                  </a:txBody>
                  <a:tcPr marL="91440" marR="91440" marT="36576" marB="36576" anchor="ctr">
                    <a:solidFill>
                      <a:srgbClr val="FBF6F0"/>
                    </a:solidFill>
                  </a:tcPr>
                </a:tc>
                <a:tc>
                  <a:txBody>
                    <a:bodyPr wrap="square"/>
                    <a:lstStyle/>
                    <a:p>
                      <a:pPr algn="ctr"/>
                      <a:r>
                        <a:rPr sz="1300" b="0">
                          <a:solidFill>
                            <a:srgbClr val="3D3D3B"/>
                          </a:solidFill>
                          <a:latin typeface="Arial"/>
                        </a:rPr>
                        <a:t>1 – 1,2x</a:t>
                      </a:r>
                    </a:p>
                  </a:txBody>
                  <a:tcPr marL="91440" marR="91440" marT="36576" marB="36576" anchor="ctr">
                    <a:solidFill>
                      <a:srgbClr val="FBF6F0"/>
                    </a:solidFill>
                  </a:tcPr>
                </a:tc>
                <a:tc>
                  <a:txBody>
                    <a:bodyPr wrap="square"/>
                    <a:lstStyle/>
                    <a:p>
                      <a:pPr algn="ctr"/>
                      <a:r>
                        <a:rPr sz="1300" b="0">
                          <a:solidFill>
                            <a:srgbClr val="3D3D3B"/>
                          </a:solidFill>
                          <a:latin typeface="Arial"/>
                        </a:rPr>
                        <a:t>&lt; 1x</a:t>
                      </a:r>
                    </a:p>
                  </a:txBody>
                  <a:tcPr marL="91440" marR="91440" marT="36576" marB="36576" anchor="ctr">
                    <a:solidFill>
                      <a:srgbClr val="FBF6F0"/>
                    </a:solidFill>
                  </a:tcPr>
                </a:tc>
              </a:tr>
              <a:tr h="566928">
                <a:tc>
                  <a:txBody>
                    <a:bodyPr wrap="square"/>
                    <a:lstStyle/>
                    <a:p>
                      <a:pPr algn="l"/>
                      <a:r>
                        <a:rPr sz="1300" b="1">
                          <a:solidFill>
                            <a:srgbClr val="462016"/>
                          </a:solidFill>
                          <a:latin typeface="Arial"/>
                        </a:rPr>
                        <a:t>D3.1 · Retards de paiement</a:t>
                      </a:r>
                    </a:p>
                  </a:txBody>
                  <a:tcPr marL="91440" marR="91440" marT="36576" marB="36576" anchor="ctr">
                    <a:solidFill>
                      <a:srgbClr val="F2E8DB"/>
                    </a:solidFill>
                  </a:tcPr>
                </a:tc>
                <a:tc>
                  <a:txBody>
                    <a:bodyPr wrap="square"/>
                    <a:lstStyle/>
                    <a:p>
                      <a:pPr algn="ctr"/>
                      <a:r>
                        <a:rPr sz="1300" b="0">
                          <a:solidFill>
                            <a:srgbClr val="3D3D3B"/>
                          </a:solidFill>
                          <a:latin typeface="Arial"/>
                        </a:rPr>
                        <a:t>5 %</a:t>
                      </a:r>
                    </a:p>
                  </a:txBody>
                  <a:tcPr marL="91440" marR="91440" marT="36576" marB="36576" anchor="ctr">
                    <a:solidFill>
                      <a:srgbClr val="F2E8DB"/>
                    </a:solidFill>
                  </a:tcPr>
                </a:tc>
                <a:tc>
                  <a:txBody>
                    <a:bodyPr wrap="square"/>
                    <a:lstStyle/>
                    <a:p>
                      <a:pPr algn="ctr"/>
                      <a:r>
                        <a:rPr sz="1300" b="0">
                          <a:solidFill>
                            <a:srgbClr val="3D3D3B"/>
                          </a:solidFill>
                          <a:latin typeface="Arial"/>
                        </a:rPr>
                        <a:t>aucun</a:t>
                      </a:r>
                    </a:p>
                  </a:txBody>
                  <a:tcPr marL="91440" marR="91440" marT="36576" marB="36576" anchor="ctr">
                    <a:solidFill>
                      <a:srgbClr val="F2E8DB"/>
                    </a:solidFill>
                  </a:tcPr>
                </a:tc>
                <a:tc>
                  <a:txBody>
                    <a:bodyPr wrap="square"/>
                    <a:lstStyle/>
                    <a:p>
                      <a:pPr algn="ctr"/>
                      <a:r>
                        <a:rPr sz="1300" b="0">
                          <a:solidFill>
                            <a:srgbClr val="3D3D3B"/>
                          </a:solidFill>
                          <a:latin typeface="Arial"/>
                        </a:rPr>
                        <a:t>1 – 7 j</a:t>
                      </a:r>
                    </a:p>
                  </a:txBody>
                  <a:tcPr marL="91440" marR="91440" marT="36576" marB="36576" anchor="ctr">
                    <a:solidFill>
                      <a:srgbClr val="F2E8DB"/>
                    </a:solidFill>
                  </a:tcPr>
                </a:tc>
                <a:tc>
                  <a:txBody>
                    <a:bodyPr wrap="square"/>
                    <a:lstStyle/>
                    <a:p>
                      <a:pPr algn="ctr"/>
                      <a:r>
                        <a:rPr sz="1300" b="0">
                          <a:solidFill>
                            <a:srgbClr val="3D3D3B"/>
                          </a:solidFill>
                          <a:latin typeface="Arial"/>
                        </a:rPr>
                        <a:t>8 – 30 j</a:t>
                      </a:r>
                    </a:p>
                  </a:txBody>
                  <a:tcPr marL="91440" marR="91440" marT="36576" marB="36576" anchor="ctr">
                    <a:solidFill>
                      <a:srgbClr val="F2E8DB"/>
                    </a:solidFill>
                  </a:tcPr>
                </a:tc>
                <a:tc>
                  <a:txBody>
                    <a:bodyPr wrap="square"/>
                    <a:lstStyle/>
                    <a:p>
                      <a:pPr algn="ctr"/>
                      <a:r>
                        <a:rPr sz="1300" b="0">
                          <a:solidFill>
                            <a:srgbClr val="3D3D3B"/>
                          </a:solidFill>
                          <a:latin typeface="Arial"/>
                        </a:rPr>
                        <a:t>31 – 60 j</a:t>
                      </a:r>
                    </a:p>
                  </a:txBody>
                  <a:tcPr marL="91440" marR="91440" marT="36576" marB="36576" anchor="ctr">
                    <a:solidFill>
                      <a:srgbClr val="F2E8DB"/>
                    </a:solidFill>
                  </a:tcPr>
                </a:tc>
                <a:tc>
                  <a:txBody>
                    <a:bodyPr wrap="square"/>
                    <a:lstStyle/>
                    <a:p>
                      <a:pPr algn="ctr"/>
                      <a:r>
                        <a:rPr sz="1300" b="0">
                          <a:solidFill>
                            <a:srgbClr val="3D3D3B"/>
                          </a:solidFill>
                          <a:latin typeface="Arial"/>
                        </a:rPr>
                        <a:t>&gt; 60 j</a:t>
                      </a:r>
                    </a:p>
                  </a:txBody>
                  <a:tcPr marL="91440" marR="91440" marT="36576" marB="36576" anchor="ctr">
                    <a:solidFill>
                      <a:srgbClr val="F2E8DB"/>
                    </a:solidFill>
                  </a:tcPr>
                </a:tc>
              </a:tr>
              <a:tr h="566928">
                <a:tc>
                  <a:txBody>
                    <a:bodyPr wrap="square"/>
                    <a:lstStyle/>
                    <a:p>
                      <a:pPr algn="l"/>
                      <a:r>
                        <a:rPr sz="1300" b="1">
                          <a:solidFill>
                            <a:srgbClr val="462016"/>
                          </a:solidFill>
                          <a:latin typeface="Arial"/>
                        </a:rPr>
                        <a:t>D3.4 · Mouvements confiés / CA</a:t>
                      </a:r>
                    </a:p>
                  </a:txBody>
                  <a:tcPr marL="91440" marR="91440" marT="36576" marB="36576" anchor="ctr">
                    <a:solidFill>
                      <a:srgbClr val="FBF6F0"/>
                    </a:solidFill>
                  </a:tcPr>
                </a:tc>
                <a:tc>
                  <a:txBody>
                    <a:bodyPr wrap="square"/>
                    <a:lstStyle/>
                    <a:p>
                      <a:pPr algn="ctr"/>
                      <a:r>
                        <a:rPr sz="1300" b="0">
                          <a:solidFill>
                            <a:srgbClr val="3D3D3B"/>
                          </a:solidFill>
                          <a:latin typeface="Arial"/>
                        </a:rPr>
                        <a:t>3 %</a:t>
                      </a:r>
                    </a:p>
                  </a:txBody>
                  <a:tcPr marL="91440" marR="91440" marT="36576" marB="36576" anchor="ctr">
                    <a:solidFill>
                      <a:srgbClr val="FBF6F0"/>
                    </a:solidFill>
                  </a:tcPr>
                </a:tc>
                <a:tc>
                  <a:txBody>
                    <a:bodyPr wrap="square"/>
                    <a:lstStyle/>
                    <a:p>
                      <a:pPr algn="ctr"/>
                      <a:r>
                        <a:rPr sz="1300" b="0">
                          <a:solidFill>
                            <a:srgbClr val="3D3D3B"/>
                          </a:solidFill>
                          <a:latin typeface="Arial"/>
                        </a:rPr>
                        <a:t>≥ 110 %</a:t>
                      </a:r>
                    </a:p>
                  </a:txBody>
                  <a:tcPr marL="91440" marR="91440" marT="36576" marB="36576" anchor="ctr">
                    <a:solidFill>
                      <a:srgbClr val="FBF6F0"/>
                    </a:solidFill>
                  </a:tcPr>
                </a:tc>
                <a:tc>
                  <a:txBody>
                    <a:bodyPr wrap="square"/>
                    <a:lstStyle/>
                    <a:p>
                      <a:pPr algn="ctr"/>
                      <a:r>
                        <a:rPr sz="1300" b="0">
                          <a:solidFill>
                            <a:srgbClr val="3D3D3B"/>
                          </a:solidFill>
                          <a:latin typeface="Arial"/>
                        </a:rPr>
                        <a:t>90 – 110 %</a:t>
                      </a:r>
                    </a:p>
                  </a:txBody>
                  <a:tcPr marL="91440" marR="91440" marT="36576" marB="36576" anchor="ctr">
                    <a:solidFill>
                      <a:srgbClr val="FBF6F0"/>
                    </a:solidFill>
                  </a:tcPr>
                </a:tc>
                <a:tc>
                  <a:txBody>
                    <a:bodyPr wrap="square"/>
                    <a:lstStyle/>
                    <a:p>
                      <a:pPr algn="ctr"/>
                      <a:r>
                        <a:rPr sz="1300" b="0">
                          <a:solidFill>
                            <a:srgbClr val="3D3D3B"/>
                          </a:solidFill>
                          <a:latin typeface="Arial"/>
                        </a:rPr>
                        <a:t>70 – 90 %</a:t>
                      </a:r>
                    </a:p>
                  </a:txBody>
                  <a:tcPr marL="91440" marR="91440" marT="36576" marB="36576" anchor="ctr">
                    <a:solidFill>
                      <a:srgbClr val="FBF6F0"/>
                    </a:solidFill>
                  </a:tcPr>
                </a:tc>
                <a:tc>
                  <a:txBody>
                    <a:bodyPr wrap="square"/>
                    <a:lstStyle/>
                    <a:p>
                      <a:pPr algn="ctr"/>
                      <a:r>
                        <a:rPr sz="1300" b="0">
                          <a:solidFill>
                            <a:srgbClr val="3D3D3B"/>
                          </a:solidFill>
                          <a:latin typeface="Arial"/>
                        </a:rPr>
                        <a:t>50 – 70 %</a:t>
                      </a:r>
                    </a:p>
                  </a:txBody>
                  <a:tcPr marL="91440" marR="91440" marT="36576" marB="36576" anchor="ctr">
                    <a:solidFill>
                      <a:srgbClr val="FBF6F0"/>
                    </a:solidFill>
                  </a:tcPr>
                </a:tc>
                <a:tc>
                  <a:txBody>
                    <a:bodyPr wrap="square"/>
                    <a:lstStyle/>
                    <a:p>
                      <a:pPr algn="ctr"/>
                      <a:r>
                        <a:rPr sz="1300" b="0">
                          <a:solidFill>
                            <a:srgbClr val="3D3D3B"/>
                          </a:solidFill>
                          <a:latin typeface="Arial"/>
                        </a:rPr>
                        <a:t>&lt; 50 %</a:t>
                      </a:r>
                    </a:p>
                  </a:txBody>
                  <a:tcPr marL="91440" marR="91440" marT="36576" marB="36576" anchor="ctr">
                    <a:solidFill>
                      <a:srgbClr val="FBF6F0"/>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LES CRITÈRES QUALITATIFS : DES REPÈRES ÉCRITS</a:t>
            </a:r>
            <a:endParaRPr lang="en-US" sz="2400" dirty="0"/>
          </a:p>
        </p:txBody>
      </p:sp>
      <p:sp>
        <p:nvSpPr>
          <p:cNvPr id="20" name="Text 17"/>
          <p:cNvSpPr txBox="1"/>
          <p:nvPr/>
        </p:nvSpPr>
        <p:spPr>
          <a:xfrm>
            <a:off x="457200" y="5532120"/>
            <a:ext cx="11320272" cy="457200"/>
          </a:xfrm>
          <a:prstGeom prst="rect">
            <a:avLst/>
          </a:prstGeom>
          <a:noFill/>
          <a:ln/>
        </p:spPr>
        <p:txBody>
          <a:bodyPr wrap="square" lIns="0" tIns="0" rIns="0" bIns="0" rtlCol="0" anchor="ctr"/>
          <a:lstStyle/>
          <a:p>
            <a:pPr indent="0" marL="0">
              <a:buNone/>
            </a:pPr>
            <a:r>
              <a:rPr lang="en-US" sz="1500" b="1" dirty="0">
                <a:solidFill>
                  <a:srgbClr val="462016"/>
                </a:solidFill>
              </a:rPr>
              <a:t>L'analyste choisit le repère qui décrit les faits, et le justifie au dossier : il ne note pas « au jugement ».</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a:t>
            </a:fld>
            <a:endParaRPr lang="en-US"/>
          </a:p>
        </p:txBody>
      </p:sp>
      <p:graphicFrame>
        <p:nvGraphicFramePr>
          <p:cNvPr id="26" name="tableau"/>
          <p:cNvGraphicFramePr>
            <a:graphicFrameLocks noGrp="1"/>
          </p:cNvGraphicFramePr>
          <p:nvPr/>
        </p:nvGraphicFramePr>
        <p:xfrm>
          <a:off x="457200" y="1280160"/>
          <a:ext cx="6949440" cy="3621024"/>
        </p:xfrm>
        <a:graphic>
          <a:graphicData uri="http://schemas.openxmlformats.org/drawingml/2006/table">
            <a:tbl>
              <a:tblPr firstRow="0" bandRow="0"/>
              <a:tblGrid>
                <a:gridCol w="914400"/>
                <a:gridCol w="6035040"/>
              </a:tblGrid>
              <a:tr h="603504">
                <a:tc>
                  <a:txBody>
                    <a:bodyPr wrap="square"/>
                    <a:lstStyle/>
                    <a:p>
                      <a:pPr algn="ctr"/>
                      <a:r>
                        <a:rPr sz="1300" b="1">
                          <a:solidFill>
                            <a:srgbClr val="FFFFFF"/>
                          </a:solidFill>
                          <a:latin typeface="Arial"/>
                        </a:rPr>
                        <a:t>Score</a:t>
                      </a:r>
                    </a:p>
                  </a:txBody>
                  <a:tcPr marL="91440" marR="91440" marT="36576" marB="36576" anchor="ctr">
                    <a:solidFill>
                      <a:srgbClr val="E37B05"/>
                    </a:solidFill>
                  </a:tcPr>
                </a:tc>
                <a:tc>
                  <a:txBody>
                    <a:bodyPr wrap="square"/>
                    <a:lstStyle/>
                    <a:p>
                      <a:pPr algn="l"/>
                      <a:r>
                        <a:rPr sz="1300" b="1">
                          <a:solidFill>
                            <a:srgbClr val="FFFFFF"/>
                          </a:solidFill>
                          <a:latin typeface="Arial"/>
                        </a:rPr>
                        <a:t>D3.2 · Dépassements et irrégularités de compte (repère écrit)</a:t>
                      </a:r>
                    </a:p>
                  </a:txBody>
                  <a:tcPr marL="91440" marR="91440" marT="36576" marB="36576" anchor="ctr">
                    <a:solidFill>
                      <a:srgbClr val="E37B05"/>
                    </a:solidFill>
                  </a:tcPr>
                </a:tc>
              </a:tr>
              <a:tr h="603504">
                <a:tc>
                  <a:txBody>
                    <a:bodyPr wrap="square"/>
                    <a:lstStyle/>
                    <a:p>
                      <a:pPr algn="ctr"/>
                      <a:r>
                        <a:rPr sz="1300" b="1">
                          <a:solidFill>
                            <a:srgbClr val="462016"/>
                          </a:solidFill>
                          <a:latin typeface="Arial"/>
                        </a:rPr>
                        <a:t>100</a:t>
                      </a:r>
                    </a:p>
                  </a:txBody>
                  <a:tcPr marL="91440" marR="91440" marT="36576" marB="36576" anchor="ctr">
                    <a:solidFill>
                      <a:srgbClr val="F2E8DB"/>
                    </a:solidFill>
                  </a:tcPr>
                </a:tc>
                <a:tc>
                  <a:txBody>
                    <a:bodyPr wrap="square"/>
                    <a:lstStyle/>
                    <a:p>
                      <a:pPr algn="l"/>
                      <a:r>
                        <a:rPr sz="1300" b="0">
                          <a:solidFill>
                            <a:srgbClr val="3D3D3B"/>
                          </a:solidFill>
                          <a:latin typeface="Arial"/>
                        </a:rPr>
                        <a:t>Aucun dépassement non autorisé</a:t>
                      </a:r>
                    </a:p>
                  </a:txBody>
                  <a:tcPr marL="91440" marR="91440" marT="36576" marB="36576" anchor="ctr">
                    <a:solidFill>
                      <a:srgbClr val="F2E8DB"/>
                    </a:solidFill>
                  </a:tcPr>
                </a:tc>
              </a:tr>
              <a:tr h="603504">
                <a:tc>
                  <a:txBody>
                    <a:bodyPr wrap="square"/>
                    <a:lstStyle/>
                    <a:p>
                      <a:pPr algn="ctr"/>
                      <a:r>
                        <a:rPr sz="1300" b="1">
                          <a:solidFill>
                            <a:srgbClr val="462016"/>
                          </a:solidFill>
                          <a:latin typeface="Arial"/>
                        </a:rPr>
                        <a:t>75</a:t>
                      </a:r>
                    </a:p>
                  </a:txBody>
                  <a:tcPr marL="91440" marR="91440" marT="36576" marB="36576" anchor="ctr">
                    <a:solidFill>
                      <a:srgbClr val="FBF6F0"/>
                    </a:solidFill>
                  </a:tcPr>
                </a:tc>
                <a:tc>
                  <a:txBody>
                    <a:bodyPr wrap="square"/>
                    <a:lstStyle/>
                    <a:p>
                      <a:pPr algn="l"/>
                      <a:r>
                        <a:rPr sz="1300" b="0">
                          <a:solidFill>
                            <a:srgbClr val="3D3D3B"/>
                          </a:solidFill>
                          <a:latin typeface="Arial"/>
                        </a:rPr>
                        <a:t>Un dépassement de 3 jours au plus et de 5 % de la ligne au plus, régularisé spontanément</a:t>
                      </a:r>
                    </a:p>
                  </a:txBody>
                  <a:tcPr marL="91440" marR="91440" marT="36576" marB="36576" anchor="ctr">
                    <a:solidFill>
                      <a:srgbClr val="FBF6F0"/>
                    </a:solidFill>
                  </a:tcPr>
                </a:tc>
              </a:tr>
              <a:tr h="603504">
                <a:tc>
                  <a:txBody>
                    <a:bodyPr wrap="square"/>
                    <a:lstStyle/>
                    <a:p>
                      <a:pPr algn="ctr"/>
                      <a:r>
                        <a:rPr sz="1300" b="1">
                          <a:solidFill>
                            <a:srgbClr val="462016"/>
                          </a:solidFill>
                          <a:latin typeface="Arial"/>
                        </a:rPr>
                        <a:t>50</a:t>
                      </a:r>
                    </a:p>
                  </a:txBody>
                  <a:tcPr marL="91440" marR="91440" marT="36576" marB="36576" anchor="ctr">
                    <a:solidFill>
                      <a:srgbClr val="F2E8DB"/>
                    </a:solidFill>
                  </a:tcPr>
                </a:tc>
                <a:tc>
                  <a:txBody>
                    <a:bodyPr wrap="square"/>
                    <a:lstStyle/>
                    <a:p>
                      <a:pPr algn="l"/>
                      <a:r>
                        <a:rPr sz="1300" b="0">
                          <a:solidFill>
                            <a:srgbClr val="3D3D3B"/>
                          </a:solidFill>
                          <a:latin typeface="Arial"/>
                        </a:rPr>
                        <a:t>4 à 15 jours cumulés, ou 2 à 3 épisodes, pour un montant de 10 % de la ligne au plus</a:t>
                      </a:r>
                    </a:p>
                  </a:txBody>
                  <a:tcPr marL="91440" marR="91440" marT="36576" marB="36576" anchor="ctr">
                    <a:solidFill>
                      <a:srgbClr val="F2E8DB"/>
                    </a:solidFill>
                  </a:tcPr>
                </a:tc>
              </a:tr>
              <a:tr h="603504">
                <a:tc>
                  <a:txBody>
                    <a:bodyPr wrap="square"/>
                    <a:lstStyle/>
                    <a:p>
                      <a:pPr algn="ctr"/>
                      <a:r>
                        <a:rPr sz="1300" b="1">
                          <a:solidFill>
                            <a:srgbClr val="462016"/>
                          </a:solidFill>
                          <a:latin typeface="Arial"/>
                        </a:rPr>
                        <a:t>25</a:t>
                      </a:r>
                    </a:p>
                  </a:txBody>
                  <a:tcPr marL="91440" marR="91440" marT="36576" marB="36576" anchor="ctr">
                    <a:solidFill>
                      <a:srgbClr val="FBF6F0"/>
                    </a:solidFill>
                  </a:tcPr>
                </a:tc>
                <a:tc>
                  <a:txBody>
                    <a:bodyPr wrap="square"/>
                    <a:lstStyle/>
                    <a:p>
                      <a:pPr algn="l"/>
                      <a:r>
                        <a:rPr sz="1300" b="0">
                          <a:solidFill>
                            <a:srgbClr val="3D3D3B"/>
                          </a:solidFill>
                          <a:latin typeface="Arial"/>
                        </a:rPr>
                        <a:t>16 à 30 jours cumulés, épisodes mensuels, ou montant supérieur à 10 % de la ligne</a:t>
                      </a:r>
                    </a:p>
                  </a:txBody>
                  <a:tcPr marL="91440" marR="91440" marT="36576" marB="36576" anchor="ctr">
                    <a:solidFill>
                      <a:srgbClr val="FBF6F0"/>
                    </a:solidFill>
                  </a:tcPr>
                </a:tc>
              </a:tr>
              <a:tr h="603504">
                <a:tc>
                  <a:txBody>
                    <a:bodyPr wrap="square"/>
                    <a:lstStyle/>
                    <a:p>
                      <a:pPr algn="ctr"/>
                      <a:r>
                        <a:rPr sz="1300" b="1">
                          <a:solidFill>
                            <a:srgbClr val="462016"/>
                          </a:solidFill>
                          <a:latin typeface="Arial"/>
                        </a:rPr>
                        <a:t>0</a:t>
                      </a:r>
                    </a:p>
                  </a:txBody>
                  <a:tcPr marL="91440" marR="91440" marT="36576" marB="36576" anchor="ctr">
                    <a:solidFill>
                      <a:srgbClr val="F2E8DB"/>
                    </a:solidFill>
                  </a:tcPr>
                </a:tc>
                <a:tc>
                  <a:txBody>
                    <a:bodyPr wrap="square"/>
                    <a:lstStyle/>
                    <a:p>
                      <a:pPr algn="l"/>
                      <a:r>
                        <a:rPr sz="1300" b="0">
                          <a:solidFill>
                            <a:srgbClr val="3D3D3B"/>
                          </a:solidFill>
                          <a:latin typeface="Arial"/>
                        </a:rPr>
                        <a:t>Plus de 30 jours, dépassement permanent, compte bloqué ou absence d'autorisation</a:t>
                      </a:r>
                    </a:p>
                  </a:txBody>
                  <a:tcPr marL="91440" marR="91440" marT="36576" marB="36576" anchor="ctr">
                    <a:solidFill>
                      <a:srgbClr val="F2E8DB"/>
                    </a:solidFill>
                  </a:tcPr>
                </a:tc>
              </a:tr>
            </a:tbl>
          </a:graphicData>
        </a:graphic>
      </p:graphicFrame>
      <p:sp>
        <p:nvSpPr>
          <p:cNvPr id="27" name="encadre"/>
          <p:cNvSpPr/>
          <p:nvPr/>
        </p:nvSpPr>
        <p:spPr>
          <a:xfrm>
            <a:off x="7680960" y="1280160"/>
            <a:ext cx="4050791" cy="3657600"/>
          </a:xfrm>
          <a:prstGeom prst="roundRect">
            <a:avLst>
              <a:gd name="adj" fmla="val 4000"/>
            </a:avLst>
          </a:prstGeom>
          <a:solidFill>
            <a:srgbClr val="FB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e"/>
          <p:cNvSpPr txBox="1"/>
          <p:nvPr/>
        </p:nvSpPr>
        <p:spPr>
          <a:xfrm>
            <a:off x="7955280" y="1508760"/>
            <a:ext cx="3502151" cy="3200400"/>
          </a:xfrm>
          <a:prstGeom prst="rect">
            <a:avLst/>
          </a:prstGeom>
          <a:noFill/>
        </p:spPr>
        <p:txBody>
          <a:bodyPr wrap="square">
            <a:spAutoFit/>
          </a:bodyPr>
          <a:lstStyle/>
          <a:p>
            <a:pPr>
              <a:spcAft>
                <a:spcPts val="800"/>
              </a:spcAft>
            </a:pPr>
            <a:r>
              <a:rPr sz="1800" b="1">
                <a:solidFill>
                  <a:srgbClr val="462016"/>
                </a:solidFill>
                <a:latin typeface="Arial"/>
              </a:rPr>
              <a:t>31 critères qualitatifs</a:t>
            </a:r>
          </a:p>
          <a:p>
            <a:pPr>
              <a:spcAft>
                <a:spcPts val="900"/>
              </a:spcAft>
            </a:pPr>
            <a:r>
              <a:rPr sz="1400">
                <a:solidFill>
                  <a:srgbClr val="3D3D3B"/>
                </a:solidFill>
                <a:latin typeface="Arial"/>
              </a:rPr>
              <a:t>Chacun a cinq repères écrits : 100, 75, 50, 25 et 0.</a:t>
            </a:r>
          </a:p>
          <a:p>
            <a:pPr>
              <a:spcAft>
                <a:spcPts val="900"/>
              </a:spcAft>
            </a:pPr>
            <a:r>
              <a:rPr sz="1400">
                <a:solidFill>
                  <a:srgbClr val="3D3D3B"/>
                </a:solidFill>
                <a:latin typeface="Arial"/>
              </a:rPr>
              <a:t>Deux analystes face aux mêmes faits doivent choisir le même repère.</a:t>
            </a:r>
          </a:p>
          <a:p>
            <a:pPr>
              <a:spcAft>
                <a:spcPts val="900"/>
              </a:spcAft>
            </a:pPr>
            <a:r>
              <a:rPr sz="1400">
                <a:solidFill>
                  <a:srgbClr val="3D3D3B"/>
                </a:solidFill>
                <a:latin typeface="Arial"/>
              </a:rPr>
              <a:t>Domaines surtout qualitatifs : management, activité, ESG.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DU SCORE AU GRADE, ET LES GARDE-FOUS</a:t>
            </a:r>
            <a:endParaRPr lang="en-US" sz="2400" dirty="0"/>
          </a:p>
        </p:txBody>
      </p:sp>
      <p:sp>
        <p:nvSpPr>
          <p:cNvPr id="20" name="Text 17"/>
          <p:cNvSpPr txBox="1"/>
          <p:nvPr/>
        </p:nvSpPr>
        <p:spPr>
          <a:xfrm>
            <a:off x="457200" y="5532120"/>
            <a:ext cx="11320272" cy="457200"/>
          </a:xfrm>
          <a:prstGeom prst="rect">
            <a:avLst/>
          </a:prstGeom>
          <a:noFill/>
          <a:ln/>
        </p:spPr>
        <p:txBody>
          <a:bodyPr wrap="square" lIns="0" tIns="0" rIns="0" bIns="0" rtlCol="0" anchor="ctr"/>
          <a:lstStyle/>
          <a:p>
            <a:pPr indent="0" marL="0">
              <a:buNone/>
            </a:pPr>
            <a:r>
              <a:rPr lang="en-US" sz="1500" b="1" dirty="0">
                <a:solidFill>
                  <a:srgbClr val="462016"/>
                </a:solidFill>
              </a:rPr>
              <a:t>Le grade de défaut (DEF1 à DEF3) ne vient jamais du score : c'est un constat.</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a:t>
            </a:fld>
            <a:endParaRPr lang="en-US"/>
          </a:p>
        </p:txBody>
      </p:sp>
      <p:graphicFrame>
        <p:nvGraphicFramePr>
          <p:cNvPr id="26" name="tableau"/>
          <p:cNvGraphicFramePr>
            <a:graphicFrameLocks noGrp="1"/>
          </p:cNvGraphicFramePr>
          <p:nvPr/>
        </p:nvGraphicFramePr>
        <p:xfrm>
          <a:off x="457200" y="1280160"/>
          <a:ext cx="5120640" cy="4114800"/>
        </p:xfrm>
        <a:graphic>
          <a:graphicData uri="http://schemas.openxmlformats.org/drawingml/2006/table">
            <a:tbl>
              <a:tblPr firstRow="0" bandRow="0"/>
              <a:tblGrid>
                <a:gridCol w="1463040"/>
                <a:gridCol w="1737360"/>
                <a:gridCol w="1920240"/>
              </a:tblGrid>
              <a:tr h="457200">
                <a:tc>
                  <a:txBody>
                    <a:bodyPr wrap="square"/>
                    <a:lstStyle/>
                    <a:p>
                      <a:pPr algn="l"/>
                      <a:r>
                        <a:rPr sz="1300" b="1">
                          <a:solidFill>
                            <a:srgbClr val="FFFFFF"/>
                          </a:solidFill>
                          <a:latin typeface="Arial"/>
                        </a:rPr>
                        <a:t>Grade</a:t>
                      </a:r>
                    </a:p>
                  </a:txBody>
                  <a:tcPr marL="91440" marR="91440" marT="36576" marB="36576" anchor="ctr">
                    <a:solidFill>
                      <a:srgbClr val="E37B05"/>
                    </a:solidFill>
                  </a:tcPr>
                </a:tc>
                <a:tc>
                  <a:txBody>
                    <a:bodyPr wrap="square"/>
                    <a:lstStyle/>
                    <a:p>
                      <a:pPr algn="ctr"/>
                      <a:r>
                        <a:rPr sz="1300" b="1">
                          <a:solidFill>
                            <a:srgbClr val="FFFFFF"/>
                          </a:solidFill>
                          <a:latin typeface="Arial"/>
                        </a:rPr>
                        <a:t>Score brut</a:t>
                      </a:r>
                    </a:p>
                  </a:txBody>
                  <a:tcPr marL="91440" marR="91440" marT="36576" marB="36576" anchor="ctr">
                    <a:solidFill>
                      <a:srgbClr val="E37B05"/>
                    </a:solidFill>
                  </a:tcPr>
                </a:tc>
                <a:tc>
                  <a:txBody>
                    <a:bodyPr wrap="square"/>
                    <a:lstStyle/>
                    <a:p>
                      <a:pPr algn="l"/>
                      <a:r>
                        <a:rPr sz="1300" b="1">
                          <a:solidFill>
                            <a:srgbClr val="FFFFFF"/>
                          </a:solidFill>
                          <a:latin typeface="Arial"/>
                        </a:rPr>
                        <a:t>Lecture</a:t>
                      </a:r>
                    </a:p>
                  </a:txBody>
                  <a:tcPr marL="91440" marR="91440" marT="36576" marB="36576" anchor="ctr">
                    <a:solidFill>
                      <a:srgbClr val="E37B05"/>
                    </a:solidFill>
                  </a:tcPr>
                </a:tc>
              </a:tr>
              <a:tr h="457200">
                <a:tc>
                  <a:txBody>
                    <a:bodyPr wrap="square"/>
                    <a:lstStyle/>
                    <a:p>
                      <a:pPr algn="l"/>
                      <a:r>
                        <a:rPr sz="1300" b="1">
                          <a:solidFill>
                            <a:srgbClr val="462016"/>
                          </a:solidFill>
                          <a:latin typeface="Arial"/>
                        </a:rPr>
                        <a:t>STD-P1</a:t>
                      </a:r>
                    </a:p>
                  </a:txBody>
                  <a:tcPr marL="91440" marR="91440" marT="36576" marB="36576" anchor="ctr">
                    <a:solidFill>
                      <a:srgbClr val="F2E8DB"/>
                    </a:solidFill>
                  </a:tcPr>
                </a:tc>
                <a:tc>
                  <a:txBody>
                    <a:bodyPr wrap="square"/>
                    <a:lstStyle/>
                    <a:p>
                      <a:pPr algn="ctr"/>
                      <a:r>
                        <a:rPr sz="1300" b="0">
                          <a:solidFill>
                            <a:srgbClr val="3D3D3B"/>
                          </a:solidFill>
                          <a:latin typeface="Arial"/>
                        </a:rPr>
                        <a:t>88 et plus</a:t>
                      </a:r>
                    </a:p>
                  </a:txBody>
                  <a:tcPr marL="91440" marR="91440" marT="36576" marB="36576" anchor="ctr">
                    <a:solidFill>
                      <a:srgbClr val="F2E8DB"/>
                    </a:solidFill>
                  </a:tcPr>
                </a:tc>
                <a:tc>
                  <a:txBody>
                    <a:bodyPr wrap="square"/>
                    <a:lstStyle/>
                    <a:p>
                      <a:pPr algn="l"/>
                      <a:r>
                        <a:rPr sz="1300" b="0">
                          <a:solidFill>
                            <a:srgbClr val="3D3D3B"/>
                          </a:solidFill>
                          <a:latin typeface="Arial"/>
                        </a:rPr>
                        <a:t>Très solide</a:t>
                      </a:r>
                    </a:p>
                  </a:txBody>
                  <a:tcPr marL="91440" marR="91440" marT="36576" marB="36576" anchor="ctr">
                    <a:solidFill>
                      <a:srgbClr val="F2E8DB"/>
                    </a:solidFill>
                  </a:tcPr>
                </a:tc>
              </a:tr>
              <a:tr h="457200">
                <a:tc>
                  <a:txBody>
                    <a:bodyPr wrap="square"/>
                    <a:lstStyle/>
                    <a:p>
                      <a:pPr algn="l"/>
                      <a:r>
                        <a:rPr sz="1300" b="1">
                          <a:solidFill>
                            <a:srgbClr val="462016"/>
                          </a:solidFill>
                          <a:latin typeface="Arial"/>
                        </a:rPr>
                        <a:t>STD-P2</a:t>
                      </a:r>
                    </a:p>
                  </a:txBody>
                  <a:tcPr marL="91440" marR="91440" marT="36576" marB="36576" anchor="ctr">
                    <a:solidFill>
                      <a:srgbClr val="FBF6F0"/>
                    </a:solidFill>
                  </a:tcPr>
                </a:tc>
                <a:tc>
                  <a:txBody>
                    <a:bodyPr wrap="square"/>
                    <a:lstStyle/>
                    <a:p>
                      <a:pPr algn="ctr"/>
                      <a:r>
                        <a:rPr sz="1300" b="0">
                          <a:solidFill>
                            <a:srgbClr val="3D3D3B"/>
                          </a:solidFill>
                          <a:latin typeface="Arial"/>
                        </a:rPr>
                        <a:t>82 à 88</a:t>
                      </a:r>
                    </a:p>
                  </a:txBody>
                  <a:tcPr marL="91440" marR="91440" marT="36576" marB="36576" anchor="ctr">
                    <a:solidFill>
                      <a:srgbClr val="FBF6F0"/>
                    </a:solidFill>
                  </a:tcPr>
                </a:tc>
                <a:tc>
                  <a:txBody>
                    <a:bodyPr wrap="square"/>
                    <a:lstStyle/>
                    <a:p>
                      <a:pPr algn="l"/>
                      <a:r>
                        <a:rPr sz="1300" b="0">
                          <a:solidFill>
                            <a:srgbClr val="3D3D3B"/>
                          </a:solidFill>
                          <a:latin typeface="Arial"/>
                        </a:rPr>
                        <a:t>Solide</a:t>
                      </a:r>
                    </a:p>
                  </a:txBody>
                  <a:tcPr marL="91440" marR="91440" marT="36576" marB="36576" anchor="ctr">
                    <a:solidFill>
                      <a:srgbClr val="FBF6F0"/>
                    </a:solidFill>
                  </a:tcPr>
                </a:tc>
              </a:tr>
              <a:tr h="457200">
                <a:tc>
                  <a:txBody>
                    <a:bodyPr wrap="square"/>
                    <a:lstStyle/>
                    <a:p>
                      <a:pPr algn="l"/>
                      <a:r>
                        <a:rPr sz="1300" b="1">
                          <a:solidFill>
                            <a:srgbClr val="462016"/>
                          </a:solidFill>
                          <a:latin typeface="Arial"/>
                        </a:rPr>
                        <a:t>STD-P3</a:t>
                      </a:r>
                    </a:p>
                  </a:txBody>
                  <a:tcPr marL="91440" marR="91440" marT="36576" marB="36576" anchor="ctr">
                    <a:solidFill>
                      <a:srgbClr val="F2E8DB"/>
                    </a:solidFill>
                  </a:tcPr>
                </a:tc>
                <a:tc>
                  <a:txBody>
                    <a:bodyPr wrap="square"/>
                    <a:lstStyle/>
                    <a:p>
                      <a:pPr algn="ctr"/>
                      <a:r>
                        <a:rPr sz="1300" b="0">
                          <a:solidFill>
                            <a:srgbClr val="3D3D3B"/>
                          </a:solidFill>
                          <a:latin typeface="Arial"/>
                        </a:rPr>
                        <a:t>76 à 82</a:t>
                      </a:r>
                    </a:p>
                  </a:txBody>
                  <a:tcPr marL="91440" marR="91440" marT="36576" marB="36576" anchor="ctr">
                    <a:solidFill>
                      <a:srgbClr val="F2E8DB"/>
                    </a:solidFill>
                  </a:tcPr>
                </a:tc>
                <a:tc>
                  <a:txBody>
                    <a:bodyPr wrap="square"/>
                    <a:lstStyle/>
                    <a:p>
                      <a:pPr algn="l"/>
                      <a:r>
                        <a:rPr sz="1300" b="0">
                          <a:solidFill>
                            <a:srgbClr val="3D3D3B"/>
                          </a:solidFill>
                          <a:latin typeface="Arial"/>
                        </a:rPr>
                        <a:t>Bon</a:t>
                      </a:r>
                    </a:p>
                  </a:txBody>
                  <a:tcPr marL="91440" marR="91440" marT="36576" marB="36576" anchor="ctr">
                    <a:solidFill>
                      <a:srgbClr val="F2E8DB"/>
                    </a:solidFill>
                  </a:tcPr>
                </a:tc>
              </a:tr>
              <a:tr h="457200">
                <a:tc>
                  <a:txBody>
                    <a:bodyPr wrap="square"/>
                    <a:lstStyle/>
                    <a:p>
                      <a:pPr algn="l"/>
                      <a:r>
                        <a:rPr sz="1300" b="1">
                          <a:solidFill>
                            <a:srgbClr val="462016"/>
                          </a:solidFill>
                          <a:latin typeface="Arial"/>
                        </a:rPr>
                        <a:t>STD-P4</a:t>
                      </a:r>
                    </a:p>
                  </a:txBody>
                  <a:tcPr marL="91440" marR="91440" marT="36576" marB="36576" anchor="ctr">
                    <a:solidFill>
                      <a:srgbClr val="FBF6F0"/>
                    </a:solidFill>
                  </a:tcPr>
                </a:tc>
                <a:tc>
                  <a:txBody>
                    <a:bodyPr wrap="square"/>
                    <a:lstStyle/>
                    <a:p>
                      <a:pPr algn="ctr"/>
                      <a:r>
                        <a:rPr sz="1300" b="0">
                          <a:solidFill>
                            <a:srgbClr val="3D3D3B"/>
                          </a:solidFill>
                          <a:latin typeface="Arial"/>
                        </a:rPr>
                        <a:t>70 à 76</a:t>
                      </a:r>
                    </a:p>
                  </a:txBody>
                  <a:tcPr marL="91440" marR="91440" marT="36576" marB="36576" anchor="ctr">
                    <a:solidFill>
                      <a:srgbClr val="FBF6F0"/>
                    </a:solidFill>
                  </a:tcPr>
                </a:tc>
                <a:tc>
                  <a:txBody>
                    <a:bodyPr wrap="square"/>
                    <a:lstStyle/>
                    <a:p>
                      <a:pPr algn="l"/>
                      <a:r>
                        <a:rPr sz="1300" b="0">
                          <a:solidFill>
                            <a:srgbClr val="3D3D3B"/>
                          </a:solidFill>
                          <a:latin typeface="Arial"/>
                        </a:rPr>
                        <a:t>Satisfaisant</a:t>
                      </a:r>
                    </a:p>
                  </a:txBody>
                  <a:tcPr marL="91440" marR="91440" marT="36576" marB="36576" anchor="ctr">
                    <a:solidFill>
                      <a:srgbClr val="FBF6F0"/>
                    </a:solidFill>
                  </a:tcPr>
                </a:tc>
              </a:tr>
              <a:tr h="457200">
                <a:tc>
                  <a:txBody>
                    <a:bodyPr wrap="square"/>
                    <a:lstStyle/>
                    <a:p>
                      <a:pPr algn="l"/>
                      <a:r>
                        <a:rPr sz="1300" b="1">
                          <a:solidFill>
                            <a:srgbClr val="462016"/>
                          </a:solidFill>
                          <a:latin typeface="Arial"/>
                        </a:rPr>
                        <a:t>STD-P5</a:t>
                      </a:r>
                    </a:p>
                  </a:txBody>
                  <a:tcPr marL="91440" marR="91440" marT="36576" marB="36576" anchor="ctr">
                    <a:solidFill>
                      <a:srgbClr val="F2E8DB"/>
                    </a:solidFill>
                  </a:tcPr>
                </a:tc>
                <a:tc>
                  <a:txBody>
                    <a:bodyPr wrap="square"/>
                    <a:lstStyle/>
                    <a:p>
                      <a:pPr algn="ctr"/>
                      <a:r>
                        <a:rPr sz="1300" b="0">
                          <a:solidFill>
                            <a:srgbClr val="3D3D3B"/>
                          </a:solidFill>
                          <a:latin typeface="Arial"/>
                        </a:rPr>
                        <a:t>64 à 70</a:t>
                      </a:r>
                    </a:p>
                  </a:txBody>
                  <a:tcPr marL="91440" marR="91440" marT="36576" marB="36576" anchor="ctr">
                    <a:solidFill>
                      <a:srgbClr val="F2E8DB"/>
                    </a:solidFill>
                  </a:tcPr>
                </a:tc>
                <a:tc>
                  <a:txBody>
                    <a:bodyPr wrap="square"/>
                    <a:lstStyle/>
                    <a:p>
                      <a:pPr algn="l"/>
                      <a:r>
                        <a:rPr sz="1300" b="0">
                          <a:solidFill>
                            <a:srgbClr val="3D3D3B"/>
                          </a:solidFill>
                          <a:latin typeface="Arial"/>
                        </a:rPr>
                        <a:t>Acceptable</a:t>
                      </a:r>
                    </a:p>
                  </a:txBody>
                  <a:tcPr marL="91440" marR="91440" marT="36576" marB="36576" anchor="ctr">
                    <a:solidFill>
                      <a:srgbClr val="F2E8DB"/>
                    </a:solidFill>
                  </a:tcPr>
                </a:tc>
              </a:tr>
              <a:tr h="457200">
                <a:tc>
                  <a:txBody>
                    <a:bodyPr wrap="square"/>
                    <a:lstStyle/>
                    <a:p>
                      <a:pPr algn="l"/>
                      <a:r>
                        <a:rPr sz="1300" b="1">
                          <a:solidFill>
                            <a:srgbClr val="462016"/>
                          </a:solidFill>
                          <a:latin typeface="Arial"/>
                        </a:rPr>
                        <a:t>STD-P6</a:t>
                      </a:r>
                    </a:p>
                  </a:txBody>
                  <a:tcPr marL="91440" marR="91440" marT="36576" marB="36576" anchor="ctr">
                    <a:solidFill>
                      <a:srgbClr val="FBF6F0"/>
                    </a:solidFill>
                  </a:tcPr>
                </a:tc>
                <a:tc>
                  <a:txBody>
                    <a:bodyPr wrap="square"/>
                    <a:lstStyle/>
                    <a:p>
                      <a:pPr algn="ctr"/>
                      <a:r>
                        <a:rPr sz="1300" b="0">
                          <a:solidFill>
                            <a:srgbClr val="3D3D3B"/>
                          </a:solidFill>
                          <a:latin typeface="Arial"/>
                        </a:rPr>
                        <a:t>57 à 64</a:t>
                      </a:r>
                    </a:p>
                  </a:txBody>
                  <a:tcPr marL="91440" marR="91440" marT="36576" marB="36576" anchor="ctr">
                    <a:solidFill>
                      <a:srgbClr val="FBF6F0"/>
                    </a:solidFill>
                  </a:tcPr>
                </a:tc>
                <a:tc>
                  <a:txBody>
                    <a:bodyPr wrap="square"/>
                    <a:lstStyle/>
                    <a:p>
                      <a:pPr algn="l"/>
                      <a:r>
                        <a:rPr sz="1300" b="0">
                          <a:solidFill>
                            <a:srgbClr val="3D3D3B"/>
                          </a:solidFill>
                          <a:latin typeface="Arial"/>
                        </a:rPr>
                        <a:t>Fragile</a:t>
                      </a:r>
                    </a:p>
                  </a:txBody>
                  <a:tcPr marL="91440" marR="91440" marT="36576" marB="36576" anchor="ctr">
                    <a:solidFill>
                      <a:srgbClr val="FBF6F0"/>
                    </a:solidFill>
                  </a:tcPr>
                </a:tc>
              </a:tr>
              <a:tr h="457200">
                <a:tc>
                  <a:txBody>
                    <a:bodyPr wrap="square"/>
                    <a:lstStyle/>
                    <a:p>
                      <a:pPr algn="l"/>
                      <a:r>
                        <a:rPr sz="1300" b="1">
                          <a:solidFill>
                            <a:srgbClr val="462016"/>
                          </a:solidFill>
                          <a:latin typeface="Arial"/>
                        </a:rPr>
                        <a:t>STD-P7</a:t>
                      </a:r>
                    </a:p>
                  </a:txBody>
                  <a:tcPr marL="91440" marR="91440" marT="36576" marB="36576" anchor="ctr">
                    <a:solidFill>
                      <a:srgbClr val="F2E8DB"/>
                    </a:solidFill>
                  </a:tcPr>
                </a:tc>
                <a:tc>
                  <a:txBody>
                    <a:bodyPr wrap="square"/>
                    <a:lstStyle/>
                    <a:p>
                      <a:pPr algn="ctr"/>
                      <a:r>
                        <a:rPr sz="1300" b="0">
                          <a:solidFill>
                            <a:srgbClr val="3D3D3B"/>
                          </a:solidFill>
                          <a:latin typeface="Arial"/>
                        </a:rPr>
                        <a:t>48 à 57</a:t>
                      </a:r>
                    </a:p>
                  </a:txBody>
                  <a:tcPr marL="91440" marR="91440" marT="36576" marB="36576" anchor="ctr">
                    <a:solidFill>
                      <a:srgbClr val="F2E8DB"/>
                    </a:solidFill>
                  </a:tcPr>
                </a:tc>
                <a:tc>
                  <a:txBody>
                    <a:bodyPr wrap="square"/>
                    <a:lstStyle/>
                    <a:p>
                      <a:pPr algn="l"/>
                      <a:r>
                        <a:rPr sz="1300" b="0">
                          <a:solidFill>
                            <a:srgbClr val="3D3D3B"/>
                          </a:solidFill>
                          <a:latin typeface="Arial"/>
                        </a:rPr>
                        <a:t>Faible</a:t>
                      </a:r>
                    </a:p>
                  </a:txBody>
                  <a:tcPr marL="91440" marR="91440" marT="36576" marB="36576" anchor="ctr">
                    <a:solidFill>
                      <a:srgbClr val="F2E8DB"/>
                    </a:solidFill>
                  </a:tcPr>
                </a:tc>
              </a:tr>
              <a:tr h="457200">
                <a:tc>
                  <a:txBody>
                    <a:bodyPr wrap="square"/>
                    <a:lstStyle/>
                    <a:p>
                      <a:pPr algn="l"/>
                      <a:r>
                        <a:rPr sz="1300" b="1">
                          <a:solidFill>
                            <a:srgbClr val="462016"/>
                          </a:solidFill>
                          <a:latin typeface="Arial"/>
                        </a:rPr>
                        <a:t>STD-P8</a:t>
                      </a:r>
                    </a:p>
                  </a:txBody>
                  <a:tcPr marL="91440" marR="91440" marT="36576" marB="36576" anchor="ctr">
                    <a:solidFill>
                      <a:srgbClr val="FBF6F0"/>
                    </a:solidFill>
                  </a:tcPr>
                </a:tc>
                <a:tc>
                  <a:txBody>
                    <a:bodyPr wrap="square"/>
                    <a:lstStyle/>
                    <a:p>
                      <a:pPr algn="ctr"/>
                      <a:r>
                        <a:rPr sz="1300" b="0">
                          <a:solidFill>
                            <a:srgbClr val="3D3D3B"/>
                          </a:solidFill>
                          <a:latin typeface="Arial"/>
                        </a:rPr>
                        <a:t>moins de 48</a:t>
                      </a:r>
                    </a:p>
                  </a:txBody>
                  <a:tcPr marL="91440" marR="91440" marT="36576" marB="36576" anchor="ctr">
                    <a:solidFill>
                      <a:srgbClr val="FBF6F0"/>
                    </a:solidFill>
                  </a:tcPr>
                </a:tc>
                <a:tc>
                  <a:txBody>
                    <a:bodyPr wrap="square"/>
                    <a:lstStyle/>
                    <a:p>
                      <a:pPr algn="l"/>
                      <a:r>
                        <a:rPr sz="1300" b="0">
                          <a:solidFill>
                            <a:srgbClr val="3D3D3B"/>
                          </a:solidFill>
                          <a:latin typeface="Arial"/>
                        </a:rPr>
                        <a:t>Très faible</a:t>
                      </a:r>
                    </a:p>
                  </a:txBody>
                  <a:tcPr marL="91440" marR="91440" marT="36576" marB="36576" anchor="ctr">
                    <a:solidFill>
                      <a:srgbClr val="FBF6F0"/>
                    </a:solidFill>
                  </a:tcPr>
                </a:tc>
              </a:tr>
            </a:tbl>
          </a:graphicData>
        </a:graphic>
      </p:graphicFrame>
      <p:sp>
        <p:nvSpPr>
          <p:cNvPr id="27" name="encadre"/>
          <p:cNvSpPr/>
          <p:nvPr/>
        </p:nvSpPr>
        <p:spPr>
          <a:xfrm>
            <a:off x="5943600" y="1280160"/>
            <a:ext cx="5788152" cy="4114800"/>
          </a:xfrm>
          <a:prstGeom prst="roundRect">
            <a:avLst>
              <a:gd name="adj" fmla="val 4000"/>
            </a:avLst>
          </a:prstGeom>
          <a:solidFill>
            <a:srgbClr val="FB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e"/>
          <p:cNvSpPr txBox="1"/>
          <p:nvPr/>
        </p:nvSpPr>
        <p:spPr>
          <a:xfrm>
            <a:off x="6217920" y="1508760"/>
            <a:ext cx="5239512" cy="3657600"/>
          </a:xfrm>
          <a:prstGeom prst="rect">
            <a:avLst/>
          </a:prstGeom>
          <a:noFill/>
        </p:spPr>
        <p:txBody>
          <a:bodyPr wrap="square">
            <a:spAutoFit/>
          </a:bodyPr>
          <a:lstStyle/>
          <a:p>
            <a:pPr>
              <a:spcAft>
                <a:spcPts val="800"/>
              </a:spcAft>
            </a:pPr>
            <a:r>
              <a:rPr sz="1800" b="1">
                <a:solidFill>
                  <a:srgbClr val="462016"/>
                </a:solidFill>
                <a:latin typeface="Arial"/>
              </a:rPr>
              <a:t>Quatre garde-fous</a:t>
            </a:r>
          </a:p>
          <a:p>
            <a:pPr>
              <a:spcAft>
                <a:spcPts val="900"/>
              </a:spcAft>
            </a:pPr>
            <a:r>
              <a:rPr sz="1400">
                <a:solidFill>
                  <a:srgbClr val="3D3D3B"/>
                </a:solidFill>
                <a:latin typeface="Arial"/>
              </a:rPr>
              <a:t>Défaut constaté : le grade DEF s'impose, même sur un dossier incomplet.</a:t>
            </a:r>
          </a:p>
          <a:p>
            <a:pPr>
              <a:spcAft>
                <a:spcPts val="900"/>
              </a:spcAft>
            </a:pPr>
            <a:r>
              <a:rPr sz="1400">
                <a:solidFill>
                  <a:srgbClr val="3D3D3B"/>
                </a:solidFill>
                <a:latin typeface="Arial"/>
              </a:rPr>
              <a:t>Porte de qualité : 60 % du poids sur des données observées (30 % par domaine), sinon aucun grade.</a:t>
            </a:r>
          </a:p>
          <a:p>
            <a:pPr>
              <a:spcAft>
                <a:spcPts val="900"/>
              </a:spcAft>
            </a:pPr>
            <a:r>
              <a:rPr sz="1400">
                <a:solidFill>
                  <a:srgbClr val="3D3D3B"/>
                </a:solidFill>
                <a:latin typeface="Arial"/>
              </a:rPr>
              <a:t>Exceptions : DSCR &lt; 1, continuité douteuse, EBE négatif 2 ans sur 3 → au mieux STD-P7 ; dossier groupe incomplet → au mieux STD-P6.</a:t>
            </a:r>
          </a:p>
          <a:p>
            <a:pPr>
              <a:spcAft>
                <a:spcPts val="900"/>
              </a:spcAft>
            </a:pPr>
            <a:r>
              <a:rPr sz="1400">
                <a:solidFill>
                  <a:srgbClr val="3D3D3B"/>
                </a:solidFill>
                <a:latin typeface="Arial"/>
              </a:rPr>
              <a:t>Support groupe : 2 crans au plus, si les 4 conditions sont documentées.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CINQ CAS FICTIFS, CALCULÉS PAR L'OUTIL</a:t>
            </a:r>
            <a:endParaRPr lang="en-US" sz="2400" dirty="0"/>
          </a:p>
        </p:txBody>
      </p:sp>
      <p:sp>
        <p:nvSpPr>
          <p:cNvPr id="20" name="Text 17"/>
          <p:cNvSpPr txBox="1"/>
          <p:nvPr/>
        </p:nvSpPr>
        <p:spPr>
          <a:xfrm>
            <a:off x="457200" y="5532120"/>
            <a:ext cx="11320272" cy="457200"/>
          </a:xfrm>
          <a:prstGeom prst="rect">
            <a:avLst/>
          </a:prstGeom>
          <a:noFill/>
          <a:ln/>
        </p:spPr>
        <p:txBody>
          <a:bodyPr wrap="square" lIns="0" tIns="0" rIns="0" bIns="0" rtlCol="0" anchor="ctr"/>
          <a:lstStyle/>
          <a:p>
            <a:pPr indent="0" marL="0">
              <a:buNone/>
            </a:pPr>
            <a:r>
              <a:rPr lang="en-US" sz="1500" b="1" dirty="0">
                <a:solidFill>
                  <a:srgbClr val="462016"/>
                </a:solidFill>
              </a:rPr>
              <a:t>Entreprises fictives, segment PME, arrêté au 30 juin 2026. Les mêmes cas sont rejouables dans le simulateur Excel.</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a:t>
            </a:fld>
            <a:endParaRPr lang="en-US"/>
          </a:p>
        </p:txBody>
      </p:sp>
      <p:graphicFrame>
        <p:nvGraphicFramePr>
          <p:cNvPr id="26" name="tableau"/>
          <p:cNvGraphicFramePr>
            <a:graphicFrameLocks noGrp="1"/>
          </p:cNvGraphicFramePr>
          <p:nvPr/>
        </p:nvGraphicFramePr>
        <p:xfrm>
          <a:off x="457200" y="1280160"/>
          <a:ext cx="11274552" cy="4279392"/>
        </p:xfrm>
        <a:graphic>
          <a:graphicData uri="http://schemas.openxmlformats.org/drawingml/2006/table">
            <a:tbl>
              <a:tblPr firstRow="0" bandRow="0"/>
              <a:tblGrid>
                <a:gridCol w="2148840"/>
                <a:gridCol w="4206240"/>
                <a:gridCol w="868680"/>
                <a:gridCol w="1234440"/>
                <a:gridCol w="1078992"/>
                <a:gridCol w="1737360"/>
              </a:tblGrid>
              <a:tr h="713232">
                <a:tc>
                  <a:txBody>
                    <a:bodyPr wrap="square"/>
                    <a:lstStyle/>
                    <a:p>
                      <a:pPr algn="l"/>
                      <a:r>
                        <a:rPr sz="1200" b="1">
                          <a:solidFill>
                            <a:srgbClr val="FFFFFF"/>
                          </a:solidFill>
                          <a:latin typeface="Arial"/>
                        </a:rPr>
                        <a:t>Cas</a:t>
                      </a:r>
                    </a:p>
                  </a:txBody>
                  <a:tcPr marL="91440" marR="91440" marT="36576" marB="36576" anchor="ctr">
                    <a:solidFill>
                      <a:srgbClr val="E37B05"/>
                    </a:solidFill>
                  </a:tcPr>
                </a:tc>
                <a:tc>
                  <a:txBody>
                    <a:bodyPr wrap="square"/>
                    <a:lstStyle/>
                    <a:p>
                      <a:pPr algn="l"/>
                      <a:r>
                        <a:rPr sz="1200" b="1">
                          <a:solidFill>
                            <a:srgbClr val="FFFFFF"/>
                          </a:solidFill>
                          <a:latin typeface="Arial"/>
                        </a:rPr>
                        <a:t>Profil</a:t>
                      </a:r>
                    </a:p>
                  </a:txBody>
                  <a:tcPr marL="91440" marR="91440" marT="36576" marB="36576" anchor="ctr">
                    <a:solidFill>
                      <a:srgbClr val="E37B05"/>
                    </a:solidFill>
                  </a:tcPr>
                </a:tc>
                <a:tc>
                  <a:txBody>
                    <a:bodyPr wrap="square"/>
                    <a:lstStyle/>
                    <a:p>
                      <a:pPr algn="ctr"/>
                      <a:r>
                        <a:rPr sz="1200" b="1">
                          <a:solidFill>
                            <a:srgbClr val="FFFFFF"/>
                          </a:solidFill>
                          <a:latin typeface="Arial"/>
                        </a:rPr>
                        <a:t>Score</a:t>
                      </a:r>
                    </a:p>
                  </a:txBody>
                  <a:tcPr marL="91440" marR="91440" marT="36576" marB="36576" anchor="ctr">
                    <a:solidFill>
                      <a:srgbClr val="E37B05"/>
                    </a:solidFill>
                  </a:tcPr>
                </a:tc>
                <a:tc>
                  <a:txBody>
                    <a:bodyPr wrap="square"/>
                    <a:lstStyle/>
                    <a:p>
                      <a:pPr algn="ctr"/>
                      <a:r>
                        <a:rPr sz="1200" b="1">
                          <a:solidFill>
                            <a:srgbClr val="FFFFFF"/>
                          </a:solidFill>
                          <a:latin typeface="Arial"/>
                        </a:rPr>
                        <a:t>Grade du score</a:t>
                      </a:r>
                    </a:p>
                  </a:txBody>
                  <a:tcPr marL="91440" marR="91440" marT="36576" marB="36576" anchor="ctr">
                    <a:solidFill>
                      <a:srgbClr val="E37B05"/>
                    </a:solidFill>
                  </a:tcPr>
                </a:tc>
                <a:tc>
                  <a:txBody>
                    <a:bodyPr wrap="square"/>
                    <a:lstStyle/>
                    <a:p>
                      <a:pPr algn="ctr"/>
                      <a:r>
                        <a:rPr sz="1200" b="1">
                          <a:solidFill>
                            <a:srgbClr val="FFFFFF"/>
                          </a:solidFill>
                          <a:latin typeface="Arial"/>
                        </a:rPr>
                        <a:t>Grade final</a:t>
                      </a:r>
                    </a:p>
                  </a:txBody>
                  <a:tcPr marL="91440" marR="91440" marT="36576" marB="36576" anchor="ctr">
                    <a:solidFill>
                      <a:srgbClr val="E37B05"/>
                    </a:solidFill>
                  </a:tcPr>
                </a:tc>
                <a:tc>
                  <a:txBody>
                    <a:bodyPr wrap="square"/>
                    <a:lstStyle/>
                    <a:p>
                      <a:pPr algn="l"/>
                      <a:r>
                        <a:rPr sz="1200" b="1">
                          <a:solidFill>
                            <a:srgbClr val="FFFFFF"/>
                          </a:solidFill>
                          <a:latin typeface="Arial"/>
                        </a:rPr>
                        <a:t>Lecture</a:t>
                      </a:r>
                    </a:p>
                  </a:txBody>
                  <a:tcPr marL="91440" marR="91440" marT="36576" marB="36576" anchor="ctr">
                    <a:solidFill>
                      <a:srgbClr val="E37B05"/>
                    </a:solidFill>
                  </a:tcPr>
                </a:tc>
              </a:tr>
              <a:tr h="713232">
                <a:tc>
                  <a:txBody>
                    <a:bodyPr wrap="square"/>
                    <a:lstStyle/>
                    <a:p>
                      <a:pPr algn="l"/>
                      <a:r>
                        <a:rPr sz="1100" b="1">
                          <a:solidFill>
                            <a:srgbClr val="462016"/>
                          </a:solidFill>
                          <a:latin typeface="Arial"/>
                        </a:rPr>
                        <a:t>A · Atlas Agro SA</a:t>
                      </a:r>
                    </a:p>
                  </a:txBody>
                  <a:tcPr marL="91440" marR="91440" marT="36576" marB="36576" anchor="ctr">
                    <a:solidFill>
                      <a:srgbClr val="F2E8DB"/>
                    </a:solidFill>
                  </a:tcPr>
                </a:tc>
                <a:tc>
                  <a:txBody>
                    <a:bodyPr wrap="square"/>
                    <a:lstStyle/>
                    <a:p>
                      <a:pPr algn="l"/>
                      <a:r>
                        <a:rPr sz="1100" b="0">
                          <a:solidFill>
                            <a:srgbClr val="3D3D3B"/>
                          </a:solidFill>
                          <a:latin typeface="Arial"/>
                        </a:rPr>
                        <a:t>PME agro-industrielle saine : fonds propres solides, endettement modéré, compte sans incident.</a:t>
                      </a:r>
                    </a:p>
                  </a:txBody>
                  <a:tcPr marL="91440" marR="91440" marT="36576" marB="36576" anchor="ctr">
                    <a:solidFill>
                      <a:srgbClr val="F2E8DB"/>
                    </a:solidFill>
                  </a:tcPr>
                </a:tc>
                <a:tc>
                  <a:txBody>
                    <a:bodyPr wrap="square"/>
                    <a:lstStyle/>
                    <a:p>
                      <a:pPr algn="ctr"/>
                      <a:r>
                        <a:rPr sz="1100" b="0">
                          <a:solidFill>
                            <a:srgbClr val="3D3D3B"/>
                          </a:solidFill>
                          <a:latin typeface="Arial"/>
                        </a:rPr>
                        <a:t>80,8</a:t>
                      </a:r>
                    </a:p>
                  </a:txBody>
                  <a:tcPr marL="91440" marR="91440" marT="36576" marB="36576" anchor="ctr">
                    <a:solidFill>
                      <a:srgbClr val="F2E8DB"/>
                    </a:solidFill>
                  </a:tcPr>
                </a:tc>
                <a:tc>
                  <a:txBody>
                    <a:bodyPr wrap="square"/>
                    <a:lstStyle/>
                    <a:p>
                      <a:pPr algn="ctr"/>
                      <a:r>
                        <a:rPr sz="1100" b="0">
                          <a:solidFill>
                            <a:srgbClr val="3D3D3B"/>
                          </a:solidFill>
                          <a:latin typeface="Arial"/>
                        </a:rPr>
                        <a:t>STD-P3</a:t>
                      </a:r>
                    </a:p>
                  </a:txBody>
                  <a:tcPr marL="91440" marR="91440" marT="36576" marB="36576" anchor="ctr">
                    <a:solidFill>
                      <a:srgbClr val="F2E8DB"/>
                    </a:solidFill>
                  </a:tcPr>
                </a:tc>
                <a:tc>
                  <a:txBody>
                    <a:bodyPr wrap="square"/>
                    <a:lstStyle/>
                    <a:p>
                      <a:pPr algn="ctr"/>
                      <a:r>
                        <a:rPr sz="1100" b="0">
                          <a:solidFill>
                            <a:srgbClr val="3D3D3B"/>
                          </a:solidFill>
                          <a:latin typeface="Arial"/>
                        </a:rPr>
                        <a:t>STD-P3</a:t>
                      </a:r>
                    </a:p>
                  </a:txBody>
                  <a:tcPr marL="91440" marR="91440" marT="36576" marB="36576" anchor="ctr">
                    <a:solidFill>
                      <a:srgbClr val="F2E8DB"/>
                    </a:solidFill>
                  </a:tcPr>
                </a:tc>
                <a:tc>
                  <a:txBody>
                    <a:bodyPr wrap="square"/>
                    <a:lstStyle/>
                    <a:p>
                      <a:pPr algn="l"/>
                      <a:r>
                        <a:rPr sz="1100" b="0">
                          <a:solidFill>
                            <a:srgbClr val="3D3D3B"/>
                          </a:solidFill>
                          <a:latin typeface="Arial"/>
                        </a:rPr>
                        <a:t>Entreprise saine : bon grade</a:t>
                      </a:r>
                    </a:p>
                  </a:txBody>
                  <a:tcPr marL="91440" marR="91440" marT="36576" marB="36576" anchor="ctr">
                    <a:solidFill>
                      <a:srgbClr val="F2E8DB"/>
                    </a:solidFill>
                  </a:tcPr>
                </a:tc>
              </a:tr>
              <a:tr h="713232">
                <a:tc>
                  <a:txBody>
                    <a:bodyPr wrap="square"/>
                    <a:lstStyle/>
                    <a:p>
                      <a:pPr algn="l"/>
                      <a:r>
                        <a:rPr sz="1100" b="1">
                          <a:solidFill>
                            <a:srgbClr val="462016"/>
                          </a:solidFill>
                          <a:latin typeface="Arial"/>
                        </a:rPr>
                        <a:t>B · Souss Négoce SARL</a:t>
                      </a:r>
                    </a:p>
                  </a:txBody>
                  <a:tcPr marL="91440" marR="91440" marT="36576" marB="36576" anchor="ctr">
                    <a:solidFill>
                      <a:srgbClr val="FBF6F0"/>
                    </a:solidFill>
                  </a:tcPr>
                </a:tc>
                <a:tc>
                  <a:txBody>
                    <a:bodyPr wrap="square"/>
                    <a:lstStyle/>
                    <a:p>
                      <a:pPr algn="l"/>
                      <a:r>
                        <a:rPr sz="1100" b="0">
                          <a:solidFill>
                            <a:srgbClr val="3D3D3B"/>
                          </a:solidFill>
                          <a:latin typeface="Arial"/>
                        </a:rPr>
                        <a:t>Comptes corrects, mais compte courant tendu : retards de 20 jours, dépassements, incidents d'effets.</a:t>
                      </a:r>
                    </a:p>
                  </a:txBody>
                  <a:tcPr marL="91440" marR="91440" marT="36576" marB="36576" anchor="ctr">
                    <a:solidFill>
                      <a:srgbClr val="FBF6F0"/>
                    </a:solidFill>
                  </a:tcPr>
                </a:tc>
                <a:tc>
                  <a:txBody>
                    <a:bodyPr wrap="square"/>
                    <a:lstStyle/>
                    <a:p>
                      <a:pPr algn="ctr"/>
                      <a:r>
                        <a:rPr sz="1100" b="0">
                          <a:solidFill>
                            <a:srgbClr val="3D3D3B"/>
                          </a:solidFill>
                          <a:latin typeface="Arial"/>
                        </a:rPr>
                        <a:t>59,3</a:t>
                      </a:r>
                    </a:p>
                  </a:txBody>
                  <a:tcPr marL="91440" marR="91440" marT="36576" marB="36576" anchor="ctr">
                    <a:solidFill>
                      <a:srgbClr val="FBF6F0"/>
                    </a:solidFill>
                  </a:tcPr>
                </a:tc>
                <a:tc>
                  <a:txBody>
                    <a:bodyPr wrap="square"/>
                    <a:lstStyle/>
                    <a:p>
                      <a:pPr algn="ctr"/>
                      <a:r>
                        <a:rPr sz="1100" b="0">
                          <a:solidFill>
                            <a:srgbClr val="3D3D3B"/>
                          </a:solidFill>
                          <a:latin typeface="Arial"/>
                        </a:rPr>
                        <a:t>STD-P6</a:t>
                      </a:r>
                    </a:p>
                  </a:txBody>
                  <a:tcPr marL="91440" marR="91440" marT="36576" marB="36576" anchor="ctr">
                    <a:solidFill>
                      <a:srgbClr val="FBF6F0"/>
                    </a:solidFill>
                  </a:tcPr>
                </a:tc>
                <a:tc>
                  <a:txBody>
                    <a:bodyPr wrap="square"/>
                    <a:lstStyle/>
                    <a:p>
                      <a:pPr algn="ctr"/>
                      <a:r>
                        <a:rPr sz="1100" b="0">
                          <a:solidFill>
                            <a:srgbClr val="3D3D3B"/>
                          </a:solidFill>
                          <a:latin typeface="Arial"/>
                        </a:rPr>
                        <a:t>STD-P6</a:t>
                      </a:r>
                    </a:p>
                  </a:txBody>
                  <a:tcPr marL="91440" marR="91440" marT="36576" marB="36576" anchor="ctr">
                    <a:solidFill>
                      <a:srgbClr val="FBF6F0"/>
                    </a:solidFill>
                  </a:tcPr>
                </a:tc>
                <a:tc>
                  <a:txBody>
                    <a:bodyPr wrap="square"/>
                    <a:lstStyle/>
                    <a:p>
                      <a:pPr algn="l"/>
                      <a:r>
                        <a:rPr sz="1100" b="0">
                          <a:solidFill>
                            <a:srgbClr val="3D3D3B"/>
                          </a:solidFill>
                          <a:latin typeface="Arial"/>
                        </a:rPr>
                        <a:t>Le compte tendu coûte trois crans</a:t>
                      </a:r>
                    </a:p>
                  </a:txBody>
                  <a:tcPr marL="91440" marR="91440" marT="36576" marB="36576" anchor="ctr">
                    <a:solidFill>
                      <a:srgbClr val="FBF6F0"/>
                    </a:solidFill>
                  </a:tcPr>
                </a:tc>
              </a:tr>
              <a:tr h="713232">
                <a:tc>
                  <a:txBody>
                    <a:bodyPr wrap="square"/>
                    <a:lstStyle/>
                    <a:p>
                      <a:pPr algn="l"/>
                      <a:r>
                        <a:rPr sz="1100" b="1">
                          <a:solidFill>
                            <a:srgbClr val="462016"/>
                          </a:solidFill>
                          <a:latin typeface="Arial"/>
                        </a:rPr>
                        <a:t>C · Tanger Logistique SA</a:t>
                      </a:r>
                    </a:p>
                  </a:txBody>
                  <a:tcPr marL="91440" marR="91440" marT="36576" marB="36576" anchor="ctr">
                    <a:solidFill>
                      <a:srgbClr val="F2E8DB"/>
                    </a:solidFill>
                  </a:tcPr>
                </a:tc>
                <a:tc>
                  <a:txBody>
                    <a:bodyPr wrap="square"/>
                    <a:lstStyle/>
                    <a:p>
                      <a:pPr algn="l"/>
                      <a:r>
                        <a:rPr sz="1100" b="0">
                          <a:solidFill>
                            <a:srgbClr val="3D3D3B"/>
                          </a:solidFill>
                          <a:latin typeface="Arial"/>
                        </a:rPr>
                        <a:t>Score correct, mais service de la dette non couvert en scénario de base (DSCR 0,9) : exception non compensatoire.</a:t>
                      </a:r>
                    </a:p>
                  </a:txBody>
                  <a:tcPr marL="91440" marR="91440" marT="36576" marB="36576" anchor="ctr">
                    <a:solidFill>
                      <a:srgbClr val="F2E8DB"/>
                    </a:solidFill>
                  </a:tcPr>
                </a:tc>
                <a:tc>
                  <a:txBody>
                    <a:bodyPr wrap="square"/>
                    <a:lstStyle/>
                    <a:p>
                      <a:pPr algn="ctr"/>
                      <a:r>
                        <a:rPr sz="1100" b="0">
                          <a:solidFill>
                            <a:srgbClr val="3D3D3B"/>
                          </a:solidFill>
                          <a:latin typeface="Arial"/>
                        </a:rPr>
                        <a:t>66,1</a:t>
                      </a:r>
                    </a:p>
                  </a:txBody>
                  <a:tcPr marL="91440" marR="91440" marT="36576" marB="36576" anchor="ctr">
                    <a:solidFill>
                      <a:srgbClr val="F2E8DB"/>
                    </a:solidFill>
                  </a:tcPr>
                </a:tc>
                <a:tc>
                  <a:txBody>
                    <a:bodyPr wrap="square"/>
                    <a:lstStyle/>
                    <a:p>
                      <a:pPr algn="ctr"/>
                      <a:r>
                        <a:rPr sz="1100" b="0">
                          <a:solidFill>
                            <a:srgbClr val="3D3D3B"/>
                          </a:solidFill>
                          <a:latin typeface="Arial"/>
                        </a:rPr>
                        <a:t>STD-P5</a:t>
                      </a:r>
                    </a:p>
                  </a:txBody>
                  <a:tcPr marL="91440" marR="91440" marT="36576" marB="36576" anchor="ctr">
                    <a:solidFill>
                      <a:srgbClr val="F2E8DB"/>
                    </a:solidFill>
                  </a:tcPr>
                </a:tc>
                <a:tc>
                  <a:txBody>
                    <a:bodyPr wrap="square"/>
                    <a:lstStyle/>
                    <a:p>
                      <a:pPr algn="ctr"/>
                      <a:r>
                        <a:rPr sz="1100" b="0">
                          <a:solidFill>
                            <a:srgbClr val="3D3D3B"/>
                          </a:solidFill>
                          <a:latin typeface="Arial"/>
                        </a:rPr>
                        <a:t>STD-P7</a:t>
                      </a:r>
                    </a:p>
                  </a:txBody>
                  <a:tcPr marL="91440" marR="91440" marT="36576" marB="36576" anchor="ctr">
                    <a:solidFill>
                      <a:srgbClr val="F2E8DB"/>
                    </a:solidFill>
                  </a:tcPr>
                </a:tc>
                <a:tc>
                  <a:txBody>
                    <a:bodyPr wrap="square"/>
                    <a:lstStyle/>
                    <a:p>
                      <a:pPr algn="l"/>
                      <a:r>
                        <a:rPr sz="1100" b="0">
                          <a:solidFill>
                            <a:srgbClr val="3D3D3B"/>
                          </a:solidFill>
                          <a:latin typeface="Arial"/>
                        </a:rPr>
                        <a:t>Le DSCR &lt; 1 plafonne le grade</a:t>
                      </a:r>
                    </a:p>
                  </a:txBody>
                  <a:tcPr marL="91440" marR="91440" marT="36576" marB="36576" anchor="ctr">
                    <a:solidFill>
                      <a:srgbClr val="F2E8DB"/>
                    </a:solidFill>
                  </a:tcPr>
                </a:tc>
              </a:tr>
              <a:tr h="713232">
                <a:tc>
                  <a:txBody>
                    <a:bodyPr wrap="square"/>
                    <a:lstStyle/>
                    <a:p>
                      <a:pPr algn="l"/>
                      <a:r>
                        <a:rPr sz="1100" b="1">
                          <a:solidFill>
                            <a:srgbClr val="462016"/>
                          </a:solidFill>
                          <a:latin typeface="Arial"/>
                        </a:rPr>
                        <a:t>D · Rif Bâtiment SARL</a:t>
                      </a:r>
                    </a:p>
                  </a:txBody>
                  <a:tcPr marL="91440" marR="91440" marT="36576" marB="36576" anchor="ctr">
                    <a:solidFill>
                      <a:srgbClr val="FBF6F0"/>
                    </a:solidFill>
                  </a:tcPr>
                </a:tc>
                <a:tc>
                  <a:txBody>
                    <a:bodyPr wrap="square"/>
                    <a:lstStyle/>
                    <a:p>
                      <a:pPr algn="l"/>
                      <a:r>
                        <a:rPr sz="1100" b="0">
                          <a:solidFill>
                            <a:srgbClr val="3D3D3B"/>
                          </a:solidFill>
                          <a:latin typeface="Arial"/>
                        </a:rPr>
                        <a:t>Dossier incomplet : comptes partiels, comportement bancaire et activité non documentés.</a:t>
                      </a:r>
                    </a:p>
                  </a:txBody>
                  <a:tcPr marL="91440" marR="91440" marT="36576" marB="36576" anchor="ctr">
                    <a:solidFill>
                      <a:srgbClr val="FBF6F0"/>
                    </a:solidFill>
                  </a:tcPr>
                </a:tc>
                <a:tc>
                  <a:txBody>
                    <a:bodyPr wrap="square"/>
                    <a:lstStyle/>
                    <a:p>
                      <a:pPr algn="ctr"/>
                      <a:r>
                        <a:rPr sz="1100" b="0">
                          <a:solidFill>
                            <a:srgbClr val="3D3D3B"/>
                          </a:solidFill>
                          <a:latin typeface="Arial"/>
                        </a:rPr>
                        <a:t>46,2</a:t>
                      </a:r>
                    </a:p>
                  </a:txBody>
                  <a:tcPr marL="91440" marR="91440" marT="36576" marB="36576" anchor="ctr">
                    <a:solidFill>
                      <a:srgbClr val="FBF6F0"/>
                    </a:solidFill>
                  </a:tcPr>
                </a:tc>
                <a:tc>
                  <a:txBody>
                    <a:bodyPr wrap="square"/>
                    <a:lstStyle/>
                    <a:p>
                      <a:pPr algn="ctr"/>
                      <a:r>
                        <a:rPr sz="1100" b="0">
                          <a:solidFill>
                            <a:srgbClr val="3D3D3B"/>
                          </a:solidFill>
                          <a:latin typeface="Arial"/>
                        </a:rPr>
                        <a:t>—</a:t>
                      </a:r>
                    </a:p>
                  </a:txBody>
                  <a:tcPr marL="91440" marR="91440" marT="36576" marB="36576" anchor="ctr">
                    <a:solidFill>
                      <a:srgbClr val="FBF6F0"/>
                    </a:solidFill>
                  </a:tcPr>
                </a:tc>
                <a:tc>
                  <a:txBody>
                    <a:bodyPr wrap="square"/>
                    <a:lstStyle/>
                    <a:p>
                      <a:pPr algn="ctr"/>
                      <a:r>
                        <a:rPr sz="1100" b="0">
                          <a:solidFill>
                            <a:srgbClr val="3D3D3B"/>
                          </a:solidFill>
                          <a:latin typeface="Arial"/>
                        </a:rPr>
                        <a:t>aucun</a:t>
                      </a:r>
                    </a:p>
                  </a:txBody>
                  <a:tcPr marL="91440" marR="91440" marT="36576" marB="36576" anchor="ctr">
                    <a:solidFill>
                      <a:srgbClr val="FBF6F0"/>
                    </a:solidFill>
                  </a:tcPr>
                </a:tc>
                <a:tc>
                  <a:txBody>
                    <a:bodyPr wrap="square"/>
                    <a:lstStyle/>
                    <a:p>
                      <a:pPr algn="l"/>
                      <a:r>
                        <a:rPr sz="1100" b="0">
                          <a:solidFill>
                            <a:srgbClr val="3D3D3B"/>
                          </a:solidFill>
                          <a:latin typeface="Arial"/>
                        </a:rPr>
                        <a:t>Trop peu de données : aucun grade</a:t>
                      </a:r>
                    </a:p>
                  </a:txBody>
                  <a:tcPr marL="91440" marR="91440" marT="36576" marB="36576" anchor="ctr">
                    <a:solidFill>
                      <a:srgbClr val="FBF6F0"/>
                    </a:solidFill>
                  </a:tcPr>
                </a:tc>
              </a:tr>
              <a:tr h="713232">
                <a:tc>
                  <a:txBody>
                    <a:bodyPr wrap="square"/>
                    <a:lstStyle/>
                    <a:p>
                      <a:pPr algn="l"/>
                      <a:r>
                        <a:rPr sz="1100" b="1">
                          <a:solidFill>
                            <a:srgbClr val="462016"/>
                          </a:solidFill>
                          <a:latin typeface="Arial"/>
                        </a:rPr>
                        <a:t>E · Fès Textile SA</a:t>
                      </a:r>
                    </a:p>
                  </a:txBody>
                  <a:tcPr marL="91440" marR="91440" marT="36576" marB="36576" anchor="ctr">
                    <a:solidFill>
                      <a:srgbClr val="F2E8DB"/>
                    </a:solidFill>
                  </a:tcPr>
                </a:tc>
                <a:tc>
                  <a:txBody>
                    <a:bodyPr wrap="square"/>
                    <a:lstStyle/>
                    <a:p>
                      <a:pPr algn="l"/>
                      <a:r>
                        <a:rPr sz="1100" b="0">
                          <a:solidFill>
                            <a:srgbClr val="3D3D3B"/>
                          </a:solidFill>
                          <a:latin typeface="Arial"/>
                        </a:rPr>
                        <a:t>Impayé de plus de 90 jours constaté : le défaut s'impose, quel que soit le score.</a:t>
                      </a:r>
                    </a:p>
                  </a:txBody>
                  <a:tcPr marL="91440" marR="91440" marT="36576" marB="36576" anchor="ctr">
                    <a:solidFill>
                      <a:srgbClr val="F2E8DB"/>
                    </a:solidFill>
                  </a:tcPr>
                </a:tc>
                <a:tc>
                  <a:txBody>
                    <a:bodyPr wrap="square"/>
                    <a:lstStyle/>
                    <a:p>
                      <a:pPr algn="ctr"/>
                      <a:r>
                        <a:rPr sz="1100" b="0">
                          <a:solidFill>
                            <a:srgbClr val="3D3D3B"/>
                          </a:solidFill>
                          <a:latin typeface="Arial"/>
                        </a:rPr>
                        <a:t>64,8</a:t>
                      </a:r>
                    </a:p>
                  </a:txBody>
                  <a:tcPr marL="91440" marR="91440" marT="36576" marB="36576" anchor="ctr">
                    <a:solidFill>
                      <a:srgbClr val="F2E8DB"/>
                    </a:solidFill>
                  </a:tcPr>
                </a:tc>
                <a:tc>
                  <a:txBody>
                    <a:bodyPr wrap="square"/>
                    <a:lstStyle/>
                    <a:p>
                      <a:pPr algn="ctr"/>
                      <a:r>
                        <a:rPr sz="1100" b="0">
                          <a:solidFill>
                            <a:srgbClr val="3D3D3B"/>
                          </a:solidFill>
                          <a:latin typeface="Arial"/>
                        </a:rPr>
                        <a:t>STD-P5</a:t>
                      </a:r>
                    </a:p>
                  </a:txBody>
                  <a:tcPr marL="91440" marR="91440" marT="36576" marB="36576" anchor="ctr">
                    <a:solidFill>
                      <a:srgbClr val="F2E8DB"/>
                    </a:solidFill>
                  </a:tcPr>
                </a:tc>
                <a:tc>
                  <a:txBody>
                    <a:bodyPr wrap="square"/>
                    <a:lstStyle/>
                    <a:p>
                      <a:pPr algn="ctr"/>
                      <a:r>
                        <a:rPr sz="1100" b="0">
                          <a:solidFill>
                            <a:srgbClr val="3D3D3B"/>
                          </a:solidFill>
                          <a:latin typeface="Arial"/>
                        </a:rPr>
                        <a:t>DEF1</a:t>
                      </a:r>
                    </a:p>
                  </a:txBody>
                  <a:tcPr marL="91440" marR="91440" marT="36576" marB="36576" anchor="ctr">
                    <a:solidFill>
                      <a:srgbClr val="F2E8DB"/>
                    </a:solidFill>
                  </a:tcPr>
                </a:tc>
                <a:tc>
                  <a:txBody>
                    <a:bodyPr wrap="square"/>
                    <a:lstStyle/>
                    <a:p>
                      <a:pPr algn="l"/>
                      <a:r>
                        <a:rPr sz="1100" b="0">
                          <a:solidFill>
                            <a:srgbClr val="3D3D3B"/>
                          </a:solidFill>
                          <a:latin typeface="Arial"/>
                        </a:rPr>
                        <a:t>Le défaut s'impose</a:t>
                      </a:r>
                    </a:p>
                  </a:txBody>
                  <a:tcPr marL="91440" marR="91440" marT="36576" marB="36576" anchor="ctr">
                    <a:solidFill>
                      <a:srgbClr val="F2E8DB"/>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CE QUE DISENT LES SCORES PAR DOMAINE</a:t>
            </a:r>
            <a:endParaRPr lang="en-US" sz="2400" dirty="0"/>
          </a:p>
        </p:txBody>
      </p:sp>
      <p:sp>
        <p:nvSpPr>
          <p:cNvPr id="20" name="Text 17"/>
          <p:cNvSpPr txBox="1"/>
          <p:nvPr/>
        </p:nvSpPr>
        <p:spPr>
          <a:xfrm>
            <a:off x="457200" y="5532120"/>
            <a:ext cx="11320272" cy="457200"/>
          </a:xfrm>
          <a:prstGeom prst="rect">
            <a:avLst/>
          </a:prstGeom>
          <a:noFill/>
          <a:ln/>
        </p:spPr>
        <p:txBody>
          <a:bodyPr wrap="square" lIns="0" tIns="0" rIns="0" bIns="0" rtlCol="0" anchor="ctr"/>
          <a:lstStyle/>
          <a:p>
            <a:pPr indent="0" marL="0">
              <a:buNone/>
            </a:pPr>
            <a:r>
              <a:rPr lang="en-US" sz="1500" b="1" dirty="0">
                <a:solidFill>
                  <a:srgbClr val="462016"/>
                </a:solidFill>
              </a:rPr>
              <a:t>Cas B et C : même bilan (66,7), mais le compte tendu de B ramène D3 à 38,8 contre 91,3 pour C.</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a:t>
            </a:fld>
            <a:endParaRPr lang="en-US"/>
          </a:p>
        </p:txBody>
      </p:sp>
      <p:graphicFrame>
        <p:nvGraphicFramePr>
          <p:cNvPr id="26" name="tableau"/>
          <p:cNvGraphicFramePr>
            <a:graphicFrameLocks noGrp="1"/>
          </p:cNvGraphicFramePr>
          <p:nvPr/>
        </p:nvGraphicFramePr>
        <p:xfrm>
          <a:off x="457200" y="1280160"/>
          <a:ext cx="11274552" cy="4114800"/>
        </p:xfrm>
        <a:graphic>
          <a:graphicData uri="http://schemas.openxmlformats.org/drawingml/2006/table">
            <a:tbl>
              <a:tblPr firstRow="0" bandRow="0"/>
              <a:tblGrid>
                <a:gridCol w="3502152"/>
                <a:gridCol w="1554480"/>
                <a:gridCol w="1554480"/>
                <a:gridCol w="1554480"/>
                <a:gridCol w="1554480"/>
                <a:gridCol w="1554480"/>
              </a:tblGrid>
              <a:tr h="411480">
                <a:tc>
                  <a:txBody>
                    <a:bodyPr wrap="square"/>
                    <a:lstStyle/>
                    <a:p>
                      <a:pPr algn="l"/>
                      <a:r>
                        <a:rPr sz="1300" b="1">
                          <a:solidFill>
                            <a:srgbClr val="FFFFFF"/>
                          </a:solidFill>
                          <a:latin typeface="Arial"/>
                        </a:rPr>
                        <a:t>Domaine (poids PME)</a:t>
                      </a:r>
                    </a:p>
                  </a:txBody>
                  <a:tcPr marL="91440" marR="91440" marT="36576" marB="36576" anchor="ctr">
                    <a:solidFill>
                      <a:srgbClr val="E37B05"/>
                    </a:solidFill>
                  </a:tcPr>
                </a:tc>
                <a:tc>
                  <a:txBody>
                    <a:bodyPr wrap="square"/>
                    <a:lstStyle/>
                    <a:p>
                      <a:pPr algn="ctr"/>
                      <a:r>
                        <a:rPr sz="1300" b="1">
                          <a:solidFill>
                            <a:srgbClr val="FFFFFF"/>
                          </a:solidFill>
                          <a:latin typeface="Arial"/>
                        </a:rPr>
                        <a:t>Cas A</a:t>
                      </a:r>
                    </a:p>
                  </a:txBody>
                  <a:tcPr marL="91440" marR="91440" marT="36576" marB="36576" anchor="ctr">
                    <a:solidFill>
                      <a:srgbClr val="E37B05"/>
                    </a:solidFill>
                  </a:tcPr>
                </a:tc>
                <a:tc>
                  <a:txBody>
                    <a:bodyPr wrap="square"/>
                    <a:lstStyle/>
                    <a:p>
                      <a:pPr algn="ctr"/>
                      <a:r>
                        <a:rPr sz="1300" b="1">
                          <a:solidFill>
                            <a:srgbClr val="FFFFFF"/>
                          </a:solidFill>
                          <a:latin typeface="Arial"/>
                        </a:rPr>
                        <a:t>Cas B</a:t>
                      </a:r>
                    </a:p>
                  </a:txBody>
                  <a:tcPr marL="91440" marR="91440" marT="36576" marB="36576" anchor="ctr">
                    <a:solidFill>
                      <a:srgbClr val="E37B05"/>
                    </a:solidFill>
                  </a:tcPr>
                </a:tc>
                <a:tc>
                  <a:txBody>
                    <a:bodyPr wrap="square"/>
                    <a:lstStyle/>
                    <a:p>
                      <a:pPr algn="ctr"/>
                      <a:r>
                        <a:rPr sz="1300" b="1">
                          <a:solidFill>
                            <a:srgbClr val="FFFFFF"/>
                          </a:solidFill>
                          <a:latin typeface="Arial"/>
                        </a:rPr>
                        <a:t>Cas C</a:t>
                      </a:r>
                    </a:p>
                  </a:txBody>
                  <a:tcPr marL="91440" marR="91440" marT="36576" marB="36576" anchor="ctr">
                    <a:solidFill>
                      <a:srgbClr val="E37B05"/>
                    </a:solidFill>
                  </a:tcPr>
                </a:tc>
                <a:tc>
                  <a:txBody>
                    <a:bodyPr wrap="square"/>
                    <a:lstStyle/>
                    <a:p>
                      <a:pPr algn="ctr"/>
                      <a:r>
                        <a:rPr sz="1300" b="1">
                          <a:solidFill>
                            <a:srgbClr val="FFFFFF"/>
                          </a:solidFill>
                          <a:latin typeface="Arial"/>
                        </a:rPr>
                        <a:t>Cas D</a:t>
                      </a:r>
                    </a:p>
                  </a:txBody>
                  <a:tcPr marL="91440" marR="91440" marT="36576" marB="36576" anchor="ctr">
                    <a:solidFill>
                      <a:srgbClr val="E37B05"/>
                    </a:solidFill>
                  </a:tcPr>
                </a:tc>
                <a:tc>
                  <a:txBody>
                    <a:bodyPr wrap="square"/>
                    <a:lstStyle/>
                    <a:p>
                      <a:pPr algn="ctr"/>
                      <a:r>
                        <a:rPr sz="1300" b="1">
                          <a:solidFill>
                            <a:srgbClr val="FFFFFF"/>
                          </a:solidFill>
                          <a:latin typeface="Arial"/>
                        </a:rPr>
                        <a:t>Cas E</a:t>
                      </a:r>
                    </a:p>
                  </a:txBody>
                  <a:tcPr marL="91440" marR="91440" marT="36576" marB="36576" anchor="ctr">
                    <a:solidFill>
                      <a:srgbClr val="E37B05"/>
                    </a:solidFill>
                  </a:tcPr>
                </a:tc>
              </a:tr>
              <a:tr h="411480">
                <a:tc>
                  <a:txBody>
                    <a:bodyPr wrap="square"/>
                    <a:lstStyle/>
                    <a:p>
                      <a:pPr algn="l"/>
                      <a:r>
                        <a:rPr sz="1300" b="1">
                          <a:solidFill>
                            <a:srgbClr val="462016"/>
                          </a:solidFill>
                          <a:latin typeface="Arial"/>
                        </a:rPr>
                        <a:t>D1 · Bilan (30 %)</a:t>
                      </a:r>
                    </a:p>
                  </a:txBody>
                  <a:tcPr marL="91440" marR="91440" marT="36576" marB="36576" anchor="ctr">
                    <a:solidFill>
                      <a:srgbClr val="F2E8DB"/>
                    </a:solidFill>
                  </a:tcPr>
                </a:tc>
                <a:tc>
                  <a:txBody>
                    <a:bodyPr wrap="square"/>
                    <a:lstStyle/>
                    <a:p>
                      <a:pPr algn="ctr"/>
                      <a:r>
                        <a:rPr sz="1300" b="0">
                          <a:solidFill>
                            <a:srgbClr val="3D3D3B"/>
                          </a:solidFill>
                          <a:latin typeface="Arial"/>
                        </a:rPr>
                        <a:t>81,7</a:t>
                      </a:r>
                    </a:p>
                  </a:txBody>
                  <a:tcPr marL="91440" marR="91440" marT="36576" marB="36576" anchor="ctr">
                    <a:solidFill>
                      <a:srgbClr val="F2E8DB"/>
                    </a:solidFill>
                  </a:tcPr>
                </a:tc>
                <a:tc>
                  <a:txBody>
                    <a:bodyPr wrap="square"/>
                    <a:lstStyle/>
                    <a:p>
                      <a:pPr algn="ctr"/>
                      <a:r>
                        <a:rPr sz="1300" b="0">
                          <a:solidFill>
                            <a:srgbClr val="3D3D3B"/>
                          </a:solidFill>
                          <a:latin typeface="Arial"/>
                        </a:rPr>
                        <a:t>66,7</a:t>
                      </a:r>
                    </a:p>
                  </a:txBody>
                  <a:tcPr marL="91440" marR="91440" marT="36576" marB="36576" anchor="ctr">
                    <a:solidFill>
                      <a:srgbClr val="F2E8DB"/>
                    </a:solidFill>
                  </a:tcPr>
                </a:tc>
                <a:tc>
                  <a:txBody>
                    <a:bodyPr wrap="square"/>
                    <a:lstStyle/>
                    <a:p>
                      <a:pPr algn="ctr"/>
                      <a:r>
                        <a:rPr sz="1300" b="0">
                          <a:solidFill>
                            <a:srgbClr val="3D3D3B"/>
                          </a:solidFill>
                          <a:latin typeface="Arial"/>
                        </a:rPr>
                        <a:t>66,7</a:t>
                      </a:r>
                    </a:p>
                  </a:txBody>
                  <a:tcPr marL="91440" marR="91440" marT="36576" marB="36576" anchor="ctr">
                    <a:solidFill>
                      <a:srgbClr val="F2E8DB"/>
                    </a:solidFill>
                  </a:tcPr>
                </a:tc>
                <a:tc>
                  <a:txBody>
                    <a:bodyPr wrap="square"/>
                    <a:lstStyle/>
                    <a:p>
                      <a:pPr algn="ctr"/>
                      <a:r>
                        <a:rPr sz="1300" b="0">
                          <a:solidFill>
                            <a:srgbClr val="3D3D3B"/>
                          </a:solidFill>
                          <a:latin typeface="Arial"/>
                        </a:rPr>
                        <a:t>41,7</a:t>
                      </a:r>
                    </a:p>
                  </a:txBody>
                  <a:tcPr marL="91440" marR="91440" marT="36576" marB="36576" anchor="ctr">
                    <a:solidFill>
                      <a:srgbClr val="F2E8DB"/>
                    </a:solidFill>
                  </a:tcPr>
                </a:tc>
                <a:tc>
                  <a:txBody>
                    <a:bodyPr wrap="square"/>
                    <a:lstStyle/>
                    <a:p>
                      <a:pPr algn="ctr"/>
                      <a:r>
                        <a:rPr sz="1300" b="0">
                          <a:solidFill>
                            <a:srgbClr val="3D3D3B"/>
                          </a:solidFill>
                          <a:latin typeface="Arial"/>
                        </a:rPr>
                        <a:t>66,7</a:t>
                      </a:r>
                    </a:p>
                  </a:txBody>
                  <a:tcPr marL="91440" marR="91440" marT="36576" marB="36576" anchor="ctr">
                    <a:solidFill>
                      <a:srgbClr val="F2E8DB"/>
                    </a:solidFill>
                  </a:tcPr>
                </a:tc>
              </a:tr>
              <a:tr h="411480">
                <a:tc>
                  <a:txBody>
                    <a:bodyPr wrap="square"/>
                    <a:lstStyle/>
                    <a:p>
                      <a:pPr algn="l"/>
                      <a:r>
                        <a:rPr sz="1300" b="1">
                          <a:solidFill>
                            <a:srgbClr val="462016"/>
                          </a:solidFill>
                          <a:latin typeface="Arial"/>
                        </a:rPr>
                        <a:t>D2 · Remboursement (15 %)</a:t>
                      </a:r>
                    </a:p>
                  </a:txBody>
                  <a:tcPr marL="91440" marR="91440" marT="36576" marB="36576" anchor="ctr">
                    <a:solidFill>
                      <a:srgbClr val="FBF6F0"/>
                    </a:solidFill>
                  </a:tcPr>
                </a:tc>
                <a:tc>
                  <a:txBody>
                    <a:bodyPr wrap="square"/>
                    <a:lstStyle/>
                    <a:p>
                      <a:pPr algn="ctr"/>
                      <a:r>
                        <a:rPr sz="1300" b="0">
                          <a:solidFill>
                            <a:srgbClr val="3D3D3B"/>
                          </a:solidFill>
                          <a:latin typeface="Arial"/>
                        </a:rPr>
                        <a:t>90,0</a:t>
                      </a:r>
                    </a:p>
                  </a:txBody>
                  <a:tcPr marL="91440" marR="91440" marT="36576" marB="36576" anchor="ctr">
                    <a:solidFill>
                      <a:srgbClr val="FBF6F0"/>
                    </a:solidFill>
                  </a:tcPr>
                </a:tc>
                <a:tc>
                  <a:txBody>
                    <a:bodyPr wrap="square"/>
                    <a:lstStyle/>
                    <a:p>
                      <a:pPr algn="ctr"/>
                      <a:r>
                        <a:rPr sz="1300" b="0">
                          <a:solidFill>
                            <a:srgbClr val="3D3D3B"/>
                          </a:solidFill>
                          <a:latin typeface="Arial"/>
                        </a:rPr>
                        <a:t>63,3</a:t>
                      </a:r>
                    </a:p>
                  </a:txBody>
                  <a:tcPr marL="91440" marR="91440" marT="36576" marB="36576" anchor="ctr">
                    <a:solidFill>
                      <a:srgbClr val="FBF6F0"/>
                    </a:solidFill>
                  </a:tcPr>
                </a:tc>
                <a:tc>
                  <a:txBody>
                    <a:bodyPr wrap="square"/>
                    <a:lstStyle/>
                    <a:p>
                      <a:pPr algn="ctr"/>
                      <a:r>
                        <a:rPr sz="1300" b="0">
                          <a:solidFill>
                            <a:srgbClr val="3D3D3B"/>
                          </a:solidFill>
                          <a:latin typeface="Arial"/>
                        </a:rPr>
                        <a:t>38,3</a:t>
                      </a:r>
                    </a:p>
                  </a:txBody>
                  <a:tcPr marL="91440" marR="91440" marT="36576" marB="36576" anchor="ctr">
                    <a:solidFill>
                      <a:srgbClr val="FBF6F0"/>
                    </a:solidFill>
                  </a:tcPr>
                </a:tc>
                <a:tc>
                  <a:txBody>
                    <a:bodyPr wrap="square"/>
                    <a:lstStyle/>
                    <a:p>
                      <a:pPr algn="ctr"/>
                      <a:r>
                        <a:rPr sz="1300" b="0">
                          <a:solidFill>
                            <a:srgbClr val="3D3D3B"/>
                          </a:solidFill>
                          <a:latin typeface="Arial"/>
                        </a:rPr>
                        <a:t>38,3</a:t>
                      </a:r>
                    </a:p>
                  </a:txBody>
                  <a:tcPr marL="91440" marR="91440" marT="36576" marB="36576" anchor="ctr">
                    <a:solidFill>
                      <a:srgbClr val="FBF6F0"/>
                    </a:solidFill>
                  </a:tcPr>
                </a:tc>
                <a:tc>
                  <a:txBody>
                    <a:bodyPr wrap="square"/>
                    <a:lstStyle/>
                    <a:p>
                      <a:pPr algn="ctr"/>
                      <a:r>
                        <a:rPr sz="1300" b="0">
                          <a:solidFill>
                            <a:srgbClr val="3D3D3B"/>
                          </a:solidFill>
                          <a:latin typeface="Arial"/>
                        </a:rPr>
                        <a:t>63,3</a:t>
                      </a:r>
                    </a:p>
                  </a:txBody>
                  <a:tcPr marL="91440" marR="91440" marT="36576" marB="36576" anchor="ctr">
                    <a:solidFill>
                      <a:srgbClr val="FBF6F0"/>
                    </a:solidFill>
                  </a:tcPr>
                </a:tc>
              </a:tr>
              <a:tr h="411480">
                <a:tc>
                  <a:txBody>
                    <a:bodyPr wrap="square"/>
                    <a:lstStyle/>
                    <a:p>
                      <a:pPr algn="l"/>
                      <a:r>
                        <a:rPr sz="1300" b="1">
                          <a:solidFill>
                            <a:srgbClr val="462016"/>
                          </a:solidFill>
                          <a:latin typeface="Arial"/>
                        </a:rPr>
                        <a:t>D3 · Compte (20 %)</a:t>
                      </a:r>
                    </a:p>
                  </a:txBody>
                  <a:tcPr marL="91440" marR="91440" marT="36576" marB="36576" anchor="ctr">
                    <a:solidFill>
                      <a:srgbClr val="F2E8DB"/>
                    </a:solidFill>
                  </a:tcPr>
                </a:tc>
                <a:tc>
                  <a:txBody>
                    <a:bodyPr wrap="square"/>
                    <a:lstStyle/>
                    <a:p>
                      <a:pPr algn="ctr"/>
                      <a:r>
                        <a:rPr sz="1300" b="0">
                          <a:solidFill>
                            <a:srgbClr val="3D3D3B"/>
                          </a:solidFill>
                          <a:latin typeface="Arial"/>
                        </a:rPr>
                        <a:t>97,5</a:t>
                      </a:r>
                    </a:p>
                  </a:txBody>
                  <a:tcPr marL="91440" marR="91440" marT="36576" marB="36576" anchor="ctr">
                    <a:solidFill>
                      <a:srgbClr val="F2E8DB"/>
                    </a:solidFill>
                  </a:tcPr>
                </a:tc>
                <a:tc>
                  <a:txBody>
                    <a:bodyPr wrap="square"/>
                    <a:lstStyle/>
                    <a:p>
                      <a:pPr algn="ctr"/>
                      <a:r>
                        <a:rPr sz="1300" b="0">
                          <a:solidFill>
                            <a:srgbClr val="3D3D3B"/>
                          </a:solidFill>
                          <a:latin typeface="Arial"/>
                        </a:rPr>
                        <a:t>38,8</a:t>
                      </a:r>
                    </a:p>
                  </a:txBody>
                  <a:tcPr marL="91440" marR="91440" marT="36576" marB="36576" anchor="ctr">
                    <a:solidFill>
                      <a:srgbClr val="F2E8DB"/>
                    </a:solidFill>
                  </a:tcPr>
                </a:tc>
                <a:tc>
                  <a:txBody>
                    <a:bodyPr wrap="square"/>
                    <a:lstStyle/>
                    <a:p>
                      <a:pPr algn="ctr"/>
                      <a:r>
                        <a:rPr sz="1300" b="0">
                          <a:solidFill>
                            <a:srgbClr val="3D3D3B"/>
                          </a:solidFill>
                          <a:latin typeface="Arial"/>
                        </a:rPr>
                        <a:t>91,2</a:t>
                      </a:r>
                    </a:p>
                  </a:txBody>
                  <a:tcPr marL="91440" marR="91440" marT="36576" marB="36576" anchor="ctr">
                    <a:solidFill>
                      <a:srgbClr val="F2E8DB"/>
                    </a:solidFill>
                  </a:tcPr>
                </a:tc>
                <a:tc>
                  <a:txBody>
                    <a:bodyPr wrap="square"/>
                    <a:lstStyle/>
                    <a:p>
                      <a:pPr algn="ctr"/>
                      <a:r>
                        <a:rPr sz="1300" b="0">
                          <a:solidFill>
                            <a:srgbClr val="3D3D3B"/>
                          </a:solidFill>
                          <a:latin typeface="Arial"/>
                        </a:rPr>
                        <a:t>43,8</a:t>
                      </a:r>
                    </a:p>
                  </a:txBody>
                  <a:tcPr marL="91440" marR="91440" marT="36576" marB="36576" anchor="ctr">
                    <a:solidFill>
                      <a:srgbClr val="F2E8DB"/>
                    </a:solidFill>
                  </a:tcPr>
                </a:tc>
                <a:tc>
                  <a:txBody>
                    <a:bodyPr wrap="square"/>
                    <a:lstStyle/>
                    <a:p>
                      <a:pPr algn="ctr"/>
                      <a:r>
                        <a:rPr sz="1300" b="0">
                          <a:solidFill>
                            <a:srgbClr val="3D3D3B"/>
                          </a:solidFill>
                          <a:latin typeface="Arial"/>
                        </a:rPr>
                        <a:t>66,2</a:t>
                      </a:r>
                    </a:p>
                  </a:txBody>
                  <a:tcPr marL="91440" marR="91440" marT="36576" marB="36576" anchor="ctr">
                    <a:solidFill>
                      <a:srgbClr val="F2E8DB"/>
                    </a:solidFill>
                  </a:tcPr>
                </a:tc>
              </a:tr>
              <a:tr h="411480">
                <a:tc>
                  <a:txBody>
                    <a:bodyPr wrap="square"/>
                    <a:lstStyle/>
                    <a:p>
                      <a:pPr algn="l"/>
                      <a:r>
                        <a:rPr sz="1300" b="1">
                          <a:solidFill>
                            <a:srgbClr val="462016"/>
                          </a:solidFill>
                          <a:latin typeface="Arial"/>
                        </a:rPr>
                        <a:t>D4 · Activité (15 %)</a:t>
                      </a:r>
                    </a:p>
                  </a:txBody>
                  <a:tcPr marL="91440" marR="91440" marT="36576" marB="36576" anchor="ctr">
                    <a:solidFill>
                      <a:srgbClr val="FBF6F0"/>
                    </a:solidFill>
                  </a:tcPr>
                </a:tc>
                <a:tc>
                  <a:txBody>
                    <a:bodyPr wrap="square"/>
                    <a:lstStyle/>
                    <a:p>
                      <a:pPr algn="ctr"/>
                      <a:r>
                        <a:rPr sz="1300" b="0">
                          <a:solidFill>
                            <a:srgbClr val="3D3D3B"/>
                          </a:solidFill>
                          <a:latin typeface="Arial"/>
                        </a:rPr>
                        <a:t>62,5</a:t>
                      </a:r>
                    </a:p>
                  </a:txBody>
                  <a:tcPr marL="91440" marR="91440" marT="36576" marB="36576" anchor="ctr">
                    <a:solidFill>
                      <a:srgbClr val="FBF6F0"/>
                    </a:solidFill>
                  </a:tcPr>
                </a:tc>
                <a:tc>
                  <a:txBody>
                    <a:bodyPr wrap="square"/>
                    <a:lstStyle/>
                    <a:p>
                      <a:pPr algn="ctr"/>
                      <a:r>
                        <a:rPr sz="1300" b="0">
                          <a:solidFill>
                            <a:srgbClr val="3D3D3B"/>
                          </a:solidFill>
                          <a:latin typeface="Arial"/>
                        </a:rPr>
                        <a:t>58,3</a:t>
                      </a:r>
                    </a:p>
                  </a:txBody>
                  <a:tcPr marL="91440" marR="91440" marT="36576" marB="36576" anchor="ctr">
                    <a:solidFill>
                      <a:srgbClr val="FBF6F0"/>
                    </a:solidFill>
                  </a:tcPr>
                </a:tc>
                <a:tc>
                  <a:txBody>
                    <a:bodyPr wrap="square"/>
                    <a:lstStyle/>
                    <a:p>
                      <a:pPr algn="ctr"/>
                      <a:r>
                        <a:rPr sz="1300" b="0">
                          <a:solidFill>
                            <a:srgbClr val="3D3D3B"/>
                          </a:solidFill>
                          <a:latin typeface="Arial"/>
                        </a:rPr>
                        <a:t>58,3</a:t>
                      </a:r>
                    </a:p>
                  </a:txBody>
                  <a:tcPr marL="91440" marR="91440" marT="36576" marB="36576" anchor="ctr">
                    <a:solidFill>
                      <a:srgbClr val="FBF6F0"/>
                    </a:solidFill>
                  </a:tcPr>
                </a:tc>
                <a:tc>
                  <a:txBody>
                    <a:bodyPr wrap="square"/>
                    <a:lstStyle/>
                    <a:p>
                      <a:pPr algn="ctr"/>
                      <a:r>
                        <a:rPr sz="1300" b="0">
                          <a:solidFill>
                            <a:srgbClr val="3D3D3B"/>
                          </a:solidFill>
                          <a:latin typeface="Arial"/>
                        </a:rPr>
                        <a:t>39,2</a:t>
                      </a:r>
                    </a:p>
                  </a:txBody>
                  <a:tcPr marL="91440" marR="91440" marT="36576" marB="36576" anchor="ctr">
                    <a:solidFill>
                      <a:srgbClr val="FBF6F0"/>
                    </a:solidFill>
                  </a:tcPr>
                </a:tc>
                <a:tc>
                  <a:txBody>
                    <a:bodyPr wrap="square"/>
                    <a:lstStyle/>
                    <a:p>
                      <a:pPr algn="ctr"/>
                      <a:r>
                        <a:rPr sz="1300" b="0">
                          <a:solidFill>
                            <a:srgbClr val="3D3D3B"/>
                          </a:solidFill>
                          <a:latin typeface="Arial"/>
                        </a:rPr>
                        <a:t>58,3</a:t>
                      </a:r>
                    </a:p>
                  </a:txBody>
                  <a:tcPr marL="91440" marR="91440" marT="36576" marB="36576" anchor="ctr">
                    <a:solidFill>
                      <a:srgbClr val="FBF6F0"/>
                    </a:solidFill>
                  </a:tcPr>
                </a:tc>
              </a:tr>
              <a:tr h="411480">
                <a:tc>
                  <a:txBody>
                    <a:bodyPr wrap="square"/>
                    <a:lstStyle/>
                    <a:p>
                      <a:pPr algn="l"/>
                      <a:r>
                        <a:rPr sz="1300" b="1">
                          <a:solidFill>
                            <a:srgbClr val="462016"/>
                          </a:solidFill>
                          <a:latin typeface="Arial"/>
                        </a:rPr>
                        <a:t>D5 · Management (12 %)</a:t>
                      </a:r>
                    </a:p>
                  </a:txBody>
                  <a:tcPr marL="91440" marR="91440" marT="36576" marB="36576" anchor="ctr">
                    <a:solidFill>
                      <a:srgbClr val="F2E8DB"/>
                    </a:solidFill>
                  </a:tcPr>
                </a:tc>
                <a:tc>
                  <a:txBody>
                    <a:bodyPr wrap="square"/>
                    <a:lstStyle/>
                    <a:p>
                      <a:pPr algn="ctr"/>
                      <a:r>
                        <a:rPr sz="1300" b="0">
                          <a:solidFill>
                            <a:srgbClr val="3D3D3B"/>
                          </a:solidFill>
                          <a:latin typeface="Arial"/>
                        </a:rPr>
                        <a:t>65,6</a:t>
                      </a:r>
                    </a:p>
                  </a:txBody>
                  <a:tcPr marL="91440" marR="91440" marT="36576" marB="36576" anchor="ctr">
                    <a:solidFill>
                      <a:srgbClr val="F2E8DB"/>
                    </a:solidFill>
                  </a:tcPr>
                </a:tc>
                <a:tc>
                  <a:txBody>
                    <a:bodyPr wrap="square"/>
                    <a:lstStyle/>
                    <a:p>
                      <a:pPr algn="ctr"/>
                      <a:r>
                        <a:rPr sz="1300" b="0">
                          <a:solidFill>
                            <a:srgbClr val="3D3D3B"/>
                          </a:solidFill>
                          <a:latin typeface="Arial"/>
                        </a:rPr>
                        <a:t>61,5</a:t>
                      </a:r>
                    </a:p>
                  </a:txBody>
                  <a:tcPr marL="91440" marR="91440" marT="36576" marB="36576" anchor="ctr">
                    <a:solidFill>
                      <a:srgbClr val="F2E8DB"/>
                    </a:solidFill>
                  </a:tcPr>
                </a:tc>
                <a:tc>
                  <a:txBody>
                    <a:bodyPr wrap="square"/>
                    <a:lstStyle/>
                    <a:p>
                      <a:pPr algn="ctr"/>
                      <a:r>
                        <a:rPr sz="1300" b="0">
                          <a:solidFill>
                            <a:srgbClr val="3D3D3B"/>
                          </a:solidFill>
                          <a:latin typeface="Arial"/>
                        </a:rPr>
                        <a:t>61,5</a:t>
                      </a:r>
                    </a:p>
                  </a:txBody>
                  <a:tcPr marL="91440" marR="91440" marT="36576" marB="36576" anchor="ctr">
                    <a:solidFill>
                      <a:srgbClr val="F2E8DB"/>
                    </a:solidFill>
                  </a:tcPr>
                </a:tc>
                <a:tc>
                  <a:txBody>
                    <a:bodyPr wrap="square"/>
                    <a:lstStyle/>
                    <a:p>
                      <a:pPr algn="ctr"/>
                      <a:r>
                        <a:rPr sz="1300" b="0">
                          <a:solidFill>
                            <a:srgbClr val="3D3D3B"/>
                          </a:solidFill>
                          <a:latin typeface="Arial"/>
                        </a:rPr>
                        <a:t>61,5</a:t>
                      </a:r>
                    </a:p>
                  </a:txBody>
                  <a:tcPr marL="91440" marR="91440" marT="36576" marB="36576" anchor="ctr">
                    <a:solidFill>
                      <a:srgbClr val="F2E8DB"/>
                    </a:solidFill>
                  </a:tcPr>
                </a:tc>
                <a:tc>
                  <a:txBody>
                    <a:bodyPr wrap="square"/>
                    <a:lstStyle/>
                    <a:p>
                      <a:pPr algn="ctr"/>
                      <a:r>
                        <a:rPr sz="1300" b="0">
                          <a:solidFill>
                            <a:srgbClr val="3D3D3B"/>
                          </a:solidFill>
                          <a:latin typeface="Arial"/>
                        </a:rPr>
                        <a:t>61,5</a:t>
                      </a:r>
                    </a:p>
                  </a:txBody>
                  <a:tcPr marL="91440" marR="91440" marT="36576" marB="36576" anchor="ctr">
                    <a:solidFill>
                      <a:srgbClr val="F2E8DB"/>
                    </a:solidFill>
                  </a:tcPr>
                </a:tc>
              </a:tr>
              <a:tr h="411480">
                <a:tc>
                  <a:txBody>
                    <a:bodyPr wrap="square"/>
                    <a:lstStyle/>
                    <a:p>
                      <a:pPr algn="l"/>
                      <a:r>
                        <a:rPr sz="1300" b="1">
                          <a:solidFill>
                            <a:srgbClr val="462016"/>
                          </a:solidFill>
                          <a:latin typeface="Arial"/>
                        </a:rPr>
                        <a:t>D6 · Transparence (5 %)</a:t>
                      </a:r>
                    </a:p>
                  </a:txBody>
                  <a:tcPr marL="91440" marR="91440" marT="36576" marB="36576" anchor="ctr">
                    <a:solidFill>
                      <a:srgbClr val="FBF6F0"/>
                    </a:solidFill>
                  </a:tcPr>
                </a:tc>
                <a:tc>
                  <a:txBody>
                    <a:bodyPr wrap="square"/>
                    <a:lstStyle/>
                    <a:p>
                      <a:pPr algn="ctr"/>
                      <a:r>
                        <a:rPr sz="1300" b="0">
                          <a:solidFill>
                            <a:srgbClr val="3D3D3B"/>
                          </a:solidFill>
                          <a:latin typeface="Arial"/>
                        </a:rPr>
                        <a:t>86,2</a:t>
                      </a:r>
                    </a:p>
                  </a:txBody>
                  <a:tcPr marL="91440" marR="91440" marT="36576" marB="36576" anchor="ctr">
                    <a:solidFill>
                      <a:srgbClr val="FBF6F0"/>
                    </a:solidFill>
                  </a:tcPr>
                </a:tc>
                <a:tc>
                  <a:txBody>
                    <a:bodyPr wrap="square"/>
                    <a:lstStyle/>
                    <a:p>
                      <a:pPr algn="ctr"/>
                      <a:r>
                        <a:rPr sz="1300" b="0">
                          <a:solidFill>
                            <a:srgbClr val="3D3D3B"/>
                          </a:solidFill>
                          <a:latin typeface="Arial"/>
                        </a:rPr>
                        <a:t>80,0</a:t>
                      </a:r>
                    </a:p>
                  </a:txBody>
                  <a:tcPr marL="91440" marR="91440" marT="36576" marB="36576" anchor="ctr">
                    <a:solidFill>
                      <a:srgbClr val="FBF6F0"/>
                    </a:solidFill>
                  </a:tcPr>
                </a:tc>
                <a:tc>
                  <a:txBody>
                    <a:bodyPr wrap="square"/>
                    <a:lstStyle/>
                    <a:p>
                      <a:pPr algn="ctr"/>
                      <a:r>
                        <a:rPr sz="1300" b="0">
                          <a:solidFill>
                            <a:srgbClr val="3D3D3B"/>
                          </a:solidFill>
                          <a:latin typeface="Arial"/>
                        </a:rPr>
                        <a:t>80,0</a:t>
                      </a:r>
                    </a:p>
                  </a:txBody>
                  <a:tcPr marL="91440" marR="91440" marT="36576" marB="36576" anchor="ctr">
                    <a:solidFill>
                      <a:srgbClr val="FBF6F0"/>
                    </a:solidFill>
                  </a:tcPr>
                </a:tc>
                <a:tc>
                  <a:txBody>
                    <a:bodyPr wrap="square"/>
                    <a:lstStyle/>
                    <a:p>
                      <a:pPr algn="ctr"/>
                      <a:r>
                        <a:rPr sz="1300" b="0">
                          <a:solidFill>
                            <a:srgbClr val="3D3D3B"/>
                          </a:solidFill>
                          <a:latin typeface="Arial"/>
                        </a:rPr>
                        <a:t>80,0</a:t>
                      </a:r>
                    </a:p>
                  </a:txBody>
                  <a:tcPr marL="91440" marR="91440" marT="36576" marB="36576" anchor="ctr">
                    <a:solidFill>
                      <a:srgbClr val="FBF6F0"/>
                    </a:solidFill>
                  </a:tcPr>
                </a:tc>
                <a:tc>
                  <a:txBody>
                    <a:bodyPr wrap="square"/>
                    <a:lstStyle/>
                    <a:p>
                      <a:pPr algn="ctr"/>
                      <a:r>
                        <a:rPr sz="1300" b="0">
                          <a:solidFill>
                            <a:srgbClr val="3D3D3B"/>
                          </a:solidFill>
                          <a:latin typeface="Arial"/>
                        </a:rPr>
                        <a:t>80,0</a:t>
                      </a:r>
                    </a:p>
                  </a:txBody>
                  <a:tcPr marL="91440" marR="91440" marT="36576" marB="36576" anchor="ctr">
                    <a:solidFill>
                      <a:srgbClr val="FBF6F0"/>
                    </a:solidFill>
                  </a:tcPr>
                </a:tc>
              </a:tr>
              <a:tr h="411480">
                <a:tc>
                  <a:txBody>
                    <a:bodyPr wrap="square"/>
                    <a:lstStyle/>
                    <a:p>
                      <a:pPr algn="l"/>
                      <a:r>
                        <a:rPr sz="1300" b="1">
                          <a:solidFill>
                            <a:srgbClr val="462016"/>
                          </a:solidFill>
                          <a:latin typeface="Arial"/>
                        </a:rPr>
                        <a:t>D7 · ESG (3 %)</a:t>
                      </a:r>
                    </a:p>
                  </a:txBody>
                  <a:tcPr marL="91440" marR="91440" marT="36576" marB="36576" anchor="ctr">
                    <a:solidFill>
                      <a:srgbClr val="F2E8DB"/>
                    </a:solidFill>
                  </a:tcPr>
                </a:tc>
                <a:tc>
                  <a:txBody>
                    <a:bodyPr wrap="square"/>
                    <a:lstStyle/>
                    <a:p>
                      <a:pPr algn="ctr"/>
                      <a:r>
                        <a:rPr sz="1300" b="0">
                          <a:solidFill>
                            <a:srgbClr val="3D3D3B"/>
                          </a:solidFill>
                          <a:latin typeface="Arial"/>
                        </a:rPr>
                        <a:t>56,2</a:t>
                      </a:r>
                    </a:p>
                  </a:txBody>
                  <a:tcPr marL="91440" marR="91440" marT="36576" marB="36576" anchor="ctr">
                    <a:solidFill>
                      <a:srgbClr val="F2E8DB"/>
                    </a:solidFill>
                  </a:tcPr>
                </a:tc>
                <a:tc>
                  <a:txBody>
                    <a:bodyPr wrap="square"/>
                    <a:lstStyle/>
                    <a:p>
                      <a:pPr algn="ctr"/>
                      <a:r>
                        <a:rPr sz="1300" b="0">
                          <a:solidFill>
                            <a:srgbClr val="3D3D3B"/>
                          </a:solidFill>
                          <a:latin typeface="Arial"/>
                        </a:rPr>
                        <a:t>64,6</a:t>
                      </a:r>
                    </a:p>
                  </a:txBody>
                  <a:tcPr marL="91440" marR="91440" marT="36576" marB="36576" anchor="ctr">
                    <a:solidFill>
                      <a:srgbClr val="F2E8DB"/>
                    </a:solidFill>
                  </a:tcPr>
                </a:tc>
                <a:tc>
                  <a:txBody>
                    <a:bodyPr wrap="square"/>
                    <a:lstStyle/>
                    <a:p>
                      <a:pPr algn="ctr"/>
                      <a:r>
                        <a:rPr sz="1300" b="0">
                          <a:solidFill>
                            <a:srgbClr val="3D3D3B"/>
                          </a:solidFill>
                          <a:latin typeface="Arial"/>
                        </a:rPr>
                        <a:t>64,6</a:t>
                      </a:r>
                    </a:p>
                  </a:txBody>
                  <a:tcPr marL="91440" marR="91440" marT="36576" marB="36576" anchor="ctr">
                    <a:solidFill>
                      <a:srgbClr val="F2E8DB"/>
                    </a:solidFill>
                  </a:tcPr>
                </a:tc>
                <a:tc>
                  <a:txBody>
                    <a:bodyPr wrap="square"/>
                    <a:lstStyle/>
                    <a:p>
                      <a:pPr algn="ctr"/>
                      <a:r>
                        <a:rPr sz="1300" b="0">
                          <a:solidFill>
                            <a:srgbClr val="3D3D3B"/>
                          </a:solidFill>
                          <a:latin typeface="Arial"/>
                        </a:rPr>
                        <a:t>64,6</a:t>
                      </a:r>
                    </a:p>
                  </a:txBody>
                  <a:tcPr marL="91440" marR="91440" marT="36576" marB="36576" anchor="ctr">
                    <a:solidFill>
                      <a:srgbClr val="F2E8DB"/>
                    </a:solidFill>
                  </a:tcPr>
                </a:tc>
                <a:tc>
                  <a:txBody>
                    <a:bodyPr wrap="square"/>
                    <a:lstStyle/>
                    <a:p>
                      <a:pPr algn="ctr"/>
                      <a:r>
                        <a:rPr sz="1300" b="0">
                          <a:solidFill>
                            <a:srgbClr val="3D3D3B"/>
                          </a:solidFill>
                          <a:latin typeface="Arial"/>
                        </a:rPr>
                        <a:t>64,6</a:t>
                      </a:r>
                    </a:p>
                  </a:txBody>
                  <a:tcPr marL="91440" marR="91440" marT="36576" marB="36576" anchor="ctr">
                    <a:solidFill>
                      <a:srgbClr val="F2E8DB"/>
                    </a:solidFill>
                  </a:tcPr>
                </a:tc>
              </a:tr>
              <a:tr h="411480">
                <a:tc>
                  <a:txBody>
                    <a:bodyPr wrap="square"/>
                    <a:lstStyle/>
                    <a:p>
                      <a:pPr algn="l"/>
                      <a:r>
                        <a:rPr sz="1300" b="1">
                          <a:solidFill>
                            <a:srgbClr val="462016"/>
                          </a:solidFill>
                          <a:latin typeface="Arial"/>
                        </a:rPr>
                        <a:t>Part du poids observée</a:t>
                      </a:r>
                    </a:p>
                  </a:txBody>
                  <a:tcPr marL="91440" marR="91440" marT="36576" marB="36576" anchor="ctr">
                    <a:solidFill>
                      <a:srgbClr val="FBF6F0"/>
                    </a:solidFill>
                  </a:tcPr>
                </a:tc>
                <a:tc>
                  <a:txBody>
                    <a:bodyPr wrap="square"/>
                    <a:lstStyle/>
                    <a:p>
                      <a:pPr algn="ctr"/>
                      <a:r>
                        <a:rPr sz="1300" b="0">
                          <a:solidFill>
                            <a:srgbClr val="3D3D3B"/>
                          </a:solidFill>
                          <a:latin typeface="Arial"/>
                        </a:rPr>
                        <a:t>100 %</a:t>
                      </a:r>
                    </a:p>
                  </a:txBody>
                  <a:tcPr marL="91440" marR="91440" marT="36576" marB="36576" anchor="ctr">
                    <a:solidFill>
                      <a:srgbClr val="FBF6F0"/>
                    </a:solidFill>
                  </a:tcPr>
                </a:tc>
                <a:tc>
                  <a:txBody>
                    <a:bodyPr wrap="square"/>
                    <a:lstStyle/>
                    <a:p>
                      <a:pPr algn="ctr"/>
                      <a:r>
                        <a:rPr sz="1300" b="0">
                          <a:solidFill>
                            <a:srgbClr val="3D3D3B"/>
                          </a:solidFill>
                          <a:latin typeface="Arial"/>
                        </a:rPr>
                        <a:t>100 %</a:t>
                      </a:r>
                    </a:p>
                  </a:txBody>
                  <a:tcPr marL="91440" marR="91440" marT="36576" marB="36576" anchor="ctr">
                    <a:solidFill>
                      <a:srgbClr val="FBF6F0"/>
                    </a:solidFill>
                  </a:tcPr>
                </a:tc>
                <a:tc>
                  <a:txBody>
                    <a:bodyPr wrap="square"/>
                    <a:lstStyle/>
                    <a:p>
                      <a:pPr algn="ctr"/>
                      <a:r>
                        <a:rPr sz="1300" b="0">
                          <a:solidFill>
                            <a:srgbClr val="3D3D3B"/>
                          </a:solidFill>
                          <a:latin typeface="Arial"/>
                        </a:rPr>
                        <a:t>100 %</a:t>
                      </a:r>
                    </a:p>
                  </a:txBody>
                  <a:tcPr marL="91440" marR="91440" marT="36576" marB="36576" anchor="ctr">
                    <a:solidFill>
                      <a:srgbClr val="FBF6F0"/>
                    </a:solidFill>
                  </a:tcPr>
                </a:tc>
                <a:tc>
                  <a:txBody>
                    <a:bodyPr wrap="square"/>
                    <a:lstStyle/>
                    <a:p>
                      <a:pPr algn="ctr"/>
                      <a:r>
                        <a:rPr sz="1300" b="0">
                          <a:solidFill>
                            <a:srgbClr val="3D3D3B"/>
                          </a:solidFill>
                          <a:latin typeface="Arial"/>
                        </a:rPr>
                        <a:t>46 %</a:t>
                      </a:r>
                    </a:p>
                  </a:txBody>
                  <a:tcPr marL="91440" marR="91440" marT="36576" marB="36576" anchor="ctr">
                    <a:solidFill>
                      <a:srgbClr val="FBF6F0"/>
                    </a:solidFill>
                  </a:tcPr>
                </a:tc>
                <a:tc>
                  <a:txBody>
                    <a:bodyPr wrap="square"/>
                    <a:lstStyle/>
                    <a:p>
                      <a:pPr algn="ctr"/>
                      <a:r>
                        <a:rPr sz="1300" b="0">
                          <a:solidFill>
                            <a:srgbClr val="3D3D3B"/>
                          </a:solidFill>
                          <a:latin typeface="Arial"/>
                        </a:rPr>
                        <a:t>100 %</a:t>
                      </a:r>
                    </a:p>
                  </a:txBody>
                  <a:tcPr marL="91440" marR="91440" marT="36576" marB="36576" anchor="ctr">
                    <a:solidFill>
                      <a:srgbClr val="FBF6F0"/>
                    </a:solidFill>
                  </a:tcPr>
                </a:tc>
              </a:tr>
              <a:tr h="411480">
                <a:tc>
                  <a:txBody>
                    <a:bodyPr wrap="square"/>
                    <a:lstStyle/>
                    <a:p>
                      <a:pPr algn="l"/>
                      <a:r>
                        <a:rPr sz="1300" b="1">
                          <a:solidFill>
                            <a:srgbClr val="462016"/>
                          </a:solidFill>
                          <a:latin typeface="Arial"/>
                        </a:rPr>
                        <a:t>Grade final</a:t>
                      </a:r>
                    </a:p>
                  </a:txBody>
                  <a:tcPr marL="91440" marR="91440" marT="36576" marB="36576" anchor="ctr">
                    <a:solidFill>
                      <a:srgbClr val="F2E8DB"/>
                    </a:solidFill>
                  </a:tcPr>
                </a:tc>
                <a:tc>
                  <a:txBody>
                    <a:bodyPr wrap="square"/>
                    <a:lstStyle/>
                    <a:p>
                      <a:pPr algn="ctr"/>
                      <a:r>
                        <a:rPr sz="1300" b="0">
                          <a:solidFill>
                            <a:srgbClr val="3D3D3B"/>
                          </a:solidFill>
                          <a:latin typeface="Arial"/>
                        </a:rPr>
                        <a:t>STD-P3</a:t>
                      </a:r>
                    </a:p>
                  </a:txBody>
                  <a:tcPr marL="91440" marR="91440" marT="36576" marB="36576" anchor="ctr">
                    <a:solidFill>
                      <a:srgbClr val="F2E8DB"/>
                    </a:solidFill>
                  </a:tcPr>
                </a:tc>
                <a:tc>
                  <a:txBody>
                    <a:bodyPr wrap="square"/>
                    <a:lstStyle/>
                    <a:p>
                      <a:pPr algn="ctr"/>
                      <a:r>
                        <a:rPr sz="1300" b="0">
                          <a:solidFill>
                            <a:srgbClr val="3D3D3B"/>
                          </a:solidFill>
                          <a:latin typeface="Arial"/>
                        </a:rPr>
                        <a:t>STD-P6</a:t>
                      </a:r>
                    </a:p>
                  </a:txBody>
                  <a:tcPr marL="91440" marR="91440" marT="36576" marB="36576" anchor="ctr">
                    <a:solidFill>
                      <a:srgbClr val="F2E8DB"/>
                    </a:solidFill>
                  </a:tcPr>
                </a:tc>
                <a:tc>
                  <a:txBody>
                    <a:bodyPr wrap="square"/>
                    <a:lstStyle/>
                    <a:p>
                      <a:pPr algn="ctr"/>
                      <a:r>
                        <a:rPr sz="1300" b="0">
                          <a:solidFill>
                            <a:srgbClr val="3D3D3B"/>
                          </a:solidFill>
                          <a:latin typeface="Arial"/>
                        </a:rPr>
                        <a:t>STD-P7</a:t>
                      </a:r>
                    </a:p>
                  </a:txBody>
                  <a:tcPr marL="91440" marR="91440" marT="36576" marB="36576" anchor="ctr">
                    <a:solidFill>
                      <a:srgbClr val="F2E8DB"/>
                    </a:solidFill>
                  </a:tcPr>
                </a:tc>
                <a:tc>
                  <a:txBody>
                    <a:bodyPr wrap="square"/>
                    <a:lstStyle/>
                    <a:p>
                      <a:pPr algn="ctr"/>
                      <a:r>
                        <a:rPr sz="1300" b="0">
                          <a:solidFill>
                            <a:srgbClr val="3D3D3B"/>
                          </a:solidFill>
                          <a:latin typeface="Arial"/>
                        </a:rPr>
                        <a:t>aucun</a:t>
                      </a:r>
                    </a:p>
                  </a:txBody>
                  <a:tcPr marL="91440" marR="91440" marT="36576" marB="36576" anchor="ctr">
                    <a:solidFill>
                      <a:srgbClr val="F2E8DB"/>
                    </a:solidFill>
                  </a:tcPr>
                </a:tc>
                <a:tc>
                  <a:txBody>
                    <a:bodyPr wrap="square"/>
                    <a:lstStyle/>
                    <a:p>
                      <a:pPr algn="ctr"/>
                      <a:r>
                        <a:rPr sz="1300" b="0">
                          <a:solidFill>
                            <a:srgbClr val="3D3D3B"/>
                          </a:solidFill>
                          <a:latin typeface="Arial"/>
                        </a:rPr>
                        <a:t>DEF1</a:t>
                      </a:r>
                    </a:p>
                  </a:txBody>
                  <a:tcPr marL="91440" marR="91440" marT="36576" marB="36576" anchor="ctr">
                    <a:solidFill>
                      <a:srgbClr val="F2E8DB"/>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LES GARDE-FOUS EN ACTION</a:t>
            </a:r>
            <a:endParaRPr lang="en-US" sz="2400" dirty="0"/>
          </a:p>
        </p:txBody>
      </p:sp>
      <p:sp>
        <p:nvSpPr>
          <p:cNvPr id="4" name="controle-0"/>
          <p:cNvSpPr/>
          <p:nvPr/>
        </p:nvSpPr>
        <p:spPr>
          <a:xfrm>
            <a:off x="457200" y="1325880"/>
            <a:ext cx="5532120" cy="2240280"/>
          </a:xfrm>
          <a:prstGeom prst="roundRect">
            <a:avLst>
              <a:gd name="adj" fmla="val 4082"/>
            </a:avLst>
          </a:prstGeom>
          <a:solidFill>
            <a:srgbClr val="F2E8DB"/>
          </a:solidFill>
          <a:ln/>
        </p:spPr>
      </p:sp>
      <p:sp>
        <p:nvSpPr>
          <p:cNvPr id="5" name="rond-icone"/>
          <p:cNvSpPr/>
          <p:nvPr/>
        </p:nvSpPr>
        <p:spPr>
          <a:xfrm>
            <a:off x="777240" y="1691640"/>
            <a:ext cx="868680" cy="868680"/>
          </a:xfrm>
          <a:prstGeom prst="ellipse">
            <a:avLst/>
          </a:prstGeom>
          <a:solidFill>
            <a:srgbClr val="E37B05"/>
          </a:solidFill>
          <a:ln/>
        </p:spPr>
      </p:sp>
      <p:pic>
        <p:nvPicPr>
          <p:cNvPr id="26" name="icone" descr="ic-MdVerticalAlignTop.png"/>
          <p:cNvPicPr>
            <a:picLocks noChangeAspect="1"/>
          </p:cNvPicPr>
          <p:nvPr/>
        </p:nvPicPr>
        <p:blipFill>
          <a:blip r:embed="rId6"/>
          <a:stretch>
            <a:fillRect/>
          </a:stretch>
        </p:blipFill>
        <p:spPr>
          <a:xfrm>
            <a:off x="950976" y="1865376"/>
            <a:ext cx="521208" cy="521208"/>
          </a:xfrm>
          <a:prstGeom prst="rect">
            <a:avLst/>
          </a:prstGeom>
        </p:spPr>
      </p:pic>
      <p:sp>
        <p:nvSpPr>
          <p:cNvPr id="7" name="Text 3"/>
          <p:cNvSpPr txBox="1"/>
          <p:nvPr/>
        </p:nvSpPr>
        <p:spPr>
          <a:xfrm>
            <a:off x="1920240" y="160020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CAS C · EXCEPTION</a:t>
            </a:r>
            <a:endParaRPr lang="en-US" sz="1800" dirty="0"/>
          </a:p>
          <a:p>
            <a:pPr indent="0" marL="0">
              <a:spcAft>
                <a:spcPts val="600"/>
              </a:spcAft>
              <a:buNone/>
            </a:pPr>
            <a:r>
              <a:rPr lang="en-US" sz="1500" dirty="0">
                <a:solidFill>
                  <a:srgbClr val="3D3D3B"/>
                </a:solidFill>
              </a:rPr>
              <a:t>Score 66,1, soit STD-P5. Mais le DSCR de base est inférieur à 1 : le grade est plafonné à STD-P7.</a:t>
            </a:r>
            <a:endParaRPr lang="en-US" sz="1800" dirty="0"/>
          </a:p>
        </p:txBody>
      </p:sp>
      <p:sp>
        <p:nvSpPr>
          <p:cNvPr id="8" name="controle-1"/>
          <p:cNvSpPr/>
          <p:nvPr/>
        </p:nvSpPr>
        <p:spPr>
          <a:xfrm>
            <a:off x="6217920" y="1325880"/>
            <a:ext cx="5532120" cy="2240280"/>
          </a:xfrm>
          <a:prstGeom prst="roundRect">
            <a:avLst>
              <a:gd name="adj" fmla="val 4082"/>
            </a:avLst>
          </a:prstGeom>
          <a:solidFill>
            <a:srgbClr val="FBF6F0"/>
          </a:solidFill>
          <a:ln/>
        </p:spPr>
      </p:sp>
      <p:sp>
        <p:nvSpPr>
          <p:cNvPr id="9" name="rond-icone"/>
          <p:cNvSpPr/>
          <p:nvPr/>
        </p:nvSpPr>
        <p:spPr>
          <a:xfrm>
            <a:off x="6537960" y="1691640"/>
            <a:ext cx="868680" cy="868680"/>
          </a:xfrm>
          <a:prstGeom prst="ellipse">
            <a:avLst/>
          </a:prstGeom>
          <a:solidFill>
            <a:srgbClr val="E37B05"/>
          </a:solidFill>
          <a:ln/>
        </p:spPr>
      </p:sp>
      <p:pic>
        <p:nvPicPr>
          <p:cNvPr id="27" name="icone" descr="ic-MdDataUsage.png"/>
          <p:cNvPicPr>
            <a:picLocks noChangeAspect="1"/>
          </p:cNvPicPr>
          <p:nvPr/>
        </p:nvPicPr>
        <p:blipFill>
          <a:blip r:embed="rId7"/>
          <a:stretch>
            <a:fillRect/>
          </a:stretch>
        </p:blipFill>
        <p:spPr>
          <a:xfrm>
            <a:off x="6711696" y="1865376"/>
            <a:ext cx="521208" cy="521208"/>
          </a:xfrm>
          <a:prstGeom prst="rect">
            <a:avLst/>
          </a:prstGeom>
        </p:spPr>
      </p:pic>
      <p:sp>
        <p:nvSpPr>
          <p:cNvPr id="11" name="Text 6"/>
          <p:cNvSpPr txBox="1"/>
          <p:nvPr/>
        </p:nvSpPr>
        <p:spPr>
          <a:xfrm>
            <a:off x="7680960" y="160020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CAS D · PORTE DE QUALITÉ</a:t>
            </a:r>
            <a:endParaRPr lang="en-US" sz="1800" dirty="0"/>
          </a:p>
          <a:p>
            <a:pPr indent="0" marL="0">
              <a:spcAft>
                <a:spcPts val="600"/>
              </a:spcAft>
              <a:buNone/>
            </a:pPr>
            <a:r>
              <a:rPr lang="en-US" sz="1500" dirty="0">
                <a:solidFill>
                  <a:srgbClr val="3D3D3B"/>
                </a:solidFill>
              </a:rPr>
              <a:t>46 % du poids seulement repose sur des données observées : aucun grade, le dossier est à compléter.</a:t>
            </a:r>
            <a:endParaRPr lang="en-US" sz="1800" dirty="0"/>
          </a:p>
        </p:txBody>
      </p:sp>
      <p:sp>
        <p:nvSpPr>
          <p:cNvPr id="12" name="controle-2"/>
          <p:cNvSpPr/>
          <p:nvPr/>
        </p:nvSpPr>
        <p:spPr>
          <a:xfrm>
            <a:off x="457200" y="3794760"/>
            <a:ext cx="5532120" cy="2240280"/>
          </a:xfrm>
          <a:prstGeom prst="roundRect">
            <a:avLst>
              <a:gd name="adj" fmla="val 4082"/>
            </a:avLst>
          </a:prstGeom>
          <a:solidFill>
            <a:srgbClr val="FBF6F0"/>
          </a:solidFill>
          <a:ln/>
        </p:spPr>
      </p:sp>
      <p:sp>
        <p:nvSpPr>
          <p:cNvPr id="13" name="rond-icone"/>
          <p:cNvSpPr/>
          <p:nvPr/>
        </p:nvSpPr>
        <p:spPr>
          <a:xfrm>
            <a:off x="777240" y="4160520"/>
            <a:ext cx="868680" cy="868680"/>
          </a:xfrm>
          <a:prstGeom prst="ellipse">
            <a:avLst/>
          </a:prstGeom>
          <a:solidFill>
            <a:srgbClr val="8C5B52"/>
          </a:solidFill>
          <a:ln/>
        </p:spPr>
      </p:sp>
      <p:pic>
        <p:nvPicPr>
          <p:cNvPr id="28" name="icone" descr="image.png"/>
          <p:cNvPicPr>
            <a:picLocks noChangeAspect="1"/>
          </p:cNvPicPr>
          <p:nvPr/>
        </p:nvPicPr>
        <p:blipFill>
          <a:blip r:embed="rId8"/>
          <a:stretch>
            <a:fillRect/>
          </a:stretch>
        </p:blipFill>
        <p:spPr>
          <a:xfrm>
            <a:off x="950976" y="4334256"/>
            <a:ext cx="521208" cy="521208"/>
          </a:xfrm>
          <a:prstGeom prst="rect">
            <a:avLst/>
          </a:prstGeom>
        </p:spPr>
      </p:pic>
      <p:sp>
        <p:nvSpPr>
          <p:cNvPr id="15" name="Text 9"/>
          <p:cNvSpPr txBox="1"/>
          <p:nvPr/>
        </p:nvSpPr>
        <p:spPr>
          <a:xfrm>
            <a:off x="1920240" y="406908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CAS E · DÉFAUT CONSTATÉ</a:t>
            </a:r>
            <a:endParaRPr lang="en-US" sz="1800" dirty="0"/>
          </a:p>
          <a:p>
            <a:pPr indent="0" marL="0">
              <a:spcAft>
                <a:spcPts val="600"/>
              </a:spcAft>
              <a:buNone/>
            </a:pPr>
            <a:r>
              <a:rPr lang="en-US" sz="1500" dirty="0">
                <a:solidFill>
                  <a:srgbClr val="3D3D3B"/>
                </a:solidFill>
              </a:rPr>
              <a:t>Impayé de plus de 90 jours : DEF1, alors que le score (64,8) donnerait STD-P5.</a:t>
            </a:r>
            <a:endParaRPr lang="en-US" sz="1800" dirty="0"/>
          </a:p>
        </p:txBody>
      </p:sp>
      <p:sp>
        <p:nvSpPr>
          <p:cNvPr id="16" name="controle-3"/>
          <p:cNvSpPr/>
          <p:nvPr/>
        </p:nvSpPr>
        <p:spPr>
          <a:xfrm>
            <a:off x="6217920" y="3794760"/>
            <a:ext cx="5532120" cy="2240280"/>
          </a:xfrm>
          <a:prstGeom prst="roundRect">
            <a:avLst>
              <a:gd name="adj" fmla="val 4082"/>
            </a:avLst>
          </a:prstGeom>
          <a:solidFill>
            <a:srgbClr val="F2E8DB"/>
          </a:solidFill>
          <a:ln/>
        </p:spPr>
      </p:sp>
      <p:sp>
        <p:nvSpPr>
          <p:cNvPr id="17" name="rond-icone"/>
          <p:cNvSpPr/>
          <p:nvPr/>
        </p:nvSpPr>
        <p:spPr>
          <a:xfrm>
            <a:off x="6537960" y="4160520"/>
            <a:ext cx="868680" cy="868680"/>
          </a:xfrm>
          <a:prstGeom prst="ellipse">
            <a:avLst/>
          </a:prstGeom>
          <a:solidFill>
            <a:srgbClr val="8C5B52"/>
          </a:solidFill>
          <a:ln/>
        </p:spPr>
      </p:sp>
      <p:pic>
        <p:nvPicPr>
          <p:cNvPr id="29" name="icone" descr="ic-MdTableView.png"/>
          <p:cNvPicPr>
            <a:picLocks noChangeAspect="1"/>
          </p:cNvPicPr>
          <p:nvPr/>
        </p:nvPicPr>
        <p:blipFill>
          <a:blip r:embed="rId9"/>
          <a:stretch>
            <a:fillRect/>
          </a:stretch>
        </p:blipFill>
        <p:spPr>
          <a:xfrm>
            <a:off x="6711696" y="4334256"/>
            <a:ext cx="521208" cy="521208"/>
          </a:xfrm>
          <a:prstGeom prst="rect">
            <a:avLst/>
          </a:prstGeom>
        </p:spPr>
      </p:pic>
      <p:sp>
        <p:nvSpPr>
          <p:cNvPr id="19" name="Text 12"/>
          <p:cNvSpPr txBox="1"/>
          <p:nvPr/>
        </p:nvSpPr>
        <p:spPr>
          <a:xfrm>
            <a:off x="7680960" y="406908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LE SIMULATEUR EXCEL</a:t>
            </a:r>
            <a:endParaRPr lang="en-US" sz="1800" dirty="0"/>
          </a:p>
          <a:p>
            <a:pPr indent="0" marL="0">
              <a:spcAft>
                <a:spcPts val="600"/>
              </a:spcAft>
              <a:buNone/>
            </a:pPr>
            <a:r>
              <a:rPr lang="en-US" sz="1500" dirty="0">
                <a:solidFill>
                  <a:srgbClr val="3D3D3B"/>
                </a:solidFill>
              </a:rPr>
              <a:t>Il reproduit le calcul critère par critère et retrouve les cinq résultats de l'outil.</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LE MODÈLE EST-IL VALABLE POUR LE MAROC ?</a:t>
            </a:r>
            <a:endParaRPr lang="en-US" sz="2400" dirty="0"/>
          </a:p>
        </p:txBody>
      </p:sp>
      <p:sp>
        <p:nvSpPr>
          <p:cNvPr id="4" name="pourquoi-0"/>
          <p:cNvSpPr/>
          <p:nvPr/>
        </p:nvSpPr>
        <p:spPr>
          <a:xfrm>
            <a:off x="457200" y="1280160"/>
            <a:ext cx="3639312" cy="4206240"/>
          </a:xfrm>
          <a:prstGeom prst="roundRect">
            <a:avLst>
              <a:gd name="adj" fmla="val 2513"/>
            </a:avLst>
          </a:prstGeom>
          <a:solidFill>
            <a:srgbClr val="FFFFFF"/>
          </a:solidFill>
          <a:ln w="12700">
            <a:solidFill>
              <a:srgbClr val="E5D9CC"/>
            </a:solidFill>
            <a:prstDash val="solid"/>
          </a:ln>
          <a:effectLst>
            <a:outerShdw sx="100000" sy="100000" kx="0" ky="0" algn="bl" rotWithShape="0" blurRad="76200" dist="25400" dir="5400000">
              <a:srgbClr val="000000">
                <a:alpha val="12000"/>
              </a:srgbClr>
            </a:outerShdw>
          </a:effectLst>
        </p:spPr>
      </p:sp>
      <p:sp>
        <p:nvSpPr>
          <p:cNvPr id="5" name="rond-icone"/>
          <p:cNvSpPr/>
          <p:nvPr/>
        </p:nvSpPr>
        <p:spPr>
          <a:xfrm>
            <a:off x="731520" y="1554480"/>
            <a:ext cx="822960" cy="822960"/>
          </a:xfrm>
          <a:prstGeom prst="ellipse">
            <a:avLst/>
          </a:prstGeom>
          <a:solidFill>
            <a:srgbClr val="E37B05"/>
          </a:solidFill>
          <a:ln/>
        </p:spPr>
      </p:sp>
      <p:pic>
        <p:nvPicPr>
          <p:cNvPr id="26" name="icone" descr="ic-MdVerified.png"/>
          <p:cNvPicPr>
            <a:picLocks noChangeAspect="1"/>
          </p:cNvPicPr>
          <p:nvPr/>
        </p:nvPicPr>
        <p:blipFill>
          <a:blip r:embed="rId5"/>
          <a:stretch>
            <a:fillRect/>
          </a:stretch>
        </p:blipFill>
        <p:spPr>
          <a:xfrm>
            <a:off x="896112" y="1719072"/>
            <a:ext cx="493776" cy="493776"/>
          </a:xfrm>
          <a:prstGeom prst="rect">
            <a:avLst/>
          </a:prstGeom>
        </p:spPr>
      </p:pic>
      <p:sp>
        <p:nvSpPr>
          <p:cNvPr id="7" name="Text 3"/>
          <p:cNvSpPr txBox="1"/>
          <p:nvPr/>
        </p:nvSpPr>
        <p:spPr>
          <a:xfrm>
            <a:off x="731520" y="2560320"/>
            <a:ext cx="3108960" cy="731520"/>
          </a:xfrm>
          <a:prstGeom prst="rect">
            <a:avLst/>
          </a:prstGeom>
          <a:noFill/>
          <a:ln/>
        </p:spPr>
        <p:txBody>
          <a:bodyPr wrap="square" lIns="0" tIns="0" rIns="0" bIns="0" rtlCol="0" anchor="t"/>
          <a:lstStyle/>
          <a:p>
            <a:pPr indent="0" marL="0">
              <a:buNone/>
            </a:pPr>
            <a:r>
              <a:rPr lang="en-US" sz="1800" b="1" dirty="0">
                <a:solidFill>
                  <a:srgbClr val="462016"/>
                </a:solidFill>
              </a:rPr>
              <a:t>CE QUI EST ADAPTÉ</a:t>
            </a:r>
            <a:endParaRPr lang="en-US" sz="1800" dirty="0"/>
          </a:p>
        </p:txBody>
      </p:sp>
      <p:sp>
        <p:nvSpPr>
          <p:cNvPr id="8" name="Text 4"/>
          <p:cNvSpPr txBox="1"/>
          <p:nvPr/>
        </p:nvSpPr>
        <p:spPr>
          <a:xfrm>
            <a:off x="731520" y="3337560"/>
            <a:ext cx="31546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D3D3B"/>
                </a:solidFill>
              </a:rPr>
              <a:t>Seuils TPE, PME et GE, ICE, plan comptable CGNC</a:t>
            </a:r>
            <a:endParaRPr lang="en-US" sz="1500" dirty="0"/>
          </a:p>
          <a:p>
            <a:pPr marL="342900" indent="-342900">
              <a:spcAft>
                <a:spcPts val="800"/>
              </a:spcAft>
              <a:buSzPct val="100000"/>
              <a:buChar char="•"/>
            </a:pPr>
            <a:r>
              <a:rPr lang="en-US" sz="1500" dirty="0">
                <a:solidFill>
                  <a:srgbClr val="3D3D3B"/>
                </a:solidFill>
              </a:rPr>
              <a:t>Domaines d'analyse d'un analyste crédit marocain</a:t>
            </a:r>
            <a:endParaRPr lang="en-US" sz="1500" dirty="0"/>
          </a:p>
          <a:p>
            <a:pPr marL="342900" indent="-342900">
              <a:spcAft>
                <a:spcPts val="800"/>
              </a:spcAft>
              <a:buSzPct val="100000"/>
              <a:buChar char="•"/>
            </a:pPr>
            <a:r>
              <a:rPr lang="en-US" sz="1500" dirty="0">
                <a:solidFill>
                  <a:srgbClr val="3D3D3B"/>
                </a:solidFill>
              </a:rPr>
              <a:t>Garde-fous : défaut, alertes, données absentes</a:t>
            </a:r>
            <a:endParaRPr lang="en-US" sz="1500" dirty="0"/>
          </a:p>
        </p:txBody>
      </p:sp>
      <p:sp>
        <p:nvSpPr>
          <p:cNvPr id="9" name="pourquoi-1"/>
          <p:cNvSpPr/>
          <p:nvPr/>
        </p:nvSpPr>
        <p:spPr>
          <a:xfrm>
            <a:off x="4279392" y="1280160"/>
            <a:ext cx="3639312" cy="4206240"/>
          </a:xfrm>
          <a:prstGeom prst="roundRect">
            <a:avLst>
              <a:gd name="adj" fmla="val 2513"/>
            </a:avLst>
          </a:prstGeom>
          <a:solidFill>
            <a:srgbClr val="FFFFFF"/>
          </a:solidFill>
          <a:ln w="12700">
            <a:solidFill>
              <a:srgbClr val="E5D9CC"/>
            </a:solidFill>
            <a:prstDash val="solid"/>
          </a:ln>
          <a:effectLst>
            <a:outerShdw sx="100000" sy="100000" kx="0" ky="0" algn="bl" rotWithShape="0" blurRad="76200" dist="25400" dir="5400000">
              <a:srgbClr val="000000">
                <a:alpha val="12000"/>
              </a:srgbClr>
            </a:outerShdw>
          </a:effectLst>
        </p:spPr>
      </p:sp>
      <p:sp>
        <p:nvSpPr>
          <p:cNvPr id="10" name="rond-icone"/>
          <p:cNvSpPr/>
          <p:nvPr/>
        </p:nvSpPr>
        <p:spPr>
          <a:xfrm>
            <a:off x="4553712" y="1554480"/>
            <a:ext cx="822960" cy="822960"/>
          </a:xfrm>
          <a:prstGeom prst="ellipse">
            <a:avLst/>
          </a:prstGeom>
          <a:solidFill>
            <a:srgbClr val="E37B05"/>
          </a:solidFill>
          <a:ln/>
        </p:spPr>
      </p:sp>
      <p:pic>
        <p:nvPicPr>
          <p:cNvPr id="27" name="icone" descr="ic-MdScience.png"/>
          <p:cNvPicPr>
            <a:picLocks noChangeAspect="1"/>
          </p:cNvPicPr>
          <p:nvPr/>
        </p:nvPicPr>
        <p:blipFill>
          <a:blip r:embed="rId6"/>
          <a:stretch>
            <a:fillRect/>
          </a:stretch>
        </p:blipFill>
        <p:spPr>
          <a:xfrm>
            <a:off x="4718304" y="1719072"/>
            <a:ext cx="493776" cy="493776"/>
          </a:xfrm>
          <a:prstGeom prst="rect">
            <a:avLst/>
          </a:prstGeom>
        </p:spPr>
      </p:pic>
      <p:sp>
        <p:nvSpPr>
          <p:cNvPr id="12" name="Text 7"/>
          <p:cNvSpPr txBox="1"/>
          <p:nvPr/>
        </p:nvSpPr>
        <p:spPr>
          <a:xfrm>
            <a:off x="4553712" y="2560320"/>
            <a:ext cx="3108960" cy="731520"/>
          </a:xfrm>
          <a:prstGeom prst="rect">
            <a:avLst/>
          </a:prstGeom>
          <a:noFill/>
          <a:ln/>
        </p:spPr>
        <p:txBody>
          <a:bodyPr wrap="square" lIns="0" tIns="0" rIns="0" bIns="0" rtlCol="0" anchor="t"/>
          <a:lstStyle/>
          <a:p>
            <a:pPr indent="0" marL="0">
              <a:buNone/>
            </a:pPr>
            <a:r>
              <a:rPr lang="en-US" sz="1800" b="1" dirty="0">
                <a:solidFill>
                  <a:srgbClr val="462016"/>
                </a:solidFill>
              </a:rPr>
              <a:t>CE QUI RESTE À DÉMONTRER</a:t>
            </a:r>
            <a:endParaRPr lang="en-US" sz="1800" dirty="0"/>
          </a:p>
        </p:txBody>
      </p:sp>
      <p:sp>
        <p:nvSpPr>
          <p:cNvPr id="13" name="Text 8"/>
          <p:cNvSpPr txBox="1"/>
          <p:nvPr/>
        </p:nvSpPr>
        <p:spPr>
          <a:xfrm>
            <a:off x="4553712" y="3337560"/>
            <a:ext cx="31546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D3D3B"/>
                </a:solidFill>
              </a:rPr>
              <a:t>Poids et barèmes fixés à dire d'expert</a:t>
            </a:r>
            <a:endParaRPr lang="en-US" sz="1500" dirty="0"/>
          </a:p>
          <a:p>
            <a:pPr marL="342900" indent="-342900">
              <a:spcAft>
                <a:spcPts val="800"/>
              </a:spcAft>
              <a:buSzPct val="100000"/>
              <a:buChar char="•"/>
            </a:pPr>
            <a:r>
              <a:rPr lang="en-US" sz="1500" dirty="0">
                <a:solidFill>
                  <a:srgbClr val="3D3D3B"/>
                </a:solidFill>
              </a:rPr>
              <a:t>Probabilités de défaut calibrées sur données simulées</a:t>
            </a:r>
            <a:endParaRPr lang="en-US" sz="1500" dirty="0"/>
          </a:p>
          <a:p>
            <a:pPr marL="342900" indent="-342900">
              <a:spcAft>
                <a:spcPts val="800"/>
              </a:spcAft>
              <a:buSzPct val="100000"/>
              <a:buChar char="•"/>
            </a:pPr>
            <a:r>
              <a:rPr lang="en-US" sz="1500" dirty="0">
                <a:solidFill>
                  <a:srgbClr val="3D3D3B"/>
                </a:solidFill>
              </a:rPr>
              <a:t>Seuils de segmentation à confirmer avec BAM</a:t>
            </a:r>
            <a:endParaRPr lang="en-US" sz="1500" dirty="0"/>
          </a:p>
        </p:txBody>
      </p:sp>
      <p:sp>
        <p:nvSpPr>
          <p:cNvPr id="14" name="pourquoi-2"/>
          <p:cNvSpPr/>
          <p:nvPr/>
        </p:nvSpPr>
        <p:spPr>
          <a:xfrm>
            <a:off x="8101584" y="1280160"/>
            <a:ext cx="3639312" cy="4206240"/>
          </a:xfrm>
          <a:prstGeom prst="roundRect">
            <a:avLst>
              <a:gd name="adj" fmla="val 2513"/>
            </a:avLst>
          </a:prstGeom>
          <a:solidFill>
            <a:srgbClr val="FFFFFF"/>
          </a:solidFill>
          <a:ln w="12700">
            <a:solidFill>
              <a:srgbClr val="E5D9CC"/>
            </a:solidFill>
            <a:prstDash val="solid"/>
          </a:ln>
          <a:effectLst>
            <a:outerShdw sx="100000" sy="100000" kx="0" ky="0" algn="bl" rotWithShape="0" blurRad="76200" dist="25400" dir="5400000">
              <a:srgbClr val="000000">
                <a:alpha val="12000"/>
              </a:srgbClr>
            </a:outerShdw>
          </a:effectLst>
        </p:spPr>
      </p:sp>
      <p:sp>
        <p:nvSpPr>
          <p:cNvPr id="15" name="rond-icone"/>
          <p:cNvSpPr/>
          <p:nvPr/>
        </p:nvSpPr>
        <p:spPr>
          <a:xfrm>
            <a:off x="8375904" y="1554480"/>
            <a:ext cx="822960" cy="822960"/>
          </a:xfrm>
          <a:prstGeom prst="ellipse">
            <a:avLst/>
          </a:prstGeom>
          <a:solidFill>
            <a:srgbClr val="E37B05"/>
          </a:solidFill>
          <a:ln/>
        </p:spPr>
      </p:sp>
      <p:pic>
        <p:nvPicPr>
          <p:cNvPr id="28" name="icone" descr="ic-MdQueryStats.png"/>
          <p:cNvPicPr>
            <a:picLocks noChangeAspect="1"/>
          </p:cNvPicPr>
          <p:nvPr/>
        </p:nvPicPr>
        <p:blipFill>
          <a:blip r:embed="rId7"/>
          <a:stretch>
            <a:fillRect/>
          </a:stretch>
        </p:blipFill>
        <p:spPr>
          <a:xfrm>
            <a:off x="8540496" y="1719072"/>
            <a:ext cx="493776" cy="493776"/>
          </a:xfrm>
          <a:prstGeom prst="rect">
            <a:avLst/>
          </a:prstGeom>
        </p:spPr>
      </p:pic>
      <p:sp>
        <p:nvSpPr>
          <p:cNvPr id="17" name="Text 11"/>
          <p:cNvSpPr txBox="1"/>
          <p:nvPr/>
        </p:nvSpPr>
        <p:spPr>
          <a:xfrm>
            <a:off x="8375904" y="2560320"/>
            <a:ext cx="3108960" cy="731520"/>
          </a:xfrm>
          <a:prstGeom prst="rect">
            <a:avLst/>
          </a:prstGeom>
          <a:noFill/>
          <a:ln/>
        </p:spPr>
        <p:txBody>
          <a:bodyPr wrap="square" lIns="0" tIns="0" rIns="0" bIns="0" rtlCol="0" anchor="t"/>
          <a:lstStyle/>
          <a:p>
            <a:pPr indent="0" marL="0">
              <a:buNone/>
            </a:pPr>
            <a:r>
              <a:rPr lang="en-US" sz="1800" b="1" dirty="0">
                <a:solidFill>
                  <a:srgbClr val="462016"/>
                </a:solidFill>
              </a:rPr>
              <a:t>CE QU'IL FAUT POUR CONCLURE</a:t>
            </a:r>
            <a:endParaRPr lang="en-US" sz="1800" dirty="0"/>
          </a:p>
        </p:txBody>
      </p:sp>
      <p:sp>
        <p:nvSpPr>
          <p:cNvPr id="18" name="Text 12"/>
          <p:cNvSpPr txBox="1"/>
          <p:nvPr/>
        </p:nvSpPr>
        <p:spPr>
          <a:xfrm>
            <a:off x="8375904" y="3337560"/>
            <a:ext cx="31546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D3D3B"/>
                </a:solidFill>
              </a:rPr>
              <a:t>Confronter la note aux défauts réels</a:t>
            </a:r>
            <a:endParaRPr lang="en-US" sz="1500" dirty="0"/>
          </a:p>
          <a:p>
            <a:pPr marL="342900" indent="-342900">
              <a:spcAft>
                <a:spcPts val="800"/>
              </a:spcAft>
              <a:buSzPct val="100000"/>
              <a:buChar char="•"/>
            </a:pPr>
            <a:r>
              <a:rPr lang="en-US" sz="1500" dirty="0">
                <a:solidFill>
                  <a:srgbClr val="3D3D3B"/>
                </a:solidFill>
              </a:rPr>
              <a:t>Mesurer le pouvoir de discrimination</a:t>
            </a:r>
            <a:endParaRPr lang="en-US" sz="1500" dirty="0"/>
          </a:p>
          <a:p>
            <a:pPr marL="342900" indent="-342900">
              <a:spcAft>
                <a:spcPts val="800"/>
              </a:spcAft>
              <a:buSzPct val="100000"/>
              <a:buChar char="•"/>
            </a:pPr>
            <a:r>
              <a:rPr lang="en-US" sz="1500" dirty="0">
                <a:solidFill>
                  <a:srgbClr val="3D3D3B"/>
                </a:solidFill>
              </a:rPr>
              <a:t>Estimer les poids sur l'historique de la banque</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3" type="title" hasCustomPrompt="1"/>
          </p:nvPr>
        </p:nvSpPr>
        <p:spPr>
          <a:xfrm>
            <a:off x="731520" y="3200400"/>
            <a:ext cx="8595360" cy="137160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2. VERS UN MODÈLE STATISTIQUE</a:t>
            </a:r>
            <a:endParaRPr lang="en-US" sz="4000" dirty="0"/>
          </a:p>
        </p:txBody>
      </p:sp>
      <p:sp>
        <p:nvSpPr>
          <p:cNvPr id="3" name="Text 0"/>
          <p:cNvSpPr/>
          <p:nvPr>
            <p:ph idx="104" type="body" hasCustomPrompt="1"/>
          </p:nvPr>
        </p:nvSpPr>
        <p:spPr>
          <a:xfrm>
            <a:off x="731520" y="4617720"/>
            <a:ext cx="8595360" cy="1097280"/>
          </a:xfrm>
          <a:prstGeom prst="rect">
            <a:avLst/>
          </a:prstGeom>
          <a:noFill/>
          <a:ln/>
        </p:spPr>
        <p:txBody>
          <a:bodyPr wrap="square" rtlCol="0" anchor="t"/>
          <a:lstStyle/>
          <a:p>
            <a:pPr algn="l" indent="0" marL="0">
              <a:buNone/>
            </a:pPr>
            <a:r>
              <a:rPr lang="en-US" sz="1800" dirty="0">
                <a:solidFill>
                  <a:schemeClr val="bg1"/>
                </a:solidFill>
                <a:latin typeface="Arial" pitchFamily="34" charset="0"/>
                <a:ea typeface="Arial" pitchFamily="34" charset="-122"/>
                <a:cs typeface="Arial" pitchFamily="34" charset="-120"/>
              </a:rPr>
              <a:t>Prérequis, grandes étapes, écarts attendus et maîtrise de la bascule</a:t>
            </a:r>
            <a:endParaRPr lang="en-US" sz="1800" dirty="0"/>
          </a:p>
        </p:txBody>
      </p:sp>
      <p:sp>
        <p:nvSpPr>
          <p:cNvPr id="4" name="Text 0"/>
          <p:cNvSpPr/>
          <p:nvPr>
            <p:ph idx="102" type="body" hasCustomPrompt="1"/>
          </p:nvPr>
        </p:nvSpPr>
        <p:spPr>
          <a:xfrm>
            <a:off x="731520" y="2103120"/>
            <a:ext cx="2743200" cy="1097280"/>
          </a:xfrm>
          <a:prstGeom prst="rect">
            <a:avLst/>
          </a:prstGeom>
          <a:noFill/>
          <a:ln/>
        </p:spPr>
        <p:txBody>
          <a:bodyPr wrap="square" rtlCol="0"/>
          <a:lstStyle/>
          <a:p>
            <a:pPr algn="l" indent="0" marL="0">
              <a:buNone/>
            </a:pPr>
            <a:endParaRPr lang="en-US" sz="6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MODÈLE EXPERT ET MODÈLE STATISTIQUE</a:t>
            </a:r>
            <a:endParaRPr lang="en-US" sz="2400" dirty="0"/>
          </a:p>
        </p:txBody>
      </p:sp>
      <p:sp>
        <p:nvSpPr>
          <p:cNvPr id="20" name="Text 17"/>
          <p:cNvSpPr txBox="1"/>
          <p:nvPr/>
        </p:nvSpPr>
        <p:spPr>
          <a:xfrm>
            <a:off x="457200" y="5532120"/>
            <a:ext cx="11320272" cy="457200"/>
          </a:xfrm>
          <a:prstGeom prst="rect">
            <a:avLst/>
          </a:prstGeom>
          <a:noFill/>
          <a:ln/>
        </p:spPr>
        <p:txBody>
          <a:bodyPr wrap="square" lIns="0" tIns="0" rIns="0" bIns="0" rtlCol="0" anchor="ctr"/>
          <a:lstStyle/>
          <a:p>
            <a:pPr indent="0" marL="0">
              <a:buNone/>
            </a:pPr>
            <a:r>
              <a:rPr lang="en-US" sz="1500" b="1" dirty="0">
                <a:solidFill>
                  <a:srgbClr val="462016"/>
                </a:solidFill>
              </a:rPr>
              <a:t>Le statistique ne remplace pas la méthode : il remplace des choix d'experts par des mesures sur l'historique.</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a:t>
            </a:fld>
            <a:endParaRPr lang="en-US"/>
          </a:p>
        </p:txBody>
      </p:sp>
      <p:graphicFrame>
        <p:nvGraphicFramePr>
          <p:cNvPr id="26" name="tableau"/>
          <p:cNvGraphicFramePr>
            <a:graphicFrameLocks noGrp="1"/>
          </p:cNvGraphicFramePr>
          <p:nvPr/>
        </p:nvGraphicFramePr>
        <p:xfrm>
          <a:off x="457200" y="1280160"/>
          <a:ext cx="11274552" cy="3968496"/>
        </p:xfrm>
        <a:graphic>
          <a:graphicData uri="http://schemas.openxmlformats.org/drawingml/2006/table">
            <a:tbl>
              <a:tblPr firstRow="0" bandRow="0"/>
              <a:tblGrid>
                <a:gridCol w="2834640"/>
                <a:gridCol w="4206240"/>
                <a:gridCol w="4233672"/>
              </a:tblGrid>
              <a:tr h="566928">
                <a:tc>
                  <a:txBody>
                    <a:bodyPr wrap="square"/>
                    <a:lstStyle/>
                    <a:p>
                      <a:pPr algn="l"/>
                      <a:r>
                        <a:rPr sz="1300" b="1">
                          <a:solidFill>
                            <a:srgbClr val="FFFFFF"/>
                          </a:solidFill>
                          <a:latin typeface="Arial"/>
                        </a:rPr>
                        <a:t>Aspect</a:t>
                      </a:r>
                    </a:p>
                  </a:txBody>
                  <a:tcPr marL="91440" marR="91440" marT="36576" marB="36576" anchor="ctr">
                    <a:solidFill>
                      <a:srgbClr val="E37B05"/>
                    </a:solidFill>
                  </a:tcPr>
                </a:tc>
                <a:tc>
                  <a:txBody>
                    <a:bodyPr wrap="square"/>
                    <a:lstStyle/>
                    <a:p>
                      <a:pPr algn="l"/>
                      <a:r>
                        <a:rPr sz="1300" b="1">
                          <a:solidFill>
                            <a:srgbClr val="FFFFFF"/>
                          </a:solidFill>
                          <a:latin typeface="Arial"/>
                        </a:rPr>
                        <a:t>Modèle expert (actuel)</a:t>
                      </a:r>
                    </a:p>
                  </a:txBody>
                  <a:tcPr marL="91440" marR="91440" marT="36576" marB="36576" anchor="ctr">
                    <a:solidFill>
                      <a:srgbClr val="E37B05"/>
                    </a:solidFill>
                  </a:tcPr>
                </a:tc>
                <a:tc>
                  <a:txBody>
                    <a:bodyPr wrap="square"/>
                    <a:lstStyle/>
                    <a:p>
                      <a:pPr algn="l"/>
                      <a:r>
                        <a:rPr sz="1300" b="1">
                          <a:solidFill>
                            <a:srgbClr val="FFFFFF"/>
                          </a:solidFill>
                          <a:latin typeface="Arial"/>
                        </a:rPr>
                        <a:t>Modèle statistique (cible)</a:t>
                      </a:r>
                    </a:p>
                  </a:txBody>
                  <a:tcPr marL="91440" marR="91440" marT="36576" marB="36576" anchor="ctr">
                    <a:solidFill>
                      <a:srgbClr val="E37B05"/>
                    </a:solidFill>
                  </a:tcPr>
                </a:tc>
              </a:tr>
              <a:tr h="566928">
                <a:tc>
                  <a:txBody>
                    <a:bodyPr wrap="square"/>
                    <a:lstStyle/>
                    <a:p>
                      <a:pPr algn="l"/>
                      <a:r>
                        <a:rPr sz="1300" b="1">
                          <a:solidFill>
                            <a:srgbClr val="462016"/>
                          </a:solidFill>
                          <a:latin typeface="Arial"/>
                        </a:rPr>
                        <a:t>Poids et barèmes</a:t>
                      </a:r>
                    </a:p>
                  </a:txBody>
                  <a:tcPr marL="91440" marR="91440" marT="36576" marB="36576" anchor="ctr">
                    <a:solidFill>
                      <a:srgbClr val="F2E8DB"/>
                    </a:solidFill>
                  </a:tcPr>
                </a:tc>
                <a:tc>
                  <a:txBody>
                    <a:bodyPr wrap="square"/>
                    <a:lstStyle/>
                    <a:p>
                      <a:pPr algn="l"/>
                      <a:r>
                        <a:rPr sz="1300" b="0">
                          <a:solidFill>
                            <a:srgbClr val="3D3D3B"/>
                          </a:solidFill>
                          <a:latin typeface="Arial"/>
                        </a:rPr>
                        <a:t>Fixés par des experts</a:t>
                      </a:r>
                    </a:p>
                  </a:txBody>
                  <a:tcPr marL="91440" marR="91440" marT="36576" marB="36576" anchor="ctr">
                    <a:solidFill>
                      <a:srgbClr val="F2E8DB"/>
                    </a:solidFill>
                  </a:tcPr>
                </a:tc>
                <a:tc>
                  <a:txBody>
                    <a:bodyPr wrap="square"/>
                    <a:lstStyle/>
                    <a:p>
                      <a:pPr algn="l"/>
                      <a:r>
                        <a:rPr sz="1300" b="0">
                          <a:solidFill>
                            <a:srgbClr val="3D3D3B"/>
                          </a:solidFill>
                          <a:latin typeface="Arial"/>
                        </a:rPr>
                        <a:t>Estimés sur les défauts observés</a:t>
                      </a:r>
                    </a:p>
                  </a:txBody>
                  <a:tcPr marL="91440" marR="91440" marT="36576" marB="36576" anchor="ctr">
                    <a:solidFill>
                      <a:srgbClr val="F2E8DB"/>
                    </a:solidFill>
                  </a:tcPr>
                </a:tc>
              </a:tr>
              <a:tr h="566928">
                <a:tc>
                  <a:txBody>
                    <a:bodyPr wrap="square"/>
                    <a:lstStyle/>
                    <a:p>
                      <a:pPr algn="l"/>
                      <a:r>
                        <a:rPr sz="1300" b="1">
                          <a:solidFill>
                            <a:srgbClr val="462016"/>
                          </a:solidFill>
                          <a:latin typeface="Arial"/>
                        </a:rPr>
                        <a:t>Probabilité de défaut</a:t>
                      </a:r>
                    </a:p>
                  </a:txBody>
                  <a:tcPr marL="91440" marR="91440" marT="36576" marB="36576" anchor="ctr">
                    <a:solidFill>
                      <a:srgbClr val="FBF6F0"/>
                    </a:solidFill>
                  </a:tcPr>
                </a:tc>
                <a:tc>
                  <a:txBody>
                    <a:bodyPr wrap="square"/>
                    <a:lstStyle/>
                    <a:p>
                      <a:pPr algn="l"/>
                      <a:r>
                        <a:rPr sz="1300" b="0">
                          <a:solidFill>
                            <a:srgbClr val="3D3D3B"/>
                          </a:solidFill>
                          <a:latin typeface="Arial"/>
                        </a:rPr>
                        <a:t>Non affichée (données simulées)</a:t>
                      </a:r>
                    </a:p>
                  </a:txBody>
                  <a:tcPr marL="91440" marR="91440" marT="36576" marB="36576" anchor="ctr">
                    <a:solidFill>
                      <a:srgbClr val="FBF6F0"/>
                    </a:solidFill>
                  </a:tcPr>
                </a:tc>
                <a:tc>
                  <a:txBody>
                    <a:bodyPr wrap="square"/>
                    <a:lstStyle/>
                    <a:p>
                      <a:pPr algn="l"/>
                      <a:r>
                        <a:rPr sz="1300" b="0">
                          <a:solidFill>
                            <a:srgbClr val="3D3D3B"/>
                          </a:solidFill>
                          <a:latin typeface="Arial"/>
                        </a:rPr>
                        <a:t>Calibrée sur la moyenne de long terme</a:t>
                      </a:r>
                    </a:p>
                  </a:txBody>
                  <a:tcPr marL="91440" marR="91440" marT="36576" marB="36576" anchor="ctr">
                    <a:solidFill>
                      <a:srgbClr val="FBF6F0"/>
                    </a:solidFill>
                  </a:tcPr>
                </a:tc>
              </a:tr>
              <a:tr h="566928">
                <a:tc>
                  <a:txBody>
                    <a:bodyPr wrap="square"/>
                    <a:lstStyle/>
                    <a:p>
                      <a:pPr algn="l"/>
                      <a:r>
                        <a:rPr sz="1300" b="1">
                          <a:solidFill>
                            <a:srgbClr val="462016"/>
                          </a:solidFill>
                          <a:latin typeface="Arial"/>
                        </a:rPr>
                        <a:t>Preuve de performance</a:t>
                      </a:r>
                    </a:p>
                  </a:txBody>
                  <a:tcPr marL="91440" marR="91440" marT="36576" marB="36576" anchor="ctr">
                    <a:solidFill>
                      <a:srgbClr val="F2E8DB"/>
                    </a:solidFill>
                  </a:tcPr>
                </a:tc>
                <a:tc>
                  <a:txBody>
                    <a:bodyPr wrap="square"/>
                    <a:lstStyle/>
                    <a:p>
                      <a:pPr algn="l"/>
                      <a:r>
                        <a:rPr sz="1300" b="0">
                          <a:solidFill>
                            <a:srgbClr val="3D3D3B"/>
                          </a:solidFill>
                          <a:latin typeface="Arial"/>
                        </a:rPr>
                        <a:t>Cohérence et tests de construction</a:t>
                      </a:r>
                    </a:p>
                  </a:txBody>
                  <a:tcPr marL="91440" marR="91440" marT="36576" marB="36576" anchor="ctr">
                    <a:solidFill>
                      <a:srgbClr val="F2E8DB"/>
                    </a:solidFill>
                  </a:tcPr>
                </a:tc>
                <a:tc>
                  <a:txBody>
                    <a:bodyPr wrap="square"/>
                    <a:lstStyle/>
                    <a:p>
                      <a:pPr algn="l"/>
                      <a:r>
                        <a:rPr sz="1300" b="0">
                          <a:solidFill>
                            <a:srgbClr val="3D3D3B"/>
                          </a:solidFill>
                          <a:latin typeface="Arial"/>
                        </a:rPr>
                        <a:t>Pouvoir discriminant mesuré, suivi annuel</a:t>
                      </a:r>
                    </a:p>
                  </a:txBody>
                  <a:tcPr marL="91440" marR="91440" marT="36576" marB="36576" anchor="ctr">
                    <a:solidFill>
                      <a:srgbClr val="F2E8DB"/>
                    </a:solidFill>
                  </a:tcPr>
                </a:tc>
              </a:tr>
              <a:tr h="566928">
                <a:tc>
                  <a:txBody>
                    <a:bodyPr wrap="square"/>
                    <a:lstStyle/>
                    <a:p>
                      <a:pPr algn="l"/>
                      <a:r>
                        <a:rPr sz="1300" b="1">
                          <a:solidFill>
                            <a:srgbClr val="462016"/>
                          </a:solidFill>
                          <a:latin typeface="Arial"/>
                        </a:rPr>
                        <a:t>Critères qualitatifs</a:t>
                      </a:r>
                    </a:p>
                  </a:txBody>
                  <a:tcPr marL="91440" marR="91440" marT="36576" marB="36576" anchor="ctr">
                    <a:solidFill>
                      <a:srgbClr val="FBF6F0"/>
                    </a:solidFill>
                  </a:tcPr>
                </a:tc>
                <a:tc>
                  <a:txBody>
                    <a:bodyPr wrap="square"/>
                    <a:lstStyle/>
                    <a:p>
                      <a:pPr algn="l"/>
                      <a:r>
                        <a:rPr sz="1300" b="0">
                          <a:solidFill>
                            <a:srgbClr val="3D3D3B"/>
                          </a:solidFill>
                          <a:latin typeface="Arial"/>
                        </a:rPr>
                        <a:t>Repères écrits, poids d'expert</a:t>
                      </a:r>
                    </a:p>
                  </a:txBody>
                  <a:tcPr marL="91440" marR="91440" marT="36576" marB="36576" anchor="ctr">
                    <a:solidFill>
                      <a:srgbClr val="FBF6F0"/>
                    </a:solidFill>
                  </a:tcPr>
                </a:tc>
                <a:tc>
                  <a:txBody>
                    <a:bodyPr wrap="square"/>
                    <a:lstStyle/>
                    <a:p>
                      <a:pPr algn="l"/>
                      <a:r>
                        <a:rPr sz="1300" b="0">
                          <a:solidFill>
                            <a:srgbClr val="3D3D3B"/>
                          </a:solidFill>
                          <a:latin typeface="Arial"/>
                        </a:rPr>
                        <a:t>Gardés si prédictifs, en module distinct</a:t>
                      </a:r>
                    </a:p>
                  </a:txBody>
                  <a:tcPr marL="91440" marR="91440" marT="36576" marB="36576" anchor="ctr">
                    <a:solidFill>
                      <a:srgbClr val="FBF6F0"/>
                    </a:solidFill>
                  </a:tcPr>
                </a:tc>
              </a:tr>
              <a:tr h="566928">
                <a:tc>
                  <a:txBody>
                    <a:bodyPr wrap="square"/>
                    <a:lstStyle/>
                    <a:p>
                      <a:pPr algn="l"/>
                      <a:r>
                        <a:rPr sz="1300" b="1">
                          <a:solidFill>
                            <a:srgbClr val="462016"/>
                          </a:solidFill>
                          <a:latin typeface="Arial"/>
                        </a:rPr>
                        <a:t>Données nécessaires</a:t>
                      </a:r>
                    </a:p>
                  </a:txBody>
                  <a:tcPr marL="91440" marR="91440" marT="36576" marB="36576" anchor="ctr">
                    <a:solidFill>
                      <a:srgbClr val="F2E8DB"/>
                    </a:solidFill>
                  </a:tcPr>
                </a:tc>
                <a:tc>
                  <a:txBody>
                    <a:bodyPr wrap="square"/>
                    <a:lstStyle/>
                    <a:p>
                      <a:pPr algn="l"/>
                      <a:r>
                        <a:rPr sz="1300" b="0">
                          <a:solidFill>
                            <a:srgbClr val="3D3D3B"/>
                          </a:solidFill>
                          <a:latin typeface="Arial"/>
                        </a:rPr>
                        <a:t>Le dossier du jour</a:t>
                      </a:r>
                    </a:p>
                  </a:txBody>
                  <a:tcPr marL="91440" marR="91440" marT="36576" marB="36576" anchor="ctr">
                    <a:solidFill>
                      <a:srgbClr val="F2E8DB"/>
                    </a:solidFill>
                  </a:tcPr>
                </a:tc>
                <a:tc>
                  <a:txBody>
                    <a:bodyPr wrap="square"/>
                    <a:lstStyle/>
                    <a:p>
                      <a:pPr algn="l"/>
                      <a:r>
                        <a:rPr sz="1300" b="0">
                          <a:solidFill>
                            <a:srgbClr val="3D3D3B"/>
                          </a:solidFill>
                          <a:latin typeface="Arial"/>
                        </a:rPr>
                        <a:t>5 à 7 ans d'historique et de défauts</a:t>
                      </a:r>
                    </a:p>
                  </a:txBody>
                  <a:tcPr marL="91440" marR="91440" marT="36576" marB="36576" anchor="ctr">
                    <a:solidFill>
                      <a:srgbClr val="F2E8DB"/>
                    </a:solidFill>
                  </a:tcPr>
                </a:tc>
              </a:tr>
              <a:tr h="566928">
                <a:tc>
                  <a:txBody>
                    <a:bodyPr wrap="square"/>
                    <a:lstStyle/>
                    <a:p>
                      <a:pPr algn="l"/>
                      <a:r>
                        <a:rPr sz="1300" b="1">
                          <a:solidFill>
                            <a:srgbClr val="462016"/>
                          </a:solidFill>
                          <a:latin typeface="Arial"/>
                        </a:rPr>
                        <a:t>Usage possible</a:t>
                      </a:r>
                    </a:p>
                  </a:txBody>
                  <a:tcPr marL="91440" marR="91440" marT="36576" marB="36576" anchor="ctr">
                    <a:solidFill>
                      <a:srgbClr val="FBF6F0"/>
                    </a:solidFill>
                  </a:tcPr>
                </a:tc>
                <a:tc>
                  <a:txBody>
                    <a:bodyPr wrap="square"/>
                    <a:lstStyle/>
                    <a:p>
                      <a:pPr algn="l"/>
                      <a:r>
                        <a:rPr sz="1300" b="0">
                          <a:solidFill>
                            <a:srgbClr val="3D3D3B"/>
                          </a:solidFill>
                          <a:latin typeface="Arial"/>
                        </a:rPr>
                        <a:t>Pilote, aide au jugement</a:t>
                      </a:r>
                    </a:p>
                  </a:txBody>
                  <a:tcPr marL="91440" marR="91440" marT="36576" marB="36576" anchor="ctr">
                    <a:solidFill>
                      <a:srgbClr val="FBF6F0"/>
                    </a:solidFill>
                  </a:tcPr>
                </a:tc>
                <a:tc>
                  <a:txBody>
                    <a:bodyPr wrap="square"/>
                    <a:lstStyle/>
                    <a:p>
                      <a:pPr algn="l"/>
                      <a:r>
                        <a:rPr sz="1300" b="0">
                          <a:solidFill>
                            <a:srgbClr val="3D3D3B"/>
                          </a:solidFill>
                          <a:latin typeface="Arial"/>
                        </a:rPr>
                        <a:t>Octroi, tarification, IFRS 9 après validation</a:t>
                      </a:r>
                    </a:p>
                  </a:txBody>
                  <a:tcPr marL="91440" marR="91440" marT="36576" marB="36576" anchor="ctr">
                    <a:solidFill>
                      <a:srgbClr val="FBF6F0"/>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LES QUATRE PRÉREQUIS</a:t>
            </a:r>
            <a:endParaRPr lang="en-US" sz="2400" dirty="0"/>
          </a:p>
        </p:txBody>
      </p:sp>
      <p:sp>
        <p:nvSpPr>
          <p:cNvPr id="4" name="controle-0"/>
          <p:cNvSpPr/>
          <p:nvPr/>
        </p:nvSpPr>
        <p:spPr>
          <a:xfrm>
            <a:off x="457200" y="1325880"/>
            <a:ext cx="5532120" cy="2240280"/>
          </a:xfrm>
          <a:prstGeom prst="roundRect">
            <a:avLst>
              <a:gd name="adj" fmla="val 4082"/>
            </a:avLst>
          </a:prstGeom>
          <a:solidFill>
            <a:srgbClr val="F2E8DB"/>
          </a:solidFill>
          <a:ln/>
        </p:spPr>
      </p:sp>
      <p:sp>
        <p:nvSpPr>
          <p:cNvPr id="5" name="rond-icone"/>
          <p:cNvSpPr/>
          <p:nvPr/>
        </p:nvSpPr>
        <p:spPr>
          <a:xfrm>
            <a:off x="777240" y="1691640"/>
            <a:ext cx="868680" cy="868680"/>
          </a:xfrm>
          <a:prstGeom prst="ellipse">
            <a:avLst/>
          </a:prstGeom>
          <a:solidFill>
            <a:srgbClr val="E37B05"/>
          </a:solidFill>
          <a:ln/>
        </p:spPr>
      </p:sp>
      <p:pic>
        <p:nvPicPr>
          <p:cNvPr id="26" name="icone" descr="ic-MdEventNote.png"/>
          <p:cNvPicPr>
            <a:picLocks noChangeAspect="1"/>
          </p:cNvPicPr>
          <p:nvPr/>
        </p:nvPicPr>
        <p:blipFill>
          <a:blip r:embed="rId6"/>
          <a:stretch>
            <a:fillRect/>
          </a:stretch>
        </p:blipFill>
        <p:spPr>
          <a:xfrm>
            <a:off x="950976" y="1865376"/>
            <a:ext cx="521208" cy="521208"/>
          </a:xfrm>
          <a:prstGeom prst="rect">
            <a:avLst/>
          </a:prstGeom>
        </p:spPr>
      </p:pic>
      <p:sp>
        <p:nvSpPr>
          <p:cNvPr id="7" name="Text 3"/>
          <p:cNvSpPr txBox="1"/>
          <p:nvPr/>
        </p:nvSpPr>
        <p:spPr>
          <a:xfrm>
            <a:off x="1920240" y="160020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UNE DÉFINITION DU DÉFAUT</a:t>
            </a:r>
            <a:endParaRPr lang="en-US" sz="1800" dirty="0"/>
          </a:p>
          <a:p>
            <a:pPr indent="0" marL="0">
              <a:spcAft>
                <a:spcPts val="600"/>
              </a:spcAft>
              <a:buNone/>
            </a:pPr>
            <a:r>
              <a:rPr lang="en-US" sz="1500" dirty="0">
                <a:solidFill>
                  <a:srgbClr val="3D3D3B"/>
                </a:solidFill>
              </a:rPr>
              <a:t>Impayé de plus de 90 jours, créance en souffrance au sens BAM, restructuration, procédure : stable sur toute la période.</a:t>
            </a:r>
            <a:endParaRPr lang="en-US" sz="1800" dirty="0"/>
          </a:p>
        </p:txBody>
      </p:sp>
      <p:sp>
        <p:nvSpPr>
          <p:cNvPr id="8" name="controle-1"/>
          <p:cNvSpPr/>
          <p:nvPr/>
        </p:nvSpPr>
        <p:spPr>
          <a:xfrm>
            <a:off x="6217920" y="1325880"/>
            <a:ext cx="5532120" cy="2240280"/>
          </a:xfrm>
          <a:prstGeom prst="roundRect">
            <a:avLst>
              <a:gd name="adj" fmla="val 4082"/>
            </a:avLst>
          </a:prstGeom>
          <a:solidFill>
            <a:srgbClr val="FBF6F0"/>
          </a:solidFill>
          <a:ln/>
        </p:spPr>
      </p:sp>
      <p:sp>
        <p:nvSpPr>
          <p:cNvPr id="9" name="rond-icone"/>
          <p:cNvSpPr/>
          <p:nvPr/>
        </p:nvSpPr>
        <p:spPr>
          <a:xfrm>
            <a:off x="6537960" y="1691640"/>
            <a:ext cx="868680" cy="868680"/>
          </a:xfrm>
          <a:prstGeom prst="ellipse">
            <a:avLst/>
          </a:prstGeom>
          <a:solidFill>
            <a:srgbClr val="E37B05"/>
          </a:solidFill>
          <a:ln/>
        </p:spPr>
      </p:sp>
      <p:pic>
        <p:nvPicPr>
          <p:cNvPr id="27" name="icone" descr="ic-MdStorage.png"/>
          <p:cNvPicPr>
            <a:picLocks noChangeAspect="1"/>
          </p:cNvPicPr>
          <p:nvPr/>
        </p:nvPicPr>
        <p:blipFill>
          <a:blip r:embed="rId7"/>
          <a:stretch>
            <a:fillRect/>
          </a:stretch>
        </p:blipFill>
        <p:spPr>
          <a:xfrm>
            <a:off x="6711696" y="1865376"/>
            <a:ext cx="521208" cy="521208"/>
          </a:xfrm>
          <a:prstGeom prst="rect">
            <a:avLst/>
          </a:prstGeom>
        </p:spPr>
      </p:pic>
      <p:sp>
        <p:nvSpPr>
          <p:cNvPr id="11" name="Text 6"/>
          <p:cNvSpPr txBox="1"/>
          <p:nvPr/>
        </p:nvSpPr>
        <p:spPr>
          <a:xfrm>
            <a:off x="7680960" y="160020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UN HISTORIQUE DE 5 À 7 ANS</a:t>
            </a:r>
            <a:endParaRPr lang="en-US" sz="1800" dirty="0"/>
          </a:p>
          <a:p>
            <a:pPr indent="0" marL="0">
              <a:spcAft>
                <a:spcPts val="600"/>
              </a:spcAft>
              <a:buNone/>
            </a:pPr>
            <a:r>
              <a:rPr lang="en-US" sz="1500" dirty="0">
                <a:solidFill>
                  <a:srgbClr val="3D3D3B"/>
                </a:solidFill>
              </a:rPr>
              <a:t>Pour chaque entreprise et chaque arrêté : comptes, comportement du compte, secteur, puis défaut ou non à 12 mois.</a:t>
            </a:r>
            <a:endParaRPr lang="en-US" sz="1800" dirty="0"/>
          </a:p>
        </p:txBody>
      </p:sp>
      <p:sp>
        <p:nvSpPr>
          <p:cNvPr id="12" name="controle-2"/>
          <p:cNvSpPr/>
          <p:nvPr/>
        </p:nvSpPr>
        <p:spPr>
          <a:xfrm>
            <a:off x="457200" y="3794760"/>
            <a:ext cx="5532120" cy="2240280"/>
          </a:xfrm>
          <a:prstGeom prst="roundRect">
            <a:avLst>
              <a:gd name="adj" fmla="val 4082"/>
            </a:avLst>
          </a:prstGeom>
          <a:solidFill>
            <a:srgbClr val="FBF6F0"/>
          </a:solidFill>
          <a:ln/>
        </p:spPr>
      </p:sp>
      <p:sp>
        <p:nvSpPr>
          <p:cNvPr id="13" name="rond-icone"/>
          <p:cNvSpPr/>
          <p:nvPr/>
        </p:nvSpPr>
        <p:spPr>
          <a:xfrm>
            <a:off x="777240" y="4160520"/>
            <a:ext cx="868680" cy="868680"/>
          </a:xfrm>
          <a:prstGeom prst="ellipse">
            <a:avLst/>
          </a:prstGeom>
          <a:solidFill>
            <a:srgbClr val="8C5B52"/>
          </a:solidFill>
          <a:ln/>
        </p:spPr>
      </p:sp>
      <p:pic>
        <p:nvPicPr>
          <p:cNvPr id="28" name="icone" descr="ic-MdInsertChart.png"/>
          <p:cNvPicPr>
            <a:picLocks noChangeAspect="1"/>
          </p:cNvPicPr>
          <p:nvPr/>
        </p:nvPicPr>
        <p:blipFill>
          <a:blip r:embed="rId8"/>
          <a:stretch>
            <a:fillRect/>
          </a:stretch>
        </p:blipFill>
        <p:spPr>
          <a:xfrm>
            <a:off x="950976" y="4334256"/>
            <a:ext cx="521208" cy="521208"/>
          </a:xfrm>
          <a:prstGeom prst="rect">
            <a:avLst/>
          </a:prstGeom>
        </p:spPr>
      </p:pic>
      <p:sp>
        <p:nvSpPr>
          <p:cNvPr id="15" name="Text 9"/>
          <p:cNvSpPr txBox="1"/>
          <p:nvPr/>
        </p:nvSpPr>
        <p:spPr>
          <a:xfrm>
            <a:off x="1920240" y="406908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ASSEZ DE DÉFAUTS</a:t>
            </a:r>
            <a:endParaRPr lang="en-US" sz="1800" dirty="0"/>
          </a:p>
          <a:p>
            <a:pPr indent="0" marL="0">
              <a:spcAft>
                <a:spcPts val="600"/>
              </a:spcAft>
              <a:buNone/>
            </a:pPr>
            <a:r>
              <a:rPr lang="en-US" sz="1500" dirty="0">
                <a:solidFill>
                  <a:srgbClr val="3D3D3B"/>
                </a:solidFill>
              </a:rPr>
              <a:t>Quelques centaines par segment. Probablement atteint en PME et TPE ; insuffisant en GE, qui demande des méthodes adaptées.</a:t>
            </a:r>
            <a:endParaRPr lang="en-US" sz="1800" dirty="0"/>
          </a:p>
        </p:txBody>
      </p:sp>
      <p:sp>
        <p:nvSpPr>
          <p:cNvPr id="16" name="controle-3"/>
          <p:cNvSpPr/>
          <p:nvPr/>
        </p:nvSpPr>
        <p:spPr>
          <a:xfrm>
            <a:off x="6217920" y="3794760"/>
            <a:ext cx="5532120" cy="2240280"/>
          </a:xfrm>
          <a:prstGeom prst="roundRect">
            <a:avLst>
              <a:gd name="adj" fmla="val 4082"/>
            </a:avLst>
          </a:prstGeom>
          <a:solidFill>
            <a:srgbClr val="F2E8DB"/>
          </a:solidFill>
          <a:ln/>
        </p:spPr>
      </p:sp>
      <p:sp>
        <p:nvSpPr>
          <p:cNvPr id="17" name="rond-icone"/>
          <p:cNvSpPr/>
          <p:nvPr/>
        </p:nvSpPr>
        <p:spPr>
          <a:xfrm>
            <a:off x="6537960" y="4160520"/>
            <a:ext cx="868680" cy="868680"/>
          </a:xfrm>
          <a:prstGeom prst="ellipse">
            <a:avLst/>
          </a:prstGeom>
          <a:solidFill>
            <a:srgbClr val="8C5B52"/>
          </a:solidFill>
          <a:ln/>
        </p:spPr>
      </p:sp>
      <p:pic>
        <p:nvPicPr>
          <p:cNvPr id="29" name="icone" descr="ic-MdFactCheck.png"/>
          <p:cNvPicPr>
            <a:picLocks noChangeAspect="1"/>
          </p:cNvPicPr>
          <p:nvPr/>
        </p:nvPicPr>
        <p:blipFill>
          <a:blip r:embed="rId9"/>
          <a:stretch>
            <a:fillRect/>
          </a:stretch>
        </p:blipFill>
        <p:spPr>
          <a:xfrm>
            <a:off x="6711696" y="4334256"/>
            <a:ext cx="521208" cy="521208"/>
          </a:xfrm>
          <a:prstGeom prst="rect">
            <a:avLst/>
          </a:prstGeom>
        </p:spPr>
      </p:pic>
      <p:sp>
        <p:nvSpPr>
          <p:cNvPr id="19" name="Text 12"/>
          <p:cNvSpPr txBox="1"/>
          <p:nvPr/>
        </p:nvSpPr>
        <p:spPr>
          <a:xfrm>
            <a:off x="7680960" y="406908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DES DONNÉES TRAÇABLES</a:t>
            </a:r>
            <a:endParaRPr lang="en-US" sz="1800" dirty="0"/>
          </a:p>
          <a:p>
            <a:pPr indent="0" marL="0">
              <a:spcAft>
                <a:spcPts val="600"/>
              </a:spcAft>
              <a:buNone/>
            </a:pPr>
            <a:r>
              <a:rPr lang="en-US" sz="1500" dirty="0">
                <a:solidFill>
                  <a:srgbClr val="3D3D3B"/>
                </a:solidFill>
              </a:rPr>
              <a:t>Comptes datés et rapprochés, mêmes définitions de ratios ; l'outil enregistre déjà chaque notation de façon rejouable.</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LES GRANDES ÉTAPES</a:t>
            </a:r>
            <a:endParaRPr lang="en-US" sz="2400" dirty="0"/>
          </a:p>
        </p:txBody>
      </p:sp>
      <p:sp>
        <p:nvSpPr>
          <p:cNvPr id="4" name="etape-1"/>
          <p:cNvSpPr/>
          <p:nvPr/>
        </p:nvSpPr>
        <p:spPr>
          <a:xfrm>
            <a:off x="457200" y="1417320"/>
            <a:ext cx="2240280" cy="1051560"/>
          </a:xfrm>
          <a:prstGeom prst="chevron">
            <a:avLst/>
          </a:prstGeom>
          <a:solidFill>
            <a:srgbClr val="E37B05"/>
          </a:solidFill>
          <a:ln/>
        </p:spPr>
      </p:sp>
      <p:sp>
        <p:nvSpPr>
          <p:cNvPr id="5" name="Text 2"/>
          <p:cNvSpPr txBox="1"/>
          <p:nvPr/>
        </p:nvSpPr>
        <p:spPr>
          <a:xfrm>
            <a:off x="868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1</a:t>
            </a:r>
            <a:endParaRPr lang="en-US" sz="2800" dirty="0"/>
          </a:p>
        </p:txBody>
      </p:sp>
      <p:sp>
        <p:nvSpPr>
          <p:cNvPr id="6" name="Text 3"/>
          <p:cNvSpPr txBox="1"/>
          <p:nvPr/>
        </p:nvSpPr>
        <p:spPr>
          <a:xfrm>
            <a:off x="548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Définir le défaut</a:t>
            </a:r>
            <a:endParaRPr lang="en-US" sz="1500" dirty="0"/>
          </a:p>
          <a:p>
            <a:pPr algn="ctr" indent="0" marL="0">
              <a:buNone/>
            </a:pPr>
            <a:r>
              <a:rPr lang="en-US" sz="1500" dirty="0">
                <a:solidFill>
                  <a:srgbClr val="8C5B52"/>
                </a:solidFill>
              </a:rPr>
              <a:t>Risques, Conformité</a:t>
            </a:r>
            <a:endParaRPr lang="en-US" sz="1500" dirty="0"/>
          </a:p>
        </p:txBody>
      </p:sp>
      <p:sp>
        <p:nvSpPr>
          <p:cNvPr id="7" name="etape-2"/>
          <p:cNvSpPr/>
          <p:nvPr/>
        </p:nvSpPr>
        <p:spPr>
          <a:xfrm>
            <a:off x="2743200" y="1417320"/>
            <a:ext cx="2240280" cy="1051560"/>
          </a:xfrm>
          <a:prstGeom prst="chevron">
            <a:avLst/>
          </a:prstGeom>
          <a:solidFill>
            <a:srgbClr val="E37B05"/>
          </a:solidFill>
          <a:ln/>
        </p:spPr>
      </p:sp>
      <p:sp>
        <p:nvSpPr>
          <p:cNvPr id="8" name="Text 5"/>
          <p:cNvSpPr txBox="1"/>
          <p:nvPr/>
        </p:nvSpPr>
        <p:spPr>
          <a:xfrm>
            <a:off x="3154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2</a:t>
            </a:r>
            <a:endParaRPr lang="en-US" sz="2800" dirty="0"/>
          </a:p>
        </p:txBody>
      </p:sp>
      <p:sp>
        <p:nvSpPr>
          <p:cNvPr id="9" name="Text 6"/>
          <p:cNvSpPr txBox="1"/>
          <p:nvPr/>
        </p:nvSpPr>
        <p:spPr>
          <a:xfrm>
            <a:off x="2834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Extraire l'historique</a:t>
            </a:r>
            <a:endParaRPr lang="en-US" sz="1500" dirty="0"/>
          </a:p>
          <a:p>
            <a:pPr algn="ctr" indent="0" marL="0">
              <a:buNone/>
            </a:pPr>
            <a:r>
              <a:rPr lang="en-US" sz="1500" dirty="0">
                <a:solidFill>
                  <a:srgbClr val="8C5B52"/>
                </a:solidFill>
              </a:rPr>
              <a:t>5 à 7 ans</a:t>
            </a:r>
            <a:endParaRPr lang="en-US" sz="1500" dirty="0"/>
          </a:p>
        </p:txBody>
      </p:sp>
      <p:sp>
        <p:nvSpPr>
          <p:cNvPr id="10" name="etape-3"/>
          <p:cNvSpPr/>
          <p:nvPr/>
        </p:nvSpPr>
        <p:spPr>
          <a:xfrm>
            <a:off x="5029200" y="1417320"/>
            <a:ext cx="2240280" cy="1051560"/>
          </a:xfrm>
          <a:prstGeom prst="chevron">
            <a:avLst/>
          </a:prstGeom>
          <a:solidFill>
            <a:srgbClr val="E37B05"/>
          </a:solidFill>
          <a:ln/>
        </p:spPr>
      </p:sp>
      <p:sp>
        <p:nvSpPr>
          <p:cNvPr id="11" name="Text 8"/>
          <p:cNvSpPr txBox="1"/>
          <p:nvPr/>
        </p:nvSpPr>
        <p:spPr>
          <a:xfrm>
            <a:off x="5440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3</a:t>
            </a:r>
            <a:endParaRPr lang="en-US" sz="2800" dirty="0"/>
          </a:p>
        </p:txBody>
      </p:sp>
      <p:sp>
        <p:nvSpPr>
          <p:cNvPr id="12" name="Text 9"/>
          <p:cNvSpPr txBox="1"/>
          <p:nvPr/>
        </p:nvSpPr>
        <p:spPr>
          <a:xfrm>
            <a:off x="5120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Qualifier les données</a:t>
            </a:r>
            <a:endParaRPr lang="en-US" sz="1500" dirty="0"/>
          </a:p>
          <a:p>
            <a:pPr algn="ctr" indent="0" marL="0">
              <a:buNone/>
            </a:pPr>
            <a:r>
              <a:rPr lang="en-US" sz="1500" dirty="0">
                <a:solidFill>
                  <a:srgbClr val="8C5B52"/>
                </a:solidFill>
              </a:rPr>
              <a:t>rapprochements, exclusions</a:t>
            </a:r>
            <a:endParaRPr lang="en-US" sz="1500" dirty="0"/>
          </a:p>
        </p:txBody>
      </p:sp>
      <p:sp>
        <p:nvSpPr>
          <p:cNvPr id="13" name="etape-4"/>
          <p:cNvSpPr/>
          <p:nvPr/>
        </p:nvSpPr>
        <p:spPr>
          <a:xfrm>
            <a:off x="7315200" y="1417320"/>
            <a:ext cx="2240280" cy="1051560"/>
          </a:xfrm>
          <a:prstGeom prst="chevron">
            <a:avLst/>
          </a:prstGeom>
          <a:solidFill>
            <a:srgbClr val="E37B05"/>
          </a:solidFill>
          <a:ln/>
        </p:spPr>
      </p:sp>
      <p:sp>
        <p:nvSpPr>
          <p:cNvPr id="14" name="Text 11"/>
          <p:cNvSpPr txBox="1"/>
          <p:nvPr/>
        </p:nvSpPr>
        <p:spPr>
          <a:xfrm>
            <a:off x="7726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4</a:t>
            </a:r>
            <a:endParaRPr lang="en-US" sz="2800" dirty="0"/>
          </a:p>
        </p:txBody>
      </p:sp>
      <p:sp>
        <p:nvSpPr>
          <p:cNvPr id="15" name="Text 12"/>
          <p:cNvSpPr txBox="1"/>
          <p:nvPr/>
        </p:nvSpPr>
        <p:spPr>
          <a:xfrm>
            <a:off x="7406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Construire les échantillons</a:t>
            </a:r>
            <a:endParaRPr lang="en-US" sz="1500" dirty="0"/>
          </a:p>
          <a:p>
            <a:pPr algn="ctr" indent="0" marL="0">
              <a:buNone/>
            </a:pPr>
            <a:r>
              <a:rPr lang="en-US" sz="1500" dirty="0">
                <a:solidFill>
                  <a:srgbClr val="8C5B52"/>
                </a:solidFill>
              </a:rPr>
              <a:t>développement, test, récent</a:t>
            </a:r>
            <a:endParaRPr lang="en-US" sz="1500" dirty="0"/>
          </a:p>
        </p:txBody>
      </p:sp>
      <p:sp>
        <p:nvSpPr>
          <p:cNvPr id="16" name="etape-5"/>
          <p:cNvSpPr/>
          <p:nvPr/>
        </p:nvSpPr>
        <p:spPr>
          <a:xfrm>
            <a:off x="9601200" y="1417320"/>
            <a:ext cx="2240280" cy="1051560"/>
          </a:xfrm>
          <a:prstGeom prst="chevron">
            <a:avLst/>
          </a:prstGeom>
          <a:solidFill>
            <a:srgbClr val="E37B05"/>
          </a:solidFill>
          <a:ln/>
        </p:spPr>
      </p:sp>
      <p:sp>
        <p:nvSpPr>
          <p:cNvPr id="17" name="Text 14"/>
          <p:cNvSpPr txBox="1"/>
          <p:nvPr/>
        </p:nvSpPr>
        <p:spPr>
          <a:xfrm>
            <a:off x="10012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5</a:t>
            </a:r>
            <a:endParaRPr lang="en-US" sz="2800" dirty="0"/>
          </a:p>
        </p:txBody>
      </p:sp>
      <p:sp>
        <p:nvSpPr>
          <p:cNvPr id="18" name="Text 15"/>
          <p:cNvSpPr txBox="1"/>
          <p:nvPr/>
        </p:nvSpPr>
        <p:spPr>
          <a:xfrm>
            <a:off x="9692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Analyser chaque critère</a:t>
            </a:r>
            <a:endParaRPr lang="en-US" sz="1500" dirty="0"/>
          </a:p>
          <a:p>
            <a:pPr algn="ctr" indent="0" marL="0">
              <a:buNone/>
            </a:pPr>
            <a:r>
              <a:rPr lang="en-US" sz="1500" dirty="0">
                <a:solidFill>
                  <a:srgbClr val="8C5B52"/>
                </a:solidFill>
              </a:rPr>
              <a:t>pouvoir, sens, classes</a:t>
            </a:r>
            <a:endParaRPr lang="en-US" sz="1500" dirty="0"/>
          </a:p>
        </p:txBody>
      </p:sp>
      <p:sp>
        <p:nvSpPr>
          <p:cNvPr id="19" name="etape-6"/>
          <p:cNvSpPr/>
          <p:nvPr/>
        </p:nvSpPr>
        <p:spPr>
          <a:xfrm>
            <a:off x="457200" y="3749040"/>
            <a:ext cx="2240280" cy="1051560"/>
          </a:xfrm>
          <a:prstGeom prst="chevron">
            <a:avLst/>
          </a:prstGeom>
          <a:solidFill>
            <a:srgbClr val="8C5B52"/>
          </a:solidFill>
          <a:ln/>
        </p:spPr>
      </p:sp>
      <p:sp>
        <p:nvSpPr>
          <p:cNvPr id="20" name="Text 17"/>
          <p:cNvSpPr txBox="1"/>
          <p:nvPr/>
        </p:nvSpPr>
        <p:spPr>
          <a:xfrm>
            <a:off x="868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6</a:t>
            </a:r>
            <a:endParaRPr lang="en-US" sz="2800" dirty="0"/>
          </a:p>
        </p:txBody>
      </p:sp>
      <p:sp>
        <p:nvSpPr>
          <p:cNvPr id="21" name="Text 18"/>
          <p:cNvSpPr txBox="1"/>
          <p:nvPr/>
        </p:nvSpPr>
        <p:spPr>
          <a:xfrm>
            <a:off x="548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Estimer le modèle</a:t>
            </a:r>
            <a:endParaRPr lang="en-US" sz="1500" dirty="0"/>
          </a:p>
          <a:p>
            <a:pPr algn="ctr" indent="0" marL="0">
              <a:buNone/>
            </a:pPr>
            <a:r>
              <a:rPr lang="en-US" sz="1500" dirty="0">
                <a:solidFill>
                  <a:srgbClr val="8C5B52"/>
                </a:solidFill>
              </a:rPr>
              <a:t>régression logistique</a:t>
            </a:r>
            <a:endParaRPr lang="en-US" sz="1500" dirty="0"/>
          </a:p>
        </p:txBody>
      </p:sp>
      <p:sp>
        <p:nvSpPr>
          <p:cNvPr id="22" name="etape-7"/>
          <p:cNvSpPr/>
          <p:nvPr/>
        </p:nvSpPr>
        <p:spPr>
          <a:xfrm>
            <a:off x="2743200" y="3749040"/>
            <a:ext cx="2240280" cy="1051560"/>
          </a:xfrm>
          <a:prstGeom prst="chevron">
            <a:avLst/>
          </a:prstGeom>
          <a:solidFill>
            <a:srgbClr val="8C5B52"/>
          </a:solidFill>
          <a:ln/>
        </p:spPr>
      </p:sp>
      <p:sp>
        <p:nvSpPr>
          <p:cNvPr id="23" name="Text 20"/>
          <p:cNvSpPr txBox="1"/>
          <p:nvPr/>
        </p:nvSpPr>
        <p:spPr>
          <a:xfrm>
            <a:off x="3154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7</a:t>
            </a:r>
            <a:endParaRPr lang="en-US" sz="2800" dirty="0"/>
          </a:p>
        </p:txBody>
      </p:sp>
      <p:sp>
        <p:nvSpPr>
          <p:cNvPr id="24" name="Text 21"/>
          <p:cNvSpPr txBox="1"/>
          <p:nvPr/>
        </p:nvSpPr>
        <p:spPr>
          <a:xfrm>
            <a:off x="2834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Intégrer le qualitatif</a:t>
            </a:r>
            <a:endParaRPr lang="en-US" sz="1500" dirty="0"/>
          </a:p>
          <a:p>
            <a:pPr algn="ctr" indent="0" marL="0">
              <a:buNone/>
            </a:pPr>
            <a:r>
              <a:rPr lang="en-US" sz="1500" dirty="0">
                <a:solidFill>
                  <a:srgbClr val="8C5B52"/>
                </a:solidFill>
              </a:rPr>
              <a:t>module distinct</a:t>
            </a:r>
            <a:endParaRPr lang="en-US" sz="1500" dirty="0"/>
          </a:p>
        </p:txBody>
      </p:sp>
      <p:sp>
        <p:nvSpPr>
          <p:cNvPr id="25" name="etape-8"/>
          <p:cNvSpPr/>
          <p:nvPr/>
        </p:nvSpPr>
        <p:spPr>
          <a:xfrm>
            <a:off x="5029200" y="3749040"/>
            <a:ext cx="2240280" cy="1051560"/>
          </a:xfrm>
          <a:prstGeom prst="chevron">
            <a:avLst/>
          </a:prstGeom>
          <a:solidFill>
            <a:srgbClr val="8C5B52"/>
          </a:solidFill>
          <a:ln/>
        </p:spPr>
      </p:sp>
      <p:sp>
        <p:nvSpPr>
          <p:cNvPr id="26" name="Text 23"/>
          <p:cNvSpPr txBox="1"/>
          <p:nvPr/>
        </p:nvSpPr>
        <p:spPr>
          <a:xfrm>
            <a:off x="5440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8</a:t>
            </a:r>
            <a:endParaRPr lang="en-US" sz="2800" dirty="0"/>
          </a:p>
        </p:txBody>
      </p:sp>
      <p:sp>
        <p:nvSpPr>
          <p:cNvPr id="27" name="Text 24"/>
          <p:cNvSpPr txBox="1"/>
          <p:nvPr/>
        </p:nvSpPr>
        <p:spPr>
          <a:xfrm>
            <a:off x="5120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Calibrer les PD</a:t>
            </a:r>
            <a:endParaRPr lang="en-US" sz="1500" dirty="0"/>
          </a:p>
          <a:p>
            <a:pPr algn="ctr" indent="0" marL="0">
              <a:buNone/>
            </a:pPr>
            <a:r>
              <a:rPr lang="en-US" sz="1500" dirty="0">
                <a:solidFill>
                  <a:srgbClr val="8C5B52"/>
                </a:solidFill>
              </a:rPr>
              <a:t>long terme + prudence</a:t>
            </a:r>
            <a:endParaRPr lang="en-US" sz="1500" dirty="0"/>
          </a:p>
        </p:txBody>
      </p:sp>
      <p:sp>
        <p:nvSpPr>
          <p:cNvPr id="28" name="etape-9"/>
          <p:cNvSpPr/>
          <p:nvPr/>
        </p:nvSpPr>
        <p:spPr>
          <a:xfrm>
            <a:off x="7315200" y="3749040"/>
            <a:ext cx="2240280" cy="1051560"/>
          </a:xfrm>
          <a:prstGeom prst="chevron">
            <a:avLst/>
          </a:prstGeom>
          <a:solidFill>
            <a:srgbClr val="8C5B52"/>
          </a:solidFill>
          <a:ln/>
        </p:spPr>
      </p:sp>
      <p:sp>
        <p:nvSpPr>
          <p:cNvPr id="29" name="Text 26"/>
          <p:cNvSpPr txBox="1"/>
          <p:nvPr/>
        </p:nvSpPr>
        <p:spPr>
          <a:xfrm>
            <a:off x="7726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9</a:t>
            </a:r>
            <a:endParaRPr lang="en-US" sz="2800" dirty="0"/>
          </a:p>
        </p:txBody>
      </p:sp>
      <p:sp>
        <p:nvSpPr>
          <p:cNvPr id="30" name="Text 27"/>
          <p:cNvSpPr txBox="1"/>
          <p:nvPr/>
        </p:nvSpPr>
        <p:spPr>
          <a:xfrm>
            <a:off x="7406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Valider</a:t>
            </a:r>
            <a:endParaRPr lang="en-US" sz="1500" dirty="0"/>
          </a:p>
          <a:p>
            <a:pPr algn="ctr" indent="0" marL="0">
              <a:buNone/>
            </a:pPr>
            <a:r>
              <a:rPr lang="en-US" sz="1500" dirty="0">
                <a:solidFill>
                  <a:srgbClr val="8C5B52"/>
                </a:solidFill>
              </a:rPr>
              <a:t>fonction indépendante</a:t>
            </a:r>
            <a:endParaRPr lang="en-US" sz="1500" dirty="0"/>
          </a:p>
        </p:txBody>
      </p:sp>
      <p:sp>
        <p:nvSpPr>
          <p:cNvPr id="31" name="etape-10"/>
          <p:cNvSpPr/>
          <p:nvPr/>
        </p:nvSpPr>
        <p:spPr>
          <a:xfrm>
            <a:off x="9601200" y="3749040"/>
            <a:ext cx="2240280" cy="1051560"/>
          </a:xfrm>
          <a:prstGeom prst="chevron">
            <a:avLst/>
          </a:prstGeom>
          <a:solidFill>
            <a:srgbClr val="8C5B52"/>
          </a:solidFill>
          <a:ln/>
        </p:spPr>
      </p:sp>
      <p:sp>
        <p:nvSpPr>
          <p:cNvPr id="32" name="Text 29"/>
          <p:cNvSpPr txBox="1"/>
          <p:nvPr/>
        </p:nvSpPr>
        <p:spPr>
          <a:xfrm>
            <a:off x="10012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10</a:t>
            </a:r>
            <a:endParaRPr lang="en-US" sz="2800" dirty="0"/>
          </a:p>
        </p:txBody>
      </p:sp>
      <p:sp>
        <p:nvSpPr>
          <p:cNvPr id="33" name="Text 30"/>
          <p:cNvSpPr txBox="1"/>
          <p:nvPr/>
        </p:nvSpPr>
        <p:spPr>
          <a:xfrm>
            <a:off x="9692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Mettre en production</a:t>
            </a:r>
            <a:endParaRPr lang="en-US" sz="1500" dirty="0"/>
          </a:p>
          <a:p>
            <a:pPr algn="ctr" indent="0" marL="0">
              <a:buNone/>
            </a:pPr>
            <a:r>
              <a:rPr lang="en-US" sz="1500" dirty="0">
                <a:solidFill>
                  <a:srgbClr val="8C5B52"/>
                </a:solidFill>
              </a:rPr>
              <a:t>en parallèle d'abord</a:t>
            </a:r>
            <a:endParaRPr lang="en-US" sz="1500" dirty="0"/>
          </a:p>
        </p:txBody>
      </p:sp>
      <p:sp>
        <p:nvSpPr>
          <p:cNvPr id="34" name="Text 31"/>
          <p:cNvSpPr txBox="1"/>
          <p:nvPr/>
        </p:nvSpPr>
        <p:spPr>
          <a:xfrm>
            <a:off x="457200" y="5989320"/>
            <a:ext cx="11320272" cy="365760"/>
          </a:xfrm>
          <a:prstGeom prst="rect">
            <a:avLst/>
          </a:prstGeom>
          <a:noFill/>
          <a:ln/>
        </p:spPr>
        <p:txBody>
          <a:bodyPr wrap="square" lIns="0" tIns="0" rIns="0" bIns="0" rtlCol="0" anchor="ctr"/>
          <a:lstStyle/>
          <a:p>
            <a:pPr indent="0" marL="0">
              <a:buNone/>
            </a:pPr>
            <a:r>
              <a:rPr lang="en-US" sz="1400" i="1" dirty="0">
                <a:solidFill>
                  <a:srgbClr val="8C5B52"/>
                </a:solidFill>
              </a:rPr>
              <a:t>Étapes 1 à 4 : les données, l'essentiel de l'effort. Étapes 5 à 8 : la modélisation. Étapes 9 et 10 : la gouvernance.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LA MÉTHODE RECOMMANDÉE</a:t>
            </a:r>
            <a:endParaRPr lang="en-US" sz="2400" dirty="0"/>
          </a:p>
        </p:txBody>
      </p:sp>
      <p:sp>
        <p:nvSpPr>
          <p:cNvPr id="4" name="pourquoi-0"/>
          <p:cNvSpPr/>
          <p:nvPr/>
        </p:nvSpPr>
        <p:spPr>
          <a:xfrm>
            <a:off x="457200" y="1280160"/>
            <a:ext cx="3639312" cy="4206240"/>
          </a:xfrm>
          <a:prstGeom prst="roundRect">
            <a:avLst>
              <a:gd name="adj" fmla="val 2513"/>
            </a:avLst>
          </a:prstGeom>
          <a:solidFill>
            <a:srgbClr val="FFFFFF"/>
          </a:solidFill>
          <a:ln w="12700">
            <a:solidFill>
              <a:srgbClr val="E5D9CC"/>
            </a:solidFill>
            <a:prstDash val="solid"/>
          </a:ln>
          <a:effectLst>
            <a:outerShdw sx="100000" sy="100000" kx="0" ky="0" algn="bl" rotWithShape="0" blurRad="76200" dist="25400" dir="5400000">
              <a:srgbClr val="000000">
                <a:alpha val="12000"/>
              </a:srgbClr>
            </a:outerShdw>
          </a:effectLst>
        </p:spPr>
      </p:sp>
      <p:sp>
        <p:nvSpPr>
          <p:cNvPr id="5" name="rond-icone"/>
          <p:cNvSpPr/>
          <p:nvPr/>
        </p:nvSpPr>
        <p:spPr>
          <a:xfrm>
            <a:off x="731520" y="1554480"/>
            <a:ext cx="822960" cy="822960"/>
          </a:xfrm>
          <a:prstGeom prst="ellipse">
            <a:avLst/>
          </a:prstGeom>
          <a:solidFill>
            <a:srgbClr val="E37B05"/>
          </a:solidFill>
          <a:ln/>
        </p:spPr>
      </p:sp>
      <p:pic>
        <p:nvPicPr>
          <p:cNvPr id="26" name="icone" descr="ic-MdFunctions.png"/>
          <p:cNvPicPr>
            <a:picLocks noChangeAspect="1"/>
          </p:cNvPicPr>
          <p:nvPr/>
        </p:nvPicPr>
        <p:blipFill>
          <a:blip r:embed="rId5"/>
          <a:stretch>
            <a:fillRect/>
          </a:stretch>
        </p:blipFill>
        <p:spPr>
          <a:xfrm>
            <a:off x="896112" y="1719072"/>
            <a:ext cx="493776" cy="493776"/>
          </a:xfrm>
          <a:prstGeom prst="rect">
            <a:avLst/>
          </a:prstGeom>
        </p:spPr>
      </p:pic>
      <p:sp>
        <p:nvSpPr>
          <p:cNvPr id="7" name="Text 3"/>
          <p:cNvSpPr txBox="1"/>
          <p:nvPr/>
        </p:nvSpPr>
        <p:spPr>
          <a:xfrm>
            <a:off x="731520" y="2560320"/>
            <a:ext cx="3108960" cy="731520"/>
          </a:xfrm>
          <a:prstGeom prst="rect">
            <a:avLst/>
          </a:prstGeom>
          <a:noFill/>
          <a:ln/>
        </p:spPr>
        <p:txBody>
          <a:bodyPr wrap="square" lIns="0" tIns="0" rIns="0" bIns="0" rtlCol="0" anchor="t"/>
          <a:lstStyle/>
          <a:p>
            <a:pPr indent="0" marL="0">
              <a:buNone/>
            </a:pPr>
            <a:r>
              <a:rPr lang="en-US" sz="1800" b="1" dirty="0">
                <a:solidFill>
                  <a:srgbClr val="462016"/>
                </a:solidFill>
              </a:rPr>
              <a:t>GRILLE DE SCORE</a:t>
            </a:r>
            <a:endParaRPr lang="en-US" sz="1800" dirty="0"/>
          </a:p>
        </p:txBody>
      </p:sp>
      <p:sp>
        <p:nvSpPr>
          <p:cNvPr id="8" name="Text 4"/>
          <p:cNvSpPr txBox="1"/>
          <p:nvPr/>
        </p:nvSpPr>
        <p:spPr>
          <a:xfrm>
            <a:off x="731520" y="3337560"/>
            <a:ext cx="31546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D3D3B"/>
                </a:solidFill>
              </a:rPr>
              <a:t>Régression logistique sur les ratios et le compte</a:t>
            </a:r>
            <a:endParaRPr lang="en-US" sz="1500" dirty="0"/>
          </a:p>
          <a:p>
            <a:pPr marL="342900" indent="-342900">
              <a:spcAft>
                <a:spcPts val="800"/>
              </a:spcAft>
              <a:buSzPct val="100000"/>
              <a:buChar char="•"/>
            </a:pPr>
            <a:r>
              <a:rPr lang="en-US" sz="1500" dirty="0">
                <a:solidFill>
                  <a:srgbClr val="3D3D3B"/>
                </a:solidFill>
              </a:rPr>
              <a:t>Classes de valeurs, risque monotone</a:t>
            </a:r>
            <a:endParaRPr lang="en-US" sz="1500" dirty="0"/>
          </a:p>
          <a:p>
            <a:pPr marL="342900" indent="-342900">
              <a:spcAft>
                <a:spcPts val="800"/>
              </a:spcAft>
              <a:buSzPct val="100000"/>
              <a:buChar char="•"/>
            </a:pPr>
            <a:r>
              <a:rPr lang="en-US" sz="1500" dirty="0">
                <a:solidFill>
                  <a:srgbClr val="3D3D3B"/>
                </a:solidFill>
              </a:rPr>
              <a:t>Lisible : des points par classe, comme aujourd'hui</a:t>
            </a:r>
            <a:endParaRPr lang="en-US" sz="1500" dirty="0"/>
          </a:p>
        </p:txBody>
      </p:sp>
      <p:sp>
        <p:nvSpPr>
          <p:cNvPr id="9" name="pourquoi-1"/>
          <p:cNvSpPr/>
          <p:nvPr/>
        </p:nvSpPr>
        <p:spPr>
          <a:xfrm>
            <a:off x="4279392" y="1280160"/>
            <a:ext cx="3639312" cy="4206240"/>
          </a:xfrm>
          <a:prstGeom prst="roundRect">
            <a:avLst>
              <a:gd name="adj" fmla="val 2513"/>
            </a:avLst>
          </a:prstGeom>
          <a:solidFill>
            <a:srgbClr val="FFFFFF"/>
          </a:solidFill>
          <a:ln w="12700">
            <a:solidFill>
              <a:srgbClr val="E5D9CC"/>
            </a:solidFill>
            <a:prstDash val="solid"/>
          </a:ln>
          <a:effectLst>
            <a:outerShdw sx="100000" sy="100000" kx="0" ky="0" algn="bl" rotWithShape="0" blurRad="76200" dist="25400" dir="5400000">
              <a:srgbClr val="000000">
                <a:alpha val="12000"/>
              </a:srgbClr>
            </a:outerShdw>
          </a:effectLst>
        </p:spPr>
      </p:sp>
      <p:sp>
        <p:nvSpPr>
          <p:cNvPr id="10" name="rond-icone"/>
          <p:cNvSpPr/>
          <p:nvPr/>
        </p:nvSpPr>
        <p:spPr>
          <a:xfrm>
            <a:off x="4553712" y="1554480"/>
            <a:ext cx="822960" cy="822960"/>
          </a:xfrm>
          <a:prstGeom prst="ellipse">
            <a:avLst/>
          </a:prstGeom>
          <a:solidFill>
            <a:srgbClr val="E37B05"/>
          </a:solidFill>
          <a:ln/>
        </p:spPr>
      </p:sp>
      <p:pic>
        <p:nvPicPr>
          <p:cNvPr id="27" name="icone" descr="ic-MdPsychology.png"/>
          <p:cNvPicPr>
            <a:picLocks noChangeAspect="1"/>
          </p:cNvPicPr>
          <p:nvPr/>
        </p:nvPicPr>
        <p:blipFill>
          <a:blip r:embed="rId6"/>
          <a:stretch>
            <a:fillRect/>
          </a:stretch>
        </p:blipFill>
        <p:spPr>
          <a:xfrm>
            <a:off x="4718304" y="1719072"/>
            <a:ext cx="493776" cy="493776"/>
          </a:xfrm>
          <a:prstGeom prst="rect">
            <a:avLst/>
          </a:prstGeom>
        </p:spPr>
      </p:pic>
      <p:sp>
        <p:nvSpPr>
          <p:cNvPr id="12" name="Text 7"/>
          <p:cNvSpPr txBox="1"/>
          <p:nvPr/>
        </p:nvSpPr>
        <p:spPr>
          <a:xfrm>
            <a:off x="4553712" y="2560320"/>
            <a:ext cx="3108960" cy="731520"/>
          </a:xfrm>
          <a:prstGeom prst="rect">
            <a:avLst/>
          </a:prstGeom>
          <a:noFill/>
          <a:ln/>
        </p:spPr>
        <p:txBody>
          <a:bodyPr wrap="square" lIns="0" tIns="0" rIns="0" bIns="0" rtlCol="0" anchor="t"/>
          <a:lstStyle/>
          <a:p>
            <a:pPr indent="0" marL="0">
              <a:buNone/>
            </a:pPr>
            <a:r>
              <a:rPr lang="en-US" sz="1800" b="1" dirty="0">
                <a:solidFill>
                  <a:srgbClr val="462016"/>
                </a:solidFill>
              </a:rPr>
              <a:t>MODULE QUALITATIF</a:t>
            </a:r>
            <a:endParaRPr lang="en-US" sz="1800" dirty="0"/>
          </a:p>
        </p:txBody>
      </p:sp>
      <p:sp>
        <p:nvSpPr>
          <p:cNvPr id="13" name="Text 8"/>
          <p:cNvSpPr txBox="1"/>
          <p:nvPr/>
        </p:nvSpPr>
        <p:spPr>
          <a:xfrm>
            <a:off x="4553712" y="3337560"/>
            <a:ext cx="31546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D3D3B"/>
                </a:solidFill>
              </a:rPr>
              <a:t>Management, activité, gouvernance</a:t>
            </a:r>
            <a:endParaRPr lang="en-US" sz="1500" dirty="0"/>
          </a:p>
          <a:p>
            <a:pPr marL="342900" indent="-342900">
              <a:spcAft>
                <a:spcPts val="800"/>
              </a:spcAft>
              <a:buSzPct val="100000"/>
              <a:buChar char="•"/>
            </a:pPr>
            <a:r>
              <a:rPr lang="en-US" sz="1500" dirty="0">
                <a:solidFill>
                  <a:srgbClr val="3D3D3B"/>
                </a:solidFill>
              </a:rPr>
              <a:t>Avis d'expert gardé s'il apporte de l'information</a:t>
            </a:r>
            <a:endParaRPr lang="en-US" sz="1500" dirty="0"/>
          </a:p>
          <a:p>
            <a:pPr marL="342900" indent="-342900">
              <a:spcAft>
                <a:spcPts val="800"/>
              </a:spcAft>
              <a:buSzPct val="100000"/>
              <a:buChar char="•"/>
            </a:pPr>
            <a:r>
              <a:rPr lang="en-US" sz="1500" dirty="0">
                <a:solidFill>
                  <a:srgbClr val="3D3D3B"/>
                </a:solidFill>
              </a:rPr>
              <a:t>Combiné statistiquement au module financier</a:t>
            </a:r>
            <a:endParaRPr lang="en-US" sz="1500" dirty="0"/>
          </a:p>
        </p:txBody>
      </p:sp>
      <p:sp>
        <p:nvSpPr>
          <p:cNvPr id="14" name="pourquoi-2"/>
          <p:cNvSpPr/>
          <p:nvPr/>
        </p:nvSpPr>
        <p:spPr>
          <a:xfrm>
            <a:off x="8101584" y="1280160"/>
            <a:ext cx="3639312" cy="4206240"/>
          </a:xfrm>
          <a:prstGeom prst="roundRect">
            <a:avLst>
              <a:gd name="adj" fmla="val 2513"/>
            </a:avLst>
          </a:prstGeom>
          <a:solidFill>
            <a:srgbClr val="FFFFFF"/>
          </a:solidFill>
          <a:ln w="12700">
            <a:solidFill>
              <a:srgbClr val="E5D9CC"/>
            </a:solidFill>
            <a:prstDash val="solid"/>
          </a:ln>
          <a:effectLst>
            <a:outerShdw sx="100000" sy="100000" kx="0" ky="0" algn="bl" rotWithShape="0" blurRad="76200" dist="25400" dir="5400000">
              <a:srgbClr val="000000">
                <a:alpha val="12000"/>
              </a:srgbClr>
            </a:outerShdw>
          </a:effectLst>
        </p:spPr>
      </p:sp>
      <p:sp>
        <p:nvSpPr>
          <p:cNvPr id="15" name="rond-icone"/>
          <p:cNvSpPr/>
          <p:nvPr/>
        </p:nvSpPr>
        <p:spPr>
          <a:xfrm>
            <a:off x="8375904" y="1554480"/>
            <a:ext cx="822960" cy="822960"/>
          </a:xfrm>
          <a:prstGeom prst="ellipse">
            <a:avLst/>
          </a:prstGeom>
          <a:solidFill>
            <a:srgbClr val="E37B05"/>
          </a:solidFill>
          <a:ln/>
        </p:spPr>
      </p:sp>
      <p:pic>
        <p:nvPicPr>
          <p:cNvPr id="28" name="icone" descr="ic-MdQueryStats.png"/>
          <p:cNvPicPr>
            <a:picLocks noChangeAspect="1"/>
          </p:cNvPicPr>
          <p:nvPr/>
        </p:nvPicPr>
        <p:blipFill>
          <a:blip r:embed="rId7"/>
          <a:stretch>
            <a:fillRect/>
          </a:stretch>
        </p:blipFill>
        <p:spPr>
          <a:xfrm>
            <a:off x="8540496" y="1719072"/>
            <a:ext cx="493776" cy="493776"/>
          </a:xfrm>
          <a:prstGeom prst="rect">
            <a:avLst/>
          </a:prstGeom>
        </p:spPr>
      </p:pic>
      <p:sp>
        <p:nvSpPr>
          <p:cNvPr id="17" name="Text 11"/>
          <p:cNvSpPr txBox="1"/>
          <p:nvPr/>
        </p:nvSpPr>
        <p:spPr>
          <a:xfrm>
            <a:off x="8375904" y="2560320"/>
            <a:ext cx="3108960" cy="731520"/>
          </a:xfrm>
          <a:prstGeom prst="rect">
            <a:avLst/>
          </a:prstGeom>
          <a:noFill/>
          <a:ln/>
        </p:spPr>
        <p:txBody>
          <a:bodyPr wrap="square" lIns="0" tIns="0" rIns="0" bIns="0" rtlCol="0" anchor="t"/>
          <a:lstStyle/>
          <a:p>
            <a:pPr indent="0" marL="0">
              <a:buNone/>
            </a:pPr>
            <a:r>
              <a:rPr lang="en-US" sz="1800" b="1" dirty="0">
                <a:solidFill>
                  <a:srgbClr val="462016"/>
                </a:solidFill>
              </a:rPr>
              <a:t>MODÈLE DE CONTRÔLE</a:t>
            </a:r>
            <a:endParaRPr lang="en-US" sz="1800" dirty="0"/>
          </a:p>
        </p:txBody>
      </p:sp>
      <p:sp>
        <p:nvSpPr>
          <p:cNvPr id="18" name="Text 12"/>
          <p:cNvSpPr txBox="1"/>
          <p:nvPr/>
        </p:nvSpPr>
        <p:spPr>
          <a:xfrm>
            <a:off x="8375904" y="3337560"/>
            <a:ext cx="31546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D3D3B"/>
                </a:solidFill>
              </a:rPr>
              <a:t>Apprentissage automatique en « challenger »</a:t>
            </a:r>
            <a:endParaRPr lang="en-US" sz="1500" dirty="0"/>
          </a:p>
          <a:p>
            <a:pPr marL="342900" indent="-342900">
              <a:spcAft>
                <a:spcPts val="800"/>
              </a:spcAft>
              <a:buSzPct val="100000"/>
              <a:buChar char="•"/>
            </a:pPr>
            <a:r>
              <a:rPr lang="en-US" sz="1500" dirty="0">
                <a:solidFill>
                  <a:srgbClr val="3D3D3B"/>
                </a:solidFill>
              </a:rPr>
              <a:t>Vérifie qu'aucune information n'est perdue</a:t>
            </a:r>
            <a:endParaRPr lang="en-US" sz="1500" dirty="0"/>
          </a:p>
          <a:p>
            <a:pPr marL="342900" indent="-342900">
              <a:spcAft>
                <a:spcPts val="800"/>
              </a:spcAft>
              <a:buSzPct val="100000"/>
              <a:buChar char="•"/>
            </a:pPr>
            <a:r>
              <a:rPr lang="en-US" sz="1500" dirty="0">
                <a:solidFill>
                  <a:srgbClr val="3D3D3B"/>
                </a:solidFill>
              </a:rPr>
              <a:t>Pas en production : difficile à justifier</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LES ÉCARTS À ATTENDRE</a:t>
            </a:r>
            <a:endParaRPr lang="en-US" sz="2400" dirty="0"/>
          </a:p>
        </p:txBody>
      </p:sp>
      <p:sp>
        <p:nvSpPr>
          <p:cNvPr id="20" name="Text 17"/>
          <p:cNvSpPr txBox="1"/>
          <p:nvPr/>
        </p:nvSpPr>
        <p:spPr>
          <a:xfrm>
            <a:off x="457200" y="5532120"/>
            <a:ext cx="11320272" cy="457200"/>
          </a:xfrm>
          <a:prstGeom prst="rect">
            <a:avLst/>
          </a:prstGeom>
          <a:noFill/>
          <a:ln/>
        </p:spPr>
        <p:txBody>
          <a:bodyPr wrap="square" lIns="0" tIns="0" rIns="0" bIns="0" rtlCol="0" anchor="ctr"/>
          <a:lstStyle/>
          <a:p>
            <a:pPr indent="0" marL="0">
              <a:buNone/>
            </a:pPr>
            <a:r>
              <a:rPr lang="en-US" sz="1500" b="1" dirty="0">
                <a:solidFill>
                  <a:srgbClr val="462016"/>
                </a:solidFill>
              </a:rPr>
              <a:t>Ordre de grandeur habituel : 50 à 70 % des notes à un cran près, 5 à 15 % à trois crans ou plus.</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a:t>
            </a:fld>
            <a:endParaRPr lang="en-US"/>
          </a:p>
        </p:txBody>
      </p:sp>
      <p:graphicFrame>
        <p:nvGraphicFramePr>
          <p:cNvPr id="26" name="tableau"/>
          <p:cNvGraphicFramePr>
            <a:graphicFrameLocks noGrp="1"/>
          </p:cNvGraphicFramePr>
          <p:nvPr/>
        </p:nvGraphicFramePr>
        <p:xfrm>
          <a:off x="457200" y="1280160"/>
          <a:ext cx="11274552" cy="4096512"/>
        </p:xfrm>
        <a:graphic>
          <a:graphicData uri="http://schemas.openxmlformats.org/drawingml/2006/table">
            <a:tbl>
              <a:tblPr firstRow="0" bandRow="0"/>
              <a:tblGrid>
                <a:gridCol w="3108960"/>
                <a:gridCol w="4572000"/>
                <a:gridCol w="3593592"/>
              </a:tblGrid>
              <a:tr h="585216">
                <a:tc>
                  <a:txBody>
                    <a:bodyPr wrap="square"/>
                    <a:lstStyle/>
                    <a:p>
                      <a:pPr algn="l"/>
                      <a:r>
                        <a:rPr sz="1300" b="1">
                          <a:solidFill>
                            <a:srgbClr val="FFFFFF"/>
                          </a:solidFill>
                          <a:latin typeface="Arial"/>
                        </a:rPr>
                        <a:t>Écart probable</a:t>
                      </a:r>
                    </a:p>
                  </a:txBody>
                  <a:tcPr marL="91440" marR="91440" marT="36576" marB="36576" anchor="ctr">
                    <a:solidFill>
                      <a:srgbClr val="E37B05"/>
                    </a:solidFill>
                  </a:tcPr>
                </a:tc>
                <a:tc>
                  <a:txBody>
                    <a:bodyPr wrap="square"/>
                    <a:lstStyle/>
                    <a:p>
                      <a:pPr algn="l"/>
                      <a:r>
                        <a:rPr sz="1300" b="1">
                          <a:solidFill>
                            <a:srgbClr val="FFFFFF"/>
                          </a:solidFill>
                          <a:latin typeface="Arial"/>
                        </a:rPr>
                        <a:t>Pourquoi</a:t>
                      </a:r>
                    </a:p>
                  </a:txBody>
                  <a:tcPr marL="91440" marR="91440" marT="36576" marB="36576" anchor="ctr">
                    <a:solidFill>
                      <a:srgbClr val="E37B05"/>
                    </a:solidFill>
                  </a:tcPr>
                </a:tc>
                <a:tc>
                  <a:txBody>
                    <a:bodyPr wrap="square"/>
                    <a:lstStyle/>
                    <a:p>
                      <a:pPr algn="l"/>
                      <a:r>
                        <a:rPr sz="1300" b="1">
                          <a:solidFill>
                            <a:srgbClr val="FFFFFF"/>
                          </a:solidFill>
                          <a:latin typeface="Arial"/>
                        </a:rPr>
                        <a:t>Effet sur les notes</a:t>
                      </a:r>
                    </a:p>
                  </a:txBody>
                  <a:tcPr marL="91440" marR="91440" marT="36576" marB="36576" anchor="ctr">
                    <a:solidFill>
                      <a:srgbClr val="E37B05"/>
                    </a:solidFill>
                  </a:tcPr>
                </a:tc>
              </a:tr>
              <a:tr h="585216">
                <a:tc>
                  <a:txBody>
                    <a:bodyPr wrap="square"/>
                    <a:lstStyle/>
                    <a:p>
                      <a:pPr algn="l"/>
                      <a:r>
                        <a:rPr sz="1200" b="1">
                          <a:solidFill>
                            <a:srgbClr val="462016"/>
                          </a:solidFill>
                          <a:latin typeface="Arial"/>
                        </a:rPr>
                        <a:t>Le compte pèsera plus</a:t>
                      </a:r>
                    </a:p>
                  </a:txBody>
                  <a:tcPr marL="91440" marR="91440" marT="36576" marB="36576" anchor="ctr">
                    <a:solidFill>
                      <a:srgbClr val="F2E8DB"/>
                    </a:solidFill>
                  </a:tcPr>
                </a:tc>
                <a:tc>
                  <a:txBody>
                    <a:bodyPr wrap="square"/>
                    <a:lstStyle/>
                    <a:p>
                      <a:pPr algn="l"/>
                      <a:r>
                        <a:rPr sz="1200" b="0">
                          <a:solidFill>
                            <a:srgbClr val="3D3D3B"/>
                          </a:solidFill>
                          <a:latin typeface="Arial"/>
                        </a:rPr>
                        <a:t>Retards, dépassements et flux sont souvent les meilleurs signaux en PME et TPE</a:t>
                      </a:r>
                    </a:p>
                  </a:txBody>
                  <a:tcPr marL="91440" marR="91440" marT="36576" marB="36576" anchor="ctr">
                    <a:solidFill>
                      <a:srgbClr val="F2E8DB"/>
                    </a:solidFill>
                  </a:tcPr>
                </a:tc>
                <a:tc>
                  <a:txBody>
                    <a:bodyPr wrap="square"/>
                    <a:lstStyle/>
                    <a:p>
                      <a:pPr algn="l"/>
                      <a:r>
                        <a:rPr sz="1200" b="0">
                          <a:solidFill>
                            <a:srgbClr val="3D3D3B"/>
                          </a:solidFill>
                          <a:latin typeface="Arial"/>
                        </a:rPr>
                        <a:t>Comptes bons, compte tendu : dégradation</a:t>
                      </a:r>
                    </a:p>
                  </a:txBody>
                  <a:tcPr marL="91440" marR="91440" marT="36576" marB="36576" anchor="ctr">
                    <a:solidFill>
                      <a:srgbClr val="F2E8DB"/>
                    </a:solidFill>
                  </a:tcPr>
                </a:tc>
              </a:tr>
              <a:tr h="585216">
                <a:tc>
                  <a:txBody>
                    <a:bodyPr wrap="square"/>
                    <a:lstStyle/>
                    <a:p>
                      <a:pPr algn="l"/>
                      <a:r>
                        <a:rPr sz="1200" b="1">
                          <a:solidFill>
                            <a:srgbClr val="462016"/>
                          </a:solidFill>
                          <a:latin typeface="Arial"/>
                        </a:rPr>
                        <a:t>Les ratios pèseront moins (TPE)</a:t>
                      </a:r>
                    </a:p>
                  </a:txBody>
                  <a:tcPr marL="91440" marR="91440" marT="36576" marB="36576" anchor="ctr">
                    <a:solidFill>
                      <a:srgbClr val="FBF6F0"/>
                    </a:solidFill>
                  </a:tcPr>
                </a:tc>
                <a:tc>
                  <a:txBody>
                    <a:bodyPr wrap="square"/>
                    <a:lstStyle/>
                    <a:p>
                      <a:pPr algn="l"/>
                      <a:r>
                        <a:rPr sz="1200" b="0">
                          <a:solidFill>
                            <a:srgbClr val="3D3D3B"/>
                          </a:solidFill>
                          <a:latin typeface="Arial"/>
                        </a:rPr>
                        <a:t>Comptes tardifs, optimisés ou peu fiables</a:t>
                      </a:r>
                    </a:p>
                  </a:txBody>
                  <a:tcPr marL="91440" marR="91440" marT="36576" marB="36576" anchor="ctr">
                    <a:solidFill>
                      <a:srgbClr val="FBF6F0"/>
                    </a:solidFill>
                  </a:tcPr>
                </a:tc>
                <a:tc>
                  <a:txBody>
                    <a:bodyPr wrap="square"/>
                    <a:lstStyle/>
                    <a:p>
                      <a:pPr algn="l"/>
                      <a:r>
                        <a:rPr sz="1200" b="0">
                          <a:solidFill>
                            <a:srgbClr val="3D3D3B"/>
                          </a:solidFill>
                          <a:latin typeface="Arial"/>
                        </a:rPr>
                        <a:t>Petites entreprises : moins portées par le bilan</a:t>
                      </a:r>
                    </a:p>
                  </a:txBody>
                  <a:tcPr marL="91440" marR="91440" marT="36576" marB="36576" anchor="ctr">
                    <a:solidFill>
                      <a:srgbClr val="FBF6F0"/>
                    </a:solidFill>
                  </a:tcPr>
                </a:tc>
              </a:tr>
              <a:tr h="585216">
                <a:tc>
                  <a:txBody>
                    <a:bodyPr wrap="square"/>
                    <a:lstStyle/>
                    <a:p>
                      <a:pPr algn="l"/>
                      <a:r>
                        <a:rPr sz="1200" b="1">
                          <a:solidFill>
                            <a:srgbClr val="462016"/>
                          </a:solidFill>
                          <a:latin typeface="Arial"/>
                        </a:rPr>
                        <a:t>L'absence d'information coûtera plus</a:t>
                      </a:r>
                    </a:p>
                  </a:txBody>
                  <a:tcPr marL="91440" marR="91440" marT="36576" marB="36576" anchor="ctr">
                    <a:solidFill>
                      <a:srgbClr val="F2E8DB"/>
                    </a:solidFill>
                  </a:tcPr>
                </a:tc>
                <a:tc>
                  <a:txBody>
                    <a:bodyPr wrap="square"/>
                    <a:lstStyle/>
                    <a:p>
                      <a:pPr algn="l"/>
                      <a:r>
                        <a:rPr sz="1200" b="0">
                          <a:solidFill>
                            <a:srgbClr val="3D3D3B"/>
                          </a:solidFill>
                          <a:latin typeface="Arial"/>
                        </a:rPr>
                        <a:t>Ne pas fournir ses comptes prédit le défaut</a:t>
                      </a:r>
                    </a:p>
                  </a:txBody>
                  <a:tcPr marL="91440" marR="91440" marT="36576" marB="36576" anchor="ctr">
                    <a:solidFill>
                      <a:srgbClr val="F2E8DB"/>
                    </a:solidFill>
                  </a:tcPr>
                </a:tc>
                <a:tc>
                  <a:txBody>
                    <a:bodyPr wrap="square"/>
                    <a:lstStyle/>
                    <a:p>
                      <a:pPr algn="l"/>
                      <a:r>
                        <a:rPr sz="1200" b="0">
                          <a:solidFill>
                            <a:srgbClr val="3D3D3B"/>
                          </a:solidFill>
                          <a:latin typeface="Arial"/>
                        </a:rPr>
                        <a:t>Dossiers incomplets : nettement dégradés</a:t>
                      </a:r>
                    </a:p>
                  </a:txBody>
                  <a:tcPr marL="91440" marR="91440" marT="36576" marB="36576" anchor="ctr">
                    <a:solidFill>
                      <a:srgbClr val="F2E8DB"/>
                    </a:solidFill>
                  </a:tcPr>
                </a:tc>
              </a:tr>
              <a:tr h="585216">
                <a:tc>
                  <a:txBody>
                    <a:bodyPr wrap="square"/>
                    <a:lstStyle/>
                    <a:p>
                      <a:pPr algn="l"/>
                      <a:r>
                        <a:rPr sz="1200" b="1">
                          <a:solidFill>
                            <a:srgbClr val="462016"/>
                          </a:solidFill>
                          <a:latin typeface="Arial"/>
                        </a:rPr>
                        <a:t>Certains critères qualitatifs disparaîtront</a:t>
                      </a:r>
                    </a:p>
                  </a:txBody>
                  <a:tcPr marL="91440" marR="91440" marT="36576" marB="36576" anchor="ctr">
                    <a:solidFill>
                      <a:srgbClr val="FBF6F0"/>
                    </a:solidFill>
                  </a:tcPr>
                </a:tc>
                <a:tc>
                  <a:txBody>
                    <a:bodyPr wrap="square"/>
                    <a:lstStyle/>
                    <a:p>
                      <a:pPr algn="l"/>
                      <a:r>
                        <a:rPr sz="1200" b="0">
                          <a:solidFill>
                            <a:srgbClr val="3D3D3B"/>
                          </a:solidFill>
                          <a:latin typeface="Arial"/>
                        </a:rPr>
                        <a:t>Peu d'information au-delà des chiffres</a:t>
                      </a:r>
                    </a:p>
                  </a:txBody>
                  <a:tcPr marL="91440" marR="91440" marT="36576" marB="36576" anchor="ctr">
                    <a:solidFill>
                      <a:srgbClr val="FBF6F0"/>
                    </a:solidFill>
                  </a:tcPr>
                </a:tc>
                <a:tc>
                  <a:txBody>
                    <a:bodyPr wrap="square"/>
                    <a:lstStyle/>
                    <a:p>
                      <a:pPr algn="l"/>
                      <a:r>
                        <a:rPr sz="1200" b="0">
                          <a:solidFill>
                            <a:srgbClr val="3D3D3B"/>
                          </a:solidFill>
                          <a:latin typeface="Arial"/>
                        </a:rPr>
                        <a:t>Grille plus courte, plus stable</a:t>
                      </a:r>
                    </a:p>
                  </a:txBody>
                  <a:tcPr marL="91440" marR="91440" marT="36576" marB="36576" anchor="ctr">
                    <a:solidFill>
                      <a:srgbClr val="FBF6F0"/>
                    </a:solidFill>
                  </a:tcPr>
                </a:tc>
              </a:tr>
              <a:tr h="585216">
                <a:tc>
                  <a:txBody>
                    <a:bodyPr wrap="square"/>
                    <a:lstStyle/>
                    <a:p>
                      <a:pPr algn="l"/>
                      <a:r>
                        <a:rPr sz="1200" b="1">
                          <a:solidFill>
                            <a:srgbClr val="462016"/>
                          </a:solidFill>
                          <a:latin typeface="Arial"/>
                        </a:rPr>
                        <a:t>Le secteur entrera dans le score</a:t>
                      </a:r>
                    </a:p>
                  </a:txBody>
                  <a:tcPr marL="91440" marR="91440" marT="36576" marB="36576" anchor="ctr">
                    <a:solidFill>
                      <a:srgbClr val="F2E8DB"/>
                    </a:solidFill>
                  </a:tcPr>
                </a:tc>
                <a:tc>
                  <a:txBody>
                    <a:bodyPr wrap="square"/>
                    <a:lstStyle/>
                    <a:p>
                      <a:pPr algn="l"/>
                      <a:r>
                        <a:rPr sz="1200" b="0">
                          <a:solidFill>
                            <a:srgbClr val="3D3D3B"/>
                          </a:solidFill>
                          <a:latin typeface="Arial"/>
                        </a:rPr>
                        <a:t>Agriculture, BTP, tourisme, immobilier plus risqués</a:t>
                      </a:r>
                    </a:p>
                  </a:txBody>
                  <a:tcPr marL="91440" marR="91440" marT="36576" marB="36576" anchor="ctr">
                    <a:solidFill>
                      <a:srgbClr val="F2E8DB"/>
                    </a:solidFill>
                  </a:tcPr>
                </a:tc>
                <a:tc>
                  <a:txBody>
                    <a:bodyPr wrap="square"/>
                    <a:lstStyle/>
                    <a:p>
                      <a:pPr algn="l"/>
                      <a:r>
                        <a:rPr sz="1200" b="0">
                          <a:solidFill>
                            <a:srgbClr val="3D3D3B"/>
                          </a:solidFill>
                          <a:latin typeface="Arial"/>
                        </a:rPr>
                        <a:t>Secteurs cycliques : un à deux crans</a:t>
                      </a:r>
                    </a:p>
                  </a:txBody>
                  <a:tcPr marL="91440" marR="91440" marT="36576" marB="36576" anchor="ctr">
                    <a:solidFill>
                      <a:srgbClr val="F2E8DB"/>
                    </a:solidFill>
                  </a:tcPr>
                </a:tc>
              </a:tr>
              <a:tr h="585216">
                <a:tc>
                  <a:txBody>
                    <a:bodyPr wrap="square"/>
                    <a:lstStyle/>
                    <a:p>
                      <a:pPr algn="l"/>
                      <a:r>
                        <a:rPr sz="1200" b="1">
                          <a:solidFill>
                            <a:srgbClr val="462016"/>
                          </a:solidFill>
                          <a:latin typeface="Arial"/>
                        </a:rPr>
                        <a:t>L'échelle sera recalée</a:t>
                      </a:r>
                    </a:p>
                  </a:txBody>
                  <a:tcPr marL="91440" marR="91440" marT="36576" marB="36576" anchor="ctr">
                    <a:solidFill>
                      <a:srgbClr val="FBF6F0"/>
                    </a:solidFill>
                  </a:tcPr>
                </a:tc>
                <a:tc>
                  <a:txBody>
                    <a:bodyPr wrap="square"/>
                    <a:lstStyle/>
                    <a:p>
                      <a:pPr algn="l"/>
                      <a:r>
                        <a:rPr sz="1200" b="0">
                          <a:solidFill>
                            <a:srgbClr val="3D3D3B"/>
                          </a:solidFill>
                          <a:latin typeface="Arial"/>
                        </a:rPr>
                        <a:t>Les grades experts sont souvent concentrés au centre</a:t>
                      </a:r>
                    </a:p>
                  </a:txBody>
                  <a:tcPr marL="91440" marR="91440" marT="36576" marB="36576" anchor="ctr">
                    <a:solidFill>
                      <a:srgbClr val="FBF6F0"/>
                    </a:solidFill>
                  </a:tcPr>
                </a:tc>
                <a:tc>
                  <a:txBody>
                    <a:bodyPr wrap="square"/>
                    <a:lstStyle/>
                    <a:p>
                      <a:pPr algn="l"/>
                      <a:r>
                        <a:rPr sz="1200" b="0">
                          <a:solidFill>
                            <a:srgbClr val="3D3D3B"/>
                          </a:solidFill>
                          <a:latin typeface="Arial"/>
                        </a:rPr>
                        <a:t>Plus de très bons et de très mauvais</a:t>
                      </a:r>
                    </a:p>
                  </a:txBody>
                  <a:tcPr marL="91440" marR="91440" marT="36576" marB="36576" anchor="ctr">
                    <a:solidFill>
                      <a:srgbClr val="FBF6F0"/>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COMMENT ON SAURA QUE LE MODÈLE EST BON</a:t>
            </a:r>
            <a:endParaRPr lang="en-US" sz="2400" dirty="0"/>
          </a:p>
        </p:txBody>
      </p:sp>
      <p:sp>
        <p:nvSpPr>
          <p:cNvPr id="4" name="stat-0"/>
          <p:cNvSpPr/>
          <p:nvPr/>
        </p:nvSpPr>
        <p:spPr>
          <a:xfrm>
            <a:off x="457200" y="1371600"/>
            <a:ext cx="2670048" cy="3566160"/>
          </a:xfrm>
          <a:prstGeom prst="roundRect">
            <a:avLst>
              <a:gd name="adj" fmla="val 3425"/>
            </a:avLst>
          </a:prstGeom>
          <a:solidFill>
            <a:srgbClr val="F2E8DB"/>
          </a:solidFill>
          <a:ln/>
        </p:spPr>
      </p:sp>
      <p:sp>
        <p:nvSpPr>
          <p:cNvPr id="5" name="Text 2"/>
          <p:cNvSpPr txBox="1"/>
          <p:nvPr/>
        </p:nvSpPr>
        <p:spPr>
          <a:xfrm>
            <a:off x="640080" y="1645920"/>
            <a:ext cx="2331720" cy="1188720"/>
          </a:xfrm>
          <a:prstGeom prst="rect">
            <a:avLst/>
          </a:prstGeom>
          <a:noFill/>
          <a:ln/>
        </p:spPr>
        <p:txBody>
          <a:bodyPr wrap="square" lIns="0" tIns="0" rIns="0" bIns="0" rtlCol="0" anchor="ctr"/>
          <a:lstStyle/>
          <a:p>
            <a:pPr indent="0" marL="0">
              <a:buNone/>
            </a:pPr>
            <a:r>
              <a:rPr lang="en-US" sz="4800" b="1" dirty="0">
                <a:solidFill>
                  <a:srgbClr val="E37B05"/>
                </a:solidFill>
              </a:rPr>
              <a:t>50-60 %</a:t>
            </a:r>
            <a:endParaRPr lang="en-US" sz="4800" dirty="0"/>
          </a:p>
        </p:txBody>
      </p:sp>
      <p:sp>
        <p:nvSpPr>
          <p:cNvPr id="6" name="Text 3"/>
          <p:cNvSpPr txBox="1"/>
          <p:nvPr/>
        </p:nvSpPr>
        <p:spPr>
          <a:xfrm>
            <a:off x="640080" y="2880360"/>
            <a:ext cx="2331720" cy="731520"/>
          </a:xfrm>
          <a:prstGeom prst="rect">
            <a:avLst/>
          </a:prstGeom>
          <a:noFill/>
          <a:ln/>
        </p:spPr>
        <p:txBody>
          <a:bodyPr wrap="square" lIns="0" tIns="0" rIns="0" bIns="0" rtlCol="0" anchor="t"/>
          <a:lstStyle/>
          <a:p>
            <a:pPr indent="0" marL="0">
              <a:buNone/>
            </a:pPr>
            <a:r>
              <a:rPr lang="en-US" sz="1600" b="1" dirty="0">
                <a:solidFill>
                  <a:srgbClr val="462016"/>
                </a:solidFill>
              </a:rPr>
              <a:t>GINI VISÉ</a:t>
            </a:r>
            <a:endParaRPr lang="en-US" sz="1600" dirty="0"/>
          </a:p>
        </p:txBody>
      </p:sp>
      <p:sp>
        <p:nvSpPr>
          <p:cNvPr id="7" name="Text 4"/>
          <p:cNvSpPr txBox="1"/>
          <p:nvPr/>
        </p:nvSpPr>
        <p:spPr>
          <a:xfrm>
            <a:off x="640080" y="3657600"/>
            <a:ext cx="2331720" cy="1371600"/>
          </a:xfrm>
          <a:prstGeom prst="rect">
            <a:avLst/>
          </a:prstGeom>
          <a:noFill/>
          <a:ln/>
        </p:spPr>
        <p:txBody>
          <a:bodyPr wrap="square" lIns="0" tIns="0" rIns="0" bIns="0" rtlCol="0" anchor="t"/>
          <a:lstStyle/>
          <a:p>
            <a:pPr indent="0" marL="0">
              <a:buNone/>
            </a:pPr>
            <a:r>
              <a:rPr lang="en-US" sz="1400" dirty="0">
                <a:solidFill>
                  <a:srgbClr val="3D3D3B"/>
                </a:solidFill>
              </a:rPr>
              <a:t>pouvoir de discrimination courant pour des PME ; mesuré sur des données non utilisées pour l'estimer</a:t>
            </a:r>
            <a:endParaRPr lang="en-US" sz="1400" dirty="0"/>
          </a:p>
        </p:txBody>
      </p:sp>
      <p:sp>
        <p:nvSpPr>
          <p:cNvPr id="8" name="stat-1"/>
          <p:cNvSpPr/>
          <p:nvPr/>
        </p:nvSpPr>
        <p:spPr>
          <a:xfrm>
            <a:off x="3319272" y="1371600"/>
            <a:ext cx="2670048" cy="3566160"/>
          </a:xfrm>
          <a:prstGeom prst="roundRect">
            <a:avLst>
              <a:gd name="adj" fmla="val 3425"/>
            </a:avLst>
          </a:prstGeom>
          <a:solidFill>
            <a:srgbClr val="FBF6F0"/>
          </a:solidFill>
          <a:ln/>
        </p:spPr>
      </p:sp>
      <p:sp>
        <p:nvSpPr>
          <p:cNvPr id="9" name="Text 6"/>
          <p:cNvSpPr txBox="1"/>
          <p:nvPr/>
        </p:nvSpPr>
        <p:spPr>
          <a:xfrm>
            <a:off x="3502152" y="1645920"/>
            <a:ext cx="2331720" cy="1188720"/>
          </a:xfrm>
          <a:prstGeom prst="rect">
            <a:avLst/>
          </a:prstGeom>
          <a:noFill/>
          <a:ln/>
        </p:spPr>
        <p:txBody>
          <a:bodyPr wrap="square" lIns="0" tIns="0" rIns="0" bIns="0" rtlCol="0" anchor="ctr"/>
          <a:lstStyle/>
          <a:p>
            <a:pPr indent="0" marL="0">
              <a:buNone/>
            </a:pPr>
            <a:r>
              <a:rPr lang="en-US" sz="4800" b="1" dirty="0">
                <a:solidFill>
                  <a:srgbClr val="E37B05"/>
                </a:solidFill>
              </a:rPr>
              <a:t>3</a:t>
            </a:r>
            <a:endParaRPr lang="en-US" sz="4800" dirty="0"/>
          </a:p>
        </p:txBody>
      </p:sp>
      <p:sp>
        <p:nvSpPr>
          <p:cNvPr id="10" name="Text 7"/>
          <p:cNvSpPr txBox="1"/>
          <p:nvPr/>
        </p:nvSpPr>
        <p:spPr>
          <a:xfrm>
            <a:off x="3502152" y="2880360"/>
            <a:ext cx="2331720" cy="731520"/>
          </a:xfrm>
          <a:prstGeom prst="rect">
            <a:avLst/>
          </a:prstGeom>
          <a:noFill/>
          <a:ln/>
        </p:spPr>
        <p:txBody>
          <a:bodyPr wrap="square" lIns="0" tIns="0" rIns="0" bIns="0" rtlCol="0" anchor="t"/>
          <a:lstStyle/>
          <a:p>
            <a:pPr indent="0" marL="0">
              <a:buNone/>
            </a:pPr>
            <a:r>
              <a:rPr lang="en-US" sz="1600" b="1" dirty="0">
                <a:solidFill>
                  <a:srgbClr val="462016"/>
                </a:solidFill>
              </a:rPr>
              <a:t>ÉCHANTILLONS</a:t>
            </a:r>
            <a:endParaRPr lang="en-US" sz="1600" dirty="0"/>
          </a:p>
        </p:txBody>
      </p:sp>
      <p:sp>
        <p:nvSpPr>
          <p:cNvPr id="11" name="Text 8"/>
          <p:cNvSpPr txBox="1"/>
          <p:nvPr/>
        </p:nvSpPr>
        <p:spPr>
          <a:xfrm>
            <a:off x="3502152" y="3657600"/>
            <a:ext cx="2331720" cy="1371600"/>
          </a:xfrm>
          <a:prstGeom prst="rect">
            <a:avLst/>
          </a:prstGeom>
          <a:noFill/>
          <a:ln/>
        </p:spPr>
        <p:txBody>
          <a:bodyPr wrap="square" lIns="0" tIns="0" rIns="0" bIns="0" rtlCol="0" anchor="t"/>
          <a:lstStyle/>
          <a:p>
            <a:pPr indent="0" marL="0">
              <a:buNone/>
            </a:pPr>
            <a:r>
              <a:rPr lang="en-US" sz="1400" dirty="0">
                <a:solidFill>
                  <a:srgbClr val="3D3D3B"/>
                </a:solidFill>
              </a:rPr>
              <a:t>développement, test, et une période récente qui vérifie que le modèle tient dans le temps</a:t>
            </a:r>
            <a:endParaRPr lang="en-US" sz="1400" dirty="0"/>
          </a:p>
        </p:txBody>
      </p:sp>
      <p:sp>
        <p:nvSpPr>
          <p:cNvPr id="12" name="stat-2"/>
          <p:cNvSpPr/>
          <p:nvPr/>
        </p:nvSpPr>
        <p:spPr>
          <a:xfrm>
            <a:off x="6181344" y="1371600"/>
            <a:ext cx="2670048" cy="3566160"/>
          </a:xfrm>
          <a:prstGeom prst="roundRect">
            <a:avLst>
              <a:gd name="adj" fmla="val 3425"/>
            </a:avLst>
          </a:prstGeom>
          <a:solidFill>
            <a:srgbClr val="F2E8DB"/>
          </a:solidFill>
          <a:ln/>
        </p:spPr>
      </p:sp>
      <p:sp>
        <p:nvSpPr>
          <p:cNvPr id="13" name="Text 10"/>
          <p:cNvSpPr txBox="1"/>
          <p:nvPr/>
        </p:nvSpPr>
        <p:spPr>
          <a:xfrm>
            <a:off x="6364224" y="1645920"/>
            <a:ext cx="2331720" cy="1188720"/>
          </a:xfrm>
          <a:prstGeom prst="rect">
            <a:avLst/>
          </a:prstGeom>
          <a:noFill/>
          <a:ln/>
        </p:spPr>
        <p:txBody>
          <a:bodyPr wrap="square" lIns="0" tIns="0" rIns="0" bIns="0" rtlCol="0" anchor="ctr"/>
          <a:lstStyle/>
          <a:p>
            <a:pPr indent="0" marL="0">
              <a:buNone/>
            </a:pPr>
            <a:r>
              <a:rPr lang="en-US" sz="4800" b="1" dirty="0">
                <a:solidFill>
                  <a:srgbClr val="E37B05"/>
                </a:solidFill>
              </a:rPr>
              <a:t>&lt; 10 %</a:t>
            </a:r>
            <a:endParaRPr lang="en-US" sz="4800" dirty="0"/>
          </a:p>
        </p:txBody>
      </p:sp>
      <p:sp>
        <p:nvSpPr>
          <p:cNvPr id="14" name="Text 11"/>
          <p:cNvSpPr txBox="1"/>
          <p:nvPr/>
        </p:nvSpPr>
        <p:spPr>
          <a:xfrm>
            <a:off x="6364224" y="2880360"/>
            <a:ext cx="2331720" cy="731520"/>
          </a:xfrm>
          <a:prstGeom prst="rect">
            <a:avLst/>
          </a:prstGeom>
          <a:noFill/>
          <a:ln/>
        </p:spPr>
        <p:txBody>
          <a:bodyPr wrap="square" lIns="0" tIns="0" rIns="0" bIns="0" rtlCol="0" anchor="t"/>
          <a:lstStyle/>
          <a:p>
            <a:pPr indent="0" marL="0">
              <a:buNone/>
            </a:pPr>
            <a:r>
              <a:rPr lang="en-US" sz="1600" b="1" dirty="0">
                <a:solidFill>
                  <a:srgbClr val="462016"/>
                </a:solidFill>
              </a:rPr>
              <a:t>DÉRIVE TOLÉRÉE</a:t>
            </a:r>
            <a:endParaRPr lang="en-US" sz="1600" dirty="0"/>
          </a:p>
        </p:txBody>
      </p:sp>
      <p:sp>
        <p:nvSpPr>
          <p:cNvPr id="15" name="Text 12"/>
          <p:cNvSpPr txBox="1"/>
          <p:nvPr/>
        </p:nvSpPr>
        <p:spPr>
          <a:xfrm>
            <a:off x="6364224" y="3657600"/>
            <a:ext cx="2331720" cy="1371600"/>
          </a:xfrm>
          <a:prstGeom prst="rect">
            <a:avLst/>
          </a:prstGeom>
          <a:noFill/>
          <a:ln/>
        </p:spPr>
        <p:txBody>
          <a:bodyPr wrap="square" lIns="0" tIns="0" rIns="0" bIns="0" rtlCol="0" anchor="t"/>
          <a:lstStyle/>
          <a:p>
            <a:pPr indent="0" marL="0">
              <a:buNone/>
            </a:pPr>
            <a:r>
              <a:rPr lang="en-US" sz="1400" dirty="0">
                <a:solidFill>
                  <a:srgbClr val="3D3D3B"/>
                </a:solidFill>
              </a:rPr>
              <a:t>indice de stabilité de la population entre la construction et l'application</a:t>
            </a:r>
            <a:endParaRPr lang="en-US" sz="1400" dirty="0"/>
          </a:p>
        </p:txBody>
      </p:sp>
      <p:sp>
        <p:nvSpPr>
          <p:cNvPr id="16" name="stat-3"/>
          <p:cNvSpPr/>
          <p:nvPr/>
        </p:nvSpPr>
        <p:spPr>
          <a:xfrm>
            <a:off x="9043416" y="1371600"/>
            <a:ext cx="2670048" cy="3566160"/>
          </a:xfrm>
          <a:prstGeom prst="roundRect">
            <a:avLst>
              <a:gd name="adj" fmla="val 3425"/>
            </a:avLst>
          </a:prstGeom>
          <a:solidFill>
            <a:srgbClr val="FBF6F0"/>
          </a:solidFill>
          <a:ln/>
        </p:spPr>
      </p:sp>
      <p:sp>
        <p:nvSpPr>
          <p:cNvPr id="17" name="Text 14"/>
          <p:cNvSpPr txBox="1"/>
          <p:nvPr/>
        </p:nvSpPr>
        <p:spPr>
          <a:xfrm>
            <a:off x="9226296" y="1645920"/>
            <a:ext cx="2331720" cy="1188720"/>
          </a:xfrm>
          <a:prstGeom prst="rect">
            <a:avLst/>
          </a:prstGeom>
          <a:noFill/>
          <a:ln/>
        </p:spPr>
        <p:txBody>
          <a:bodyPr wrap="square" lIns="0" tIns="0" rIns="0" bIns="0" rtlCol="0" anchor="ctr"/>
          <a:lstStyle/>
          <a:p>
            <a:pPr indent="0" marL="0">
              <a:buNone/>
            </a:pPr>
            <a:r>
              <a:rPr lang="en-US" sz="4800" b="1" dirty="0">
                <a:solidFill>
                  <a:srgbClr val="E37B05"/>
                </a:solidFill>
              </a:rPr>
              <a:t>1 / an</a:t>
            </a:r>
            <a:endParaRPr lang="en-US" sz="4800" dirty="0"/>
          </a:p>
        </p:txBody>
      </p:sp>
      <p:sp>
        <p:nvSpPr>
          <p:cNvPr id="18" name="Text 15"/>
          <p:cNvSpPr txBox="1"/>
          <p:nvPr/>
        </p:nvSpPr>
        <p:spPr>
          <a:xfrm>
            <a:off x="9226296" y="2880360"/>
            <a:ext cx="2331720" cy="731520"/>
          </a:xfrm>
          <a:prstGeom prst="rect">
            <a:avLst/>
          </a:prstGeom>
          <a:noFill/>
          <a:ln/>
        </p:spPr>
        <p:txBody>
          <a:bodyPr wrap="square" lIns="0" tIns="0" rIns="0" bIns="0" rtlCol="0" anchor="t"/>
          <a:lstStyle/>
          <a:p>
            <a:pPr indent="0" marL="0">
              <a:buNone/>
            </a:pPr>
            <a:r>
              <a:rPr lang="en-US" sz="1600" b="1" dirty="0">
                <a:solidFill>
                  <a:srgbClr val="462016"/>
                </a:solidFill>
              </a:rPr>
              <a:t>REVUE</a:t>
            </a:r>
            <a:endParaRPr lang="en-US" sz="1600" dirty="0"/>
          </a:p>
        </p:txBody>
      </p:sp>
      <p:sp>
        <p:nvSpPr>
          <p:cNvPr id="19" name="Text 16"/>
          <p:cNvSpPr txBox="1"/>
          <p:nvPr/>
        </p:nvSpPr>
        <p:spPr>
          <a:xfrm>
            <a:off x="9226296" y="3657600"/>
            <a:ext cx="2331720" cy="1371600"/>
          </a:xfrm>
          <a:prstGeom prst="rect">
            <a:avLst/>
          </a:prstGeom>
          <a:noFill/>
          <a:ln/>
        </p:spPr>
        <p:txBody>
          <a:bodyPr wrap="square" lIns="0" tIns="0" rIns="0" bIns="0" rtlCol="0" anchor="t"/>
          <a:lstStyle/>
          <a:p>
            <a:pPr indent="0" marL="0">
              <a:buNone/>
            </a:pPr>
            <a:r>
              <a:rPr lang="en-US" sz="1400" dirty="0">
                <a:solidFill>
                  <a:srgbClr val="3D3D3B"/>
                </a:solidFill>
              </a:rPr>
              <a:t>adéquation des PD par grade, stabilité, dérogations, par une fonction indépendante</a:t>
            </a:r>
            <a:endParaRPr lang="en-US" sz="1400" dirty="0"/>
          </a:p>
        </p:txBody>
      </p:sp>
      <p:sp>
        <p:nvSpPr>
          <p:cNvPr id="20" name="Text 17"/>
          <p:cNvSpPr txBox="1"/>
          <p:nvPr/>
        </p:nvSpPr>
        <p:spPr>
          <a:xfrm>
            <a:off x="457200" y="5532120"/>
            <a:ext cx="11320272" cy="457200"/>
          </a:xfrm>
          <a:prstGeom prst="rect">
            <a:avLst/>
          </a:prstGeom>
          <a:noFill/>
          <a:ln/>
        </p:spPr>
        <p:txBody>
          <a:bodyPr wrap="square" lIns="0" tIns="0" rIns="0" bIns="0" rtlCol="0" anchor="ctr"/>
          <a:lstStyle/>
          <a:p>
            <a:pPr indent="0" marL="0">
              <a:buNone/>
            </a:pPr>
            <a:r>
              <a:rPr lang="en-US" sz="1500" b="1" dirty="0">
                <a:solidFill>
                  <a:srgbClr val="462016"/>
                </a:solidFill>
              </a:rPr>
              <a:t>La validation est indépendante des équipes qui construisent le modèle, puis présentée au comité modèles.</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MAÎTRISER LA BASCULE</a:t>
            </a:r>
            <a:endParaRPr lang="en-US" sz="2400" dirty="0"/>
          </a:p>
        </p:txBody>
      </p:sp>
      <p:sp>
        <p:nvSpPr>
          <p:cNvPr id="4" name="decision-1"/>
          <p:cNvSpPr/>
          <p:nvPr/>
        </p:nvSpPr>
        <p:spPr>
          <a:xfrm>
            <a:off x="457200" y="1280160"/>
            <a:ext cx="11320272" cy="841248"/>
          </a:xfrm>
          <a:prstGeom prst="roundRect">
            <a:avLst>
              <a:gd name="adj" fmla="val 8696"/>
            </a:avLst>
          </a:prstGeom>
          <a:solidFill>
            <a:srgbClr val="F2E8DB"/>
          </a:solidFill>
          <a:ln/>
        </p:spPr>
      </p:sp>
      <p:sp>
        <p:nvSpPr>
          <p:cNvPr id="5" name="Text 2"/>
          <p:cNvSpPr txBox="1"/>
          <p:nvPr/>
        </p:nvSpPr>
        <p:spPr>
          <a:xfrm>
            <a:off x="685800" y="1280160"/>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01</a:t>
            </a:r>
            <a:endParaRPr lang="en-US" sz="2800" dirty="0"/>
          </a:p>
        </p:txBody>
      </p:sp>
      <p:sp>
        <p:nvSpPr>
          <p:cNvPr id="6" name="Text 3"/>
          <p:cNvSpPr txBox="1"/>
          <p:nvPr/>
        </p:nvSpPr>
        <p:spPr>
          <a:xfrm>
            <a:off x="1554480" y="1280160"/>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Faire tourner les deux modèles en parallèle</a:t>
            </a:r>
            <a:r>
              <a:rPr lang="en-US" sz="1600" dirty="0">
                <a:solidFill>
                  <a:srgbClr val="3D3D3B"/>
                </a:solidFill>
              </a:rPr>
              <a:t>  —  l'outil sait conserver deux versions et les appliquer aux mêmes dossiers.</a:t>
            </a:r>
            <a:endParaRPr lang="en-US" sz="1600" dirty="0"/>
          </a:p>
        </p:txBody>
      </p:sp>
      <p:sp>
        <p:nvSpPr>
          <p:cNvPr id="7" name="decision-2"/>
          <p:cNvSpPr/>
          <p:nvPr/>
        </p:nvSpPr>
        <p:spPr>
          <a:xfrm>
            <a:off x="457200" y="2267712"/>
            <a:ext cx="11320272" cy="841248"/>
          </a:xfrm>
          <a:prstGeom prst="roundRect">
            <a:avLst>
              <a:gd name="adj" fmla="val 8696"/>
            </a:avLst>
          </a:prstGeom>
          <a:solidFill>
            <a:srgbClr val="FBF6F0"/>
          </a:solidFill>
          <a:ln/>
        </p:spPr>
      </p:sp>
      <p:sp>
        <p:nvSpPr>
          <p:cNvPr id="8" name="Text 5"/>
          <p:cNvSpPr txBox="1"/>
          <p:nvPr/>
        </p:nvSpPr>
        <p:spPr>
          <a:xfrm>
            <a:off x="685800" y="2267712"/>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02</a:t>
            </a:r>
            <a:endParaRPr lang="en-US" sz="2800" dirty="0"/>
          </a:p>
        </p:txBody>
      </p:sp>
      <p:sp>
        <p:nvSpPr>
          <p:cNvPr id="9" name="Text 6"/>
          <p:cNvSpPr txBox="1"/>
          <p:nvPr/>
        </p:nvSpPr>
        <p:spPr>
          <a:xfrm>
            <a:off x="1554480" y="2267712"/>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Produire la matrice de migration</a:t>
            </a:r>
            <a:r>
              <a:rPr lang="en-US" sz="1600" dirty="0">
                <a:solidFill>
                  <a:srgbClr val="3D3D3B"/>
                </a:solidFill>
              </a:rPr>
              <a:t>  —  ancien grade × nouveau grade, par segment et par secteur.</a:t>
            </a:r>
            <a:endParaRPr lang="en-US" sz="1600" dirty="0"/>
          </a:p>
        </p:txBody>
      </p:sp>
      <p:sp>
        <p:nvSpPr>
          <p:cNvPr id="10" name="decision-3"/>
          <p:cNvSpPr/>
          <p:nvPr/>
        </p:nvSpPr>
        <p:spPr>
          <a:xfrm>
            <a:off x="457200" y="3255264"/>
            <a:ext cx="11320272" cy="841248"/>
          </a:xfrm>
          <a:prstGeom prst="roundRect">
            <a:avLst>
              <a:gd name="adj" fmla="val 8696"/>
            </a:avLst>
          </a:prstGeom>
          <a:solidFill>
            <a:srgbClr val="F2E8DB"/>
          </a:solidFill>
          <a:ln/>
        </p:spPr>
      </p:sp>
      <p:sp>
        <p:nvSpPr>
          <p:cNvPr id="11" name="Text 8"/>
          <p:cNvSpPr txBox="1"/>
          <p:nvPr/>
        </p:nvSpPr>
        <p:spPr>
          <a:xfrm>
            <a:off x="685800" y="3255264"/>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03</a:t>
            </a:r>
            <a:endParaRPr lang="en-US" sz="2800" dirty="0"/>
          </a:p>
        </p:txBody>
      </p:sp>
      <p:sp>
        <p:nvSpPr>
          <p:cNvPr id="12" name="Text 9"/>
          <p:cNvSpPr txBox="1"/>
          <p:nvPr/>
        </p:nvSpPr>
        <p:spPr>
          <a:xfrm>
            <a:off x="1554480" y="3255264"/>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Analyser un à un les écarts de deux crans ou plus</a:t>
            </a:r>
            <a:r>
              <a:rPr lang="en-US" sz="1600" dirty="0">
                <a:solidFill>
                  <a:srgbClr val="3D3D3B"/>
                </a:solidFill>
              </a:rPr>
              <a:t>  —  signal manqué par l'analyste, ou défaut de données à corriger.</a:t>
            </a:r>
            <a:endParaRPr lang="en-US" sz="1600" dirty="0"/>
          </a:p>
        </p:txBody>
      </p:sp>
      <p:sp>
        <p:nvSpPr>
          <p:cNvPr id="13" name="decision-4"/>
          <p:cNvSpPr/>
          <p:nvPr/>
        </p:nvSpPr>
        <p:spPr>
          <a:xfrm>
            <a:off x="457200" y="4242816"/>
            <a:ext cx="11320272" cy="841248"/>
          </a:xfrm>
          <a:prstGeom prst="roundRect">
            <a:avLst>
              <a:gd name="adj" fmla="val 8696"/>
            </a:avLst>
          </a:prstGeom>
          <a:solidFill>
            <a:srgbClr val="FBF6F0"/>
          </a:solidFill>
          <a:ln/>
        </p:spPr>
      </p:sp>
      <p:sp>
        <p:nvSpPr>
          <p:cNvPr id="14" name="Text 11"/>
          <p:cNvSpPr txBox="1"/>
          <p:nvPr/>
        </p:nvSpPr>
        <p:spPr>
          <a:xfrm>
            <a:off x="685800" y="4242816"/>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04</a:t>
            </a:r>
            <a:endParaRPr lang="en-US" sz="2800" dirty="0"/>
          </a:p>
        </p:txBody>
      </p:sp>
      <p:sp>
        <p:nvSpPr>
          <p:cNvPr id="15" name="Text 12"/>
          <p:cNvSpPr txBox="1"/>
          <p:nvPr/>
        </p:nvSpPr>
        <p:spPr>
          <a:xfrm>
            <a:off x="1554480" y="4242816"/>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Mesurer les impacts avant de décider</a:t>
            </a:r>
            <a:r>
              <a:rPr lang="en-US" sz="1600" dirty="0">
                <a:solidFill>
                  <a:srgbClr val="3D3D3B"/>
                </a:solidFill>
              </a:rPr>
              <a:t>  —  limites, tarification, provisions IFRS 9, fonds propres.</a:t>
            </a:r>
            <a:endParaRPr lang="en-US" sz="1600" dirty="0"/>
          </a:p>
        </p:txBody>
      </p:sp>
      <p:sp>
        <p:nvSpPr>
          <p:cNvPr id="16" name="decision-5"/>
          <p:cNvSpPr/>
          <p:nvPr/>
        </p:nvSpPr>
        <p:spPr>
          <a:xfrm>
            <a:off x="457200" y="5230368"/>
            <a:ext cx="11320272" cy="841248"/>
          </a:xfrm>
          <a:prstGeom prst="roundRect">
            <a:avLst>
              <a:gd name="adj" fmla="val 8696"/>
            </a:avLst>
          </a:prstGeom>
          <a:solidFill>
            <a:srgbClr val="F2E8DB"/>
          </a:solidFill>
          <a:ln/>
        </p:spPr>
      </p:sp>
      <p:sp>
        <p:nvSpPr>
          <p:cNvPr id="17" name="Text 14"/>
          <p:cNvSpPr txBox="1"/>
          <p:nvPr/>
        </p:nvSpPr>
        <p:spPr>
          <a:xfrm>
            <a:off x="685800" y="5230368"/>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05</a:t>
            </a:r>
            <a:endParaRPr lang="en-US" sz="2800" dirty="0"/>
          </a:p>
        </p:txBody>
      </p:sp>
      <p:sp>
        <p:nvSpPr>
          <p:cNvPr id="18" name="Text 15"/>
          <p:cNvSpPr txBox="1"/>
          <p:nvPr/>
        </p:nvSpPr>
        <p:spPr>
          <a:xfrm>
            <a:off x="1554480" y="5230368"/>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Décider d'une règle de transition en comité</a:t>
            </a:r>
            <a:r>
              <a:rPr lang="en-US" sz="1600" dirty="0">
                <a:solidFill>
                  <a:srgbClr val="3D3D3B"/>
                </a:solidFill>
              </a:rPr>
              <a:t>  —  application progressive, revue obligatoire des fortes dégradations.</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UN CALENDRIER INDICATIF SUR 18 MOIS</a:t>
            </a:r>
            <a:endParaRPr lang="en-US" sz="2400" dirty="0"/>
          </a:p>
        </p:txBody>
      </p:sp>
      <p:sp>
        <p:nvSpPr>
          <p:cNvPr id="4" name="etape-1"/>
          <p:cNvSpPr/>
          <p:nvPr/>
        </p:nvSpPr>
        <p:spPr>
          <a:xfrm>
            <a:off x="457200" y="1417320"/>
            <a:ext cx="2240280" cy="1051560"/>
          </a:xfrm>
          <a:prstGeom prst="chevron">
            <a:avLst/>
          </a:prstGeom>
          <a:solidFill>
            <a:srgbClr val="E37B05"/>
          </a:solidFill>
          <a:ln/>
        </p:spPr>
      </p:sp>
      <p:sp>
        <p:nvSpPr>
          <p:cNvPr id="5" name="Text 2"/>
          <p:cNvSpPr txBox="1"/>
          <p:nvPr/>
        </p:nvSpPr>
        <p:spPr>
          <a:xfrm>
            <a:off x="868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M0-6</a:t>
            </a:r>
            <a:endParaRPr lang="en-US" sz="2800" dirty="0"/>
          </a:p>
        </p:txBody>
      </p:sp>
      <p:sp>
        <p:nvSpPr>
          <p:cNvPr id="6" name="Text 3"/>
          <p:cNvSpPr txBox="1"/>
          <p:nvPr/>
        </p:nvSpPr>
        <p:spPr>
          <a:xfrm>
            <a:off x="548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Pilote et collecte</a:t>
            </a:r>
            <a:endParaRPr lang="en-US" sz="1500" dirty="0"/>
          </a:p>
          <a:p>
            <a:pPr algn="ctr" indent="0" marL="0">
              <a:buNone/>
            </a:pPr>
            <a:r>
              <a:rPr lang="en-US" sz="1500" dirty="0">
                <a:solidFill>
                  <a:srgbClr val="8C5B52"/>
                </a:solidFill>
              </a:rPr>
              <a:t>défaut, extraction</a:t>
            </a:r>
            <a:endParaRPr lang="en-US" sz="1500" dirty="0"/>
          </a:p>
        </p:txBody>
      </p:sp>
      <p:sp>
        <p:nvSpPr>
          <p:cNvPr id="7" name="etape-2"/>
          <p:cNvSpPr/>
          <p:nvPr/>
        </p:nvSpPr>
        <p:spPr>
          <a:xfrm>
            <a:off x="2743200" y="1417320"/>
            <a:ext cx="2240280" cy="1051560"/>
          </a:xfrm>
          <a:prstGeom prst="chevron">
            <a:avLst/>
          </a:prstGeom>
          <a:solidFill>
            <a:srgbClr val="E37B05"/>
          </a:solidFill>
          <a:ln/>
        </p:spPr>
      </p:sp>
      <p:sp>
        <p:nvSpPr>
          <p:cNvPr id="8" name="Text 5"/>
          <p:cNvSpPr txBox="1"/>
          <p:nvPr/>
        </p:nvSpPr>
        <p:spPr>
          <a:xfrm>
            <a:off x="3154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M6-9</a:t>
            </a:r>
            <a:endParaRPr lang="en-US" sz="2800" dirty="0"/>
          </a:p>
        </p:txBody>
      </p:sp>
      <p:sp>
        <p:nvSpPr>
          <p:cNvPr id="9" name="Text 6"/>
          <p:cNvSpPr txBox="1"/>
          <p:nvPr/>
        </p:nvSpPr>
        <p:spPr>
          <a:xfrm>
            <a:off x="2834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Données qualifiées</a:t>
            </a:r>
            <a:endParaRPr lang="en-US" sz="1500" dirty="0"/>
          </a:p>
          <a:p>
            <a:pPr algn="ctr" indent="0" marL="0">
              <a:buNone/>
            </a:pPr>
            <a:r>
              <a:rPr lang="en-US" sz="1500" dirty="0">
                <a:solidFill>
                  <a:srgbClr val="8C5B52"/>
                </a:solidFill>
              </a:rPr>
              <a:t>échantillons</a:t>
            </a:r>
            <a:endParaRPr lang="en-US" sz="1500" dirty="0"/>
          </a:p>
        </p:txBody>
      </p:sp>
      <p:sp>
        <p:nvSpPr>
          <p:cNvPr id="10" name="etape-3"/>
          <p:cNvSpPr/>
          <p:nvPr/>
        </p:nvSpPr>
        <p:spPr>
          <a:xfrm>
            <a:off x="5029200" y="1417320"/>
            <a:ext cx="2240280" cy="1051560"/>
          </a:xfrm>
          <a:prstGeom prst="chevron">
            <a:avLst/>
          </a:prstGeom>
          <a:solidFill>
            <a:srgbClr val="E37B05"/>
          </a:solidFill>
          <a:ln/>
        </p:spPr>
      </p:sp>
      <p:sp>
        <p:nvSpPr>
          <p:cNvPr id="11" name="Text 8"/>
          <p:cNvSpPr txBox="1"/>
          <p:nvPr/>
        </p:nvSpPr>
        <p:spPr>
          <a:xfrm>
            <a:off x="5440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M9-12</a:t>
            </a:r>
            <a:endParaRPr lang="en-US" sz="2800" dirty="0"/>
          </a:p>
        </p:txBody>
      </p:sp>
      <p:sp>
        <p:nvSpPr>
          <p:cNvPr id="12" name="Text 9"/>
          <p:cNvSpPr txBox="1"/>
          <p:nvPr/>
        </p:nvSpPr>
        <p:spPr>
          <a:xfrm>
            <a:off x="5120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Modèle et calibration</a:t>
            </a:r>
            <a:endParaRPr lang="en-US" sz="1500" dirty="0"/>
          </a:p>
          <a:p>
            <a:pPr algn="ctr" indent="0" marL="0">
              <a:buNone/>
            </a:pPr>
            <a:r>
              <a:rPr lang="en-US" sz="1500" dirty="0">
                <a:solidFill>
                  <a:srgbClr val="8C5B52"/>
                </a:solidFill>
              </a:rPr>
              <a:t>PME et TPE</a:t>
            </a:r>
            <a:endParaRPr lang="en-US" sz="1500" dirty="0"/>
          </a:p>
        </p:txBody>
      </p:sp>
      <p:sp>
        <p:nvSpPr>
          <p:cNvPr id="13" name="etape-4"/>
          <p:cNvSpPr/>
          <p:nvPr/>
        </p:nvSpPr>
        <p:spPr>
          <a:xfrm>
            <a:off x="7315200" y="1417320"/>
            <a:ext cx="2240280" cy="1051560"/>
          </a:xfrm>
          <a:prstGeom prst="chevron">
            <a:avLst/>
          </a:prstGeom>
          <a:solidFill>
            <a:srgbClr val="E37B05"/>
          </a:solidFill>
          <a:ln/>
        </p:spPr>
      </p:sp>
      <p:sp>
        <p:nvSpPr>
          <p:cNvPr id="14" name="Text 11"/>
          <p:cNvSpPr txBox="1"/>
          <p:nvPr/>
        </p:nvSpPr>
        <p:spPr>
          <a:xfrm>
            <a:off x="7726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M12-15</a:t>
            </a:r>
            <a:endParaRPr lang="en-US" sz="2800" dirty="0"/>
          </a:p>
        </p:txBody>
      </p:sp>
      <p:sp>
        <p:nvSpPr>
          <p:cNvPr id="15" name="Text 12"/>
          <p:cNvSpPr txBox="1"/>
          <p:nvPr/>
        </p:nvSpPr>
        <p:spPr>
          <a:xfrm>
            <a:off x="7406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Validation et comité</a:t>
            </a:r>
            <a:endParaRPr lang="en-US" sz="1500" dirty="0"/>
          </a:p>
          <a:p>
            <a:pPr algn="ctr" indent="0" marL="0">
              <a:buNone/>
            </a:pPr>
            <a:r>
              <a:rPr lang="en-US" sz="1500" dirty="0">
                <a:solidFill>
                  <a:srgbClr val="8C5B52"/>
                </a:solidFill>
              </a:rPr>
              <a:t>indépendante</a:t>
            </a:r>
            <a:endParaRPr lang="en-US" sz="1500" dirty="0"/>
          </a:p>
        </p:txBody>
      </p:sp>
      <p:sp>
        <p:nvSpPr>
          <p:cNvPr id="16" name="etape-5"/>
          <p:cNvSpPr/>
          <p:nvPr/>
        </p:nvSpPr>
        <p:spPr>
          <a:xfrm>
            <a:off x="9601200" y="1417320"/>
            <a:ext cx="2240280" cy="1051560"/>
          </a:xfrm>
          <a:prstGeom prst="chevron">
            <a:avLst/>
          </a:prstGeom>
          <a:solidFill>
            <a:srgbClr val="E37B05"/>
          </a:solidFill>
          <a:ln/>
        </p:spPr>
      </p:sp>
      <p:sp>
        <p:nvSpPr>
          <p:cNvPr id="17" name="Text 14"/>
          <p:cNvSpPr txBox="1"/>
          <p:nvPr/>
        </p:nvSpPr>
        <p:spPr>
          <a:xfrm>
            <a:off x="10012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M15-18</a:t>
            </a:r>
            <a:endParaRPr lang="en-US" sz="2800" dirty="0"/>
          </a:p>
        </p:txBody>
      </p:sp>
      <p:sp>
        <p:nvSpPr>
          <p:cNvPr id="18" name="Text 15"/>
          <p:cNvSpPr txBox="1"/>
          <p:nvPr/>
        </p:nvSpPr>
        <p:spPr>
          <a:xfrm>
            <a:off x="9692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Production</a:t>
            </a:r>
            <a:endParaRPr lang="en-US" sz="1500" dirty="0"/>
          </a:p>
          <a:p>
            <a:pPr algn="ctr" indent="0" marL="0">
              <a:buNone/>
            </a:pPr>
            <a:r>
              <a:rPr lang="en-US" sz="1500" dirty="0">
                <a:solidFill>
                  <a:srgbClr val="8C5B52"/>
                </a:solidFill>
              </a:rPr>
              <a:t>en parallèle, puis filiales</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4</a:t>
            </a:fld>
            <a:endParaRPr lang="en-US"/>
          </a:p>
        </p:txBody>
      </p:sp>
      <p:sp>
        <p:nvSpPr>
          <p:cNvPr id="26" name="encadre"/>
          <p:cNvSpPr/>
          <p:nvPr/>
        </p:nvSpPr>
        <p:spPr>
          <a:xfrm>
            <a:off x="457200" y="3611880"/>
            <a:ext cx="11274552" cy="2148840"/>
          </a:xfrm>
          <a:prstGeom prst="roundRect">
            <a:avLst>
              <a:gd name="adj" fmla="val 4000"/>
            </a:avLst>
          </a:prstGeom>
          <a:solidFill>
            <a:srgbClr val="FB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e"/>
          <p:cNvSpPr txBox="1"/>
          <p:nvPr/>
        </p:nvSpPr>
        <p:spPr>
          <a:xfrm>
            <a:off x="731520" y="3840480"/>
            <a:ext cx="10725912" cy="1691640"/>
          </a:xfrm>
          <a:prstGeom prst="rect">
            <a:avLst/>
          </a:prstGeom>
          <a:noFill/>
        </p:spPr>
        <p:txBody>
          <a:bodyPr wrap="square">
            <a:spAutoFit/>
          </a:bodyPr>
          <a:lstStyle/>
          <a:p>
            <a:pPr>
              <a:spcAft>
                <a:spcPts val="800"/>
              </a:spcAft>
            </a:pPr>
            <a:r>
              <a:rPr sz="1800" b="1">
                <a:solidFill>
                  <a:srgbClr val="462016"/>
                </a:solidFill>
                <a:latin typeface="Arial"/>
              </a:rPr>
              <a:t>En parallèle dès maintenant</a:t>
            </a:r>
          </a:p>
          <a:p>
            <a:pPr>
              <a:spcAft>
                <a:spcPts val="900"/>
              </a:spcAft>
            </a:pPr>
            <a:r>
              <a:rPr sz="1400">
                <a:solidFill>
                  <a:srgbClr val="3D3D3B"/>
                </a:solidFill>
                <a:latin typeface="Arial"/>
              </a:rPr>
              <a:t>L'outil actuel tourne en pilote, en mode fantôme : chaque notation enregistrée enrichit la base de construction du futur modèle.</a:t>
            </a:r>
          </a:p>
          <a:p>
            <a:pPr>
              <a:spcAft>
                <a:spcPts val="900"/>
              </a:spcAft>
            </a:pPr>
            <a:r>
              <a:rPr sz="1400">
                <a:solidFill>
                  <a:srgbClr val="3D3D3B"/>
                </a:solidFill>
                <a:latin typeface="Arial"/>
              </a:rPr>
              <a:t>Les filiales africaines suivent la même démarche, avec une calibration propre à chaque zone (SYSCOHADA, définition locale du défaut).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DÉCISIONS ATTENDUES</a:t>
            </a:r>
            <a:endParaRPr lang="en-US" sz="2400" dirty="0"/>
          </a:p>
        </p:txBody>
      </p:sp>
      <p:sp>
        <p:nvSpPr>
          <p:cNvPr id="4" name="decision-1"/>
          <p:cNvSpPr/>
          <p:nvPr/>
        </p:nvSpPr>
        <p:spPr>
          <a:xfrm>
            <a:off x="457200" y="1280160"/>
            <a:ext cx="11320272" cy="841248"/>
          </a:xfrm>
          <a:prstGeom prst="roundRect">
            <a:avLst>
              <a:gd name="adj" fmla="val 8696"/>
            </a:avLst>
          </a:prstGeom>
          <a:solidFill>
            <a:srgbClr val="F2E8DB"/>
          </a:solidFill>
          <a:ln/>
        </p:spPr>
      </p:sp>
      <p:sp>
        <p:nvSpPr>
          <p:cNvPr id="5" name="Text 2"/>
          <p:cNvSpPr txBox="1"/>
          <p:nvPr/>
        </p:nvSpPr>
        <p:spPr>
          <a:xfrm>
            <a:off x="685800" y="1280160"/>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01</a:t>
            </a:r>
            <a:endParaRPr lang="en-US" sz="2800" dirty="0"/>
          </a:p>
        </p:txBody>
      </p:sp>
      <p:sp>
        <p:nvSpPr>
          <p:cNvPr id="6" name="Text 3"/>
          <p:cNvSpPr txBox="1"/>
          <p:nvPr/>
        </p:nvSpPr>
        <p:spPr>
          <a:xfrm>
            <a:off x="1554480" y="1280160"/>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Arrêter la définition du défaut</a:t>
            </a:r>
            <a:r>
              <a:rPr lang="en-US" sz="1600" dirty="0">
                <a:solidFill>
                  <a:srgbClr val="3D3D3B"/>
                </a:solidFill>
              </a:rPr>
              <a:t>  —  lecture conjointe Risques, Conformité et Juridique, alignée sur Bank Al-Maghrib.</a:t>
            </a:r>
            <a:endParaRPr lang="en-US" sz="1600" dirty="0"/>
          </a:p>
        </p:txBody>
      </p:sp>
      <p:sp>
        <p:nvSpPr>
          <p:cNvPr id="7" name="decision-2"/>
          <p:cNvSpPr/>
          <p:nvPr/>
        </p:nvSpPr>
        <p:spPr>
          <a:xfrm>
            <a:off x="457200" y="2267712"/>
            <a:ext cx="11320272" cy="841248"/>
          </a:xfrm>
          <a:prstGeom prst="roundRect">
            <a:avLst>
              <a:gd name="adj" fmla="val 8696"/>
            </a:avLst>
          </a:prstGeom>
          <a:solidFill>
            <a:srgbClr val="FBF6F0"/>
          </a:solidFill>
          <a:ln/>
        </p:spPr>
      </p:sp>
      <p:sp>
        <p:nvSpPr>
          <p:cNvPr id="8" name="Text 5"/>
          <p:cNvSpPr txBox="1"/>
          <p:nvPr/>
        </p:nvSpPr>
        <p:spPr>
          <a:xfrm>
            <a:off x="685800" y="2267712"/>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02</a:t>
            </a:r>
            <a:endParaRPr lang="en-US" sz="2800" dirty="0"/>
          </a:p>
        </p:txBody>
      </p:sp>
      <p:sp>
        <p:nvSpPr>
          <p:cNvPr id="9" name="Text 6"/>
          <p:cNvSpPr txBox="1"/>
          <p:nvPr/>
        </p:nvSpPr>
        <p:spPr>
          <a:xfrm>
            <a:off x="1554480" y="2267712"/>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Lancer l'extraction de l'historique</a:t>
            </a:r>
            <a:r>
              <a:rPr lang="en-US" sz="1600" dirty="0">
                <a:solidFill>
                  <a:srgbClr val="3D3D3B"/>
                </a:solidFill>
              </a:rPr>
              <a:t>  —  5 à 7 ans de comptes, de comportement bancaire et de défauts, avec l'informatique.</a:t>
            </a:r>
            <a:endParaRPr lang="en-US" sz="1600" dirty="0"/>
          </a:p>
        </p:txBody>
      </p:sp>
      <p:sp>
        <p:nvSpPr>
          <p:cNvPr id="10" name="decision-3"/>
          <p:cNvSpPr/>
          <p:nvPr/>
        </p:nvSpPr>
        <p:spPr>
          <a:xfrm>
            <a:off x="457200" y="3255264"/>
            <a:ext cx="11320272" cy="841248"/>
          </a:xfrm>
          <a:prstGeom prst="roundRect">
            <a:avLst>
              <a:gd name="adj" fmla="val 8696"/>
            </a:avLst>
          </a:prstGeom>
          <a:solidFill>
            <a:srgbClr val="F2E8DB"/>
          </a:solidFill>
          <a:ln/>
        </p:spPr>
      </p:sp>
      <p:sp>
        <p:nvSpPr>
          <p:cNvPr id="11" name="Text 8"/>
          <p:cNvSpPr txBox="1"/>
          <p:nvPr/>
        </p:nvSpPr>
        <p:spPr>
          <a:xfrm>
            <a:off x="685800" y="3255264"/>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03</a:t>
            </a:r>
            <a:endParaRPr lang="en-US" sz="2800" dirty="0"/>
          </a:p>
        </p:txBody>
      </p:sp>
      <p:sp>
        <p:nvSpPr>
          <p:cNvPr id="12" name="Text 9"/>
          <p:cNvSpPr txBox="1"/>
          <p:nvPr/>
        </p:nvSpPr>
        <p:spPr>
          <a:xfrm>
            <a:off x="1554480" y="3255264"/>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Confirmer le pilote en mode fantôme</a:t>
            </a:r>
            <a:r>
              <a:rPr lang="en-US" sz="1600" dirty="0">
                <a:solidFill>
                  <a:srgbClr val="3D3D3B"/>
                </a:solidFill>
              </a:rPr>
              <a:t>  —  l'outil actuel en parallèle du processus, pour fiabiliser et collecter.</a:t>
            </a:r>
            <a:endParaRPr lang="en-US" sz="1600" dirty="0"/>
          </a:p>
        </p:txBody>
      </p:sp>
      <p:sp>
        <p:nvSpPr>
          <p:cNvPr id="13" name="decision-4"/>
          <p:cNvSpPr/>
          <p:nvPr/>
        </p:nvSpPr>
        <p:spPr>
          <a:xfrm>
            <a:off x="457200" y="4242816"/>
            <a:ext cx="11320272" cy="841248"/>
          </a:xfrm>
          <a:prstGeom prst="roundRect">
            <a:avLst>
              <a:gd name="adj" fmla="val 8696"/>
            </a:avLst>
          </a:prstGeom>
          <a:solidFill>
            <a:srgbClr val="FBF6F0"/>
          </a:solidFill>
          <a:ln/>
        </p:spPr>
      </p:sp>
      <p:sp>
        <p:nvSpPr>
          <p:cNvPr id="14" name="Text 11"/>
          <p:cNvSpPr txBox="1"/>
          <p:nvPr/>
        </p:nvSpPr>
        <p:spPr>
          <a:xfrm>
            <a:off x="685800" y="4242816"/>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04</a:t>
            </a:r>
            <a:endParaRPr lang="en-US" sz="2800" dirty="0"/>
          </a:p>
        </p:txBody>
      </p:sp>
      <p:sp>
        <p:nvSpPr>
          <p:cNvPr id="15" name="Text 12"/>
          <p:cNvSpPr txBox="1"/>
          <p:nvPr/>
        </p:nvSpPr>
        <p:spPr>
          <a:xfrm>
            <a:off x="1554480" y="4242816"/>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Trancher le score de l'information absente</a:t>
            </a:r>
            <a:r>
              <a:rPr lang="en-US" sz="1600" dirty="0">
                <a:solidFill>
                  <a:srgbClr val="3D3D3B"/>
                </a:solidFill>
              </a:rPr>
              <a:t>  —  aujourd'hui 25/100, il peut améliorer un critère très mauvais.</a:t>
            </a:r>
            <a:endParaRPr lang="en-US" sz="1600" dirty="0"/>
          </a:p>
        </p:txBody>
      </p:sp>
      <p:sp>
        <p:nvSpPr>
          <p:cNvPr id="16" name="decision-5"/>
          <p:cNvSpPr/>
          <p:nvPr/>
        </p:nvSpPr>
        <p:spPr>
          <a:xfrm>
            <a:off x="457200" y="5230368"/>
            <a:ext cx="11320272" cy="841248"/>
          </a:xfrm>
          <a:prstGeom prst="roundRect">
            <a:avLst>
              <a:gd name="adj" fmla="val 8696"/>
            </a:avLst>
          </a:prstGeom>
          <a:solidFill>
            <a:srgbClr val="F2E8DB"/>
          </a:solidFill>
          <a:ln/>
        </p:spPr>
      </p:sp>
      <p:sp>
        <p:nvSpPr>
          <p:cNvPr id="17" name="Text 14"/>
          <p:cNvSpPr txBox="1"/>
          <p:nvPr/>
        </p:nvSpPr>
        <p:spPr>
          <a:xfrm>
            <a:off x="685800" y="5230368"/>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05</a:t>
            </a:r>
            <a:endParaRPr lang="en-US" sz="2800" dirty="0"/>
          </a:p>
        </p:txBody>
      </p:sp>
      <p:sp>
        <p:nvSpPr>
          <p:cNvPr id="18" name="Text 15"/>
          <p:cNvSpPr txBox="1"/>
          <p:nvPr/>
        </p:nvSpPr>
        <p:spPr>
          <a:xfrm>
            <a:off x="1554480" y="5230368"/>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Désigner l'équipe et la validation</a:t>
            </a:r>
            <a:r>
              <a:rPr lang="en-US" sz="1600" dirty="0">
                <a:solidFill>
                  <a:srgbClr val="3D3D3B"/>
                </a:solidFill>
              </a:rPr>
              <a:t>  —  modélisateurs, et une fonction de validation indépendante.</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3" type="title" hasCustomPrompt="1"/>
          </p:nvPr>
        </p:nvSpPr>
        <p:spPr>
          <a:xfrm>
            <a:off x="731520" y="3200400"/>
            <a:ext cx="8595360" cy="137160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MERCI</a:t>
            </a:r>
            <a:endParaRPr lang="en-US" sz="4000" dirty="0"/>
          </a:p>
        </p:txBody>
      </p:sp>
      <p:sp>
        <p:nvSpPr>
          <p:cNvPr id="3" name="Text 0"/>
          <p:cNvSpPr/>
          <p:nvPr>
            <p:ph idx="104" type="body" hasCustomPrompt="1"/>
          </p:nvPr>
        </p:nvSpPr>
        <p:spPr>
          <a:xfrm>
            <a:off x="731520" y="4617720"/>
            <a:ext cx="8595360" cy="1097280"/>
          </a:xfrm>
          <a:prstGeom prst="rect">
            <a:avLst/>
          </a:prstGeom>
          <a:noFill/>
          <a:ln/>
        </p:spPr>
        <p:txBody>
          <a:bodyPr wrap="square" rtlCol="0" anchor="t"/>
          <a:lstStyle/>
          <a:p>
            <a:pPr algn="l" indent="0" marL="0">
              <a:buNone/>
            </a:pPr>
            <a:r>
              <a:rPr lang="en-US" sz="1800" dirty="0">
                <a:solidFill>
                  <a:schemeClr val="bg1"/>
                </a:solidFill>
                <a:latin typeface="Arial" pitchFamily="34" charset="0"/>
                <a:ea typeface="Arial" pitchFamily="34" charset="-122"/>
                <a:cs typeface="Arial" pitchFamily="34" charset="-120"/>
              </a:rPr>
              <a:t>Questions et échanges — simulateur Excel remis avec la présentation</a:t>
            </a:r>
            <a:endParaRPr lang="en-US" sz="1800" dirty="0"/>
          </a:p>
        </p:txBody>
      </p:sp>
      <p:sp>
        <p:nvSpPr>
          <p:cNvPr id="4" name="Text 0"/>
          <p:cNvSpPr/>
          <p:nvPr>
            <p:ph idx="102" type="body" hasCustomPrompt="1"/>
          </p:nvPr>
        </p:nvSpPr>
        <p:spPr>
          <a:xfrm>
            <a:off x="731520" y="2103120"/>
            <a:ext cx="2743200" cy="1097280"/>
          </a:xfrm>
          <a:prstGeom prst="rect">
            <a:avLst/>
          </a:prstGeom>
          <a:noFill/>
          <a:ln/>
        </p:spPr>
        <p:txBody>
          <a:bodyPr wrap="square" rtlCol="0"/>
          <a:lstStyle/>
          <a:p>
            <a:pPr algn="l" indent="0" marL="0">
              <a:buNone/>
            </a:pPr>
            <a:endParaRPr lang="en-US" sz="6000" dirty="0"/>
          </a:p>
        </p:txBody>
      </p:sp>
    </p:spTree>
  </p:cSld>
  <p:clrMapOvr>
    <a:masterClrMapping/>
  </p:clrMapOvr>
</p:sld>
</file>

<file path=ppt/theme/theme1.xml><?xml version="1.0" encoding="utf-8"?>
<a:theme xmlns:a="http://schemas.openxmlformats.org/drawingml/2006/main" name="Groupe BCP">
  <a:themeElements>
    <a:clrScheme name="Groupe BCP">
      <a:dk1>
        <a:srgbClr val="3D3D3B"/>
      </a:dk1>
      <a:lt1>
        <a:srgbClr val="FFFFFF"/>
      </a:lt1>
      <a:dk2>
        <a:srgbClr val="462016"/>
      </a:dk2>
      <a:lt2>
        <a:srgbClr val="F2E8DB"/>
      </a:lt2>
      <a:accent1>
        <a:srgbClr val="E37B05"/>
      </a:accent1>
      <a:accent2>
        <a:srgbClr val="ED6D19"/>
      </a:accent2>
      <a:accent3>
        <a:srgbClr val="E12E16"/>
      </a:accent3>
      <a:accent4>
        <a:srgbClr val="8C5B52"/>
      </a:accent4>
      <a:accent5>
        <a:srgbClr val="C9560C"/>
      </a:accent5>
      <a:accent6>
        <a:srgbClr val="B3B2B2"/>
      </a:accent6>
      <a:hlink>
        <a:srgbClr val="C9560C"/>
      </a:hlink>
      <a:folHlink>
        <a:srgbClr val="8C5B52"/>
      </a:folHlink>
    </a:clrScheme>
    <a:fontScheme name="Groupe BC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SGES — Présentation au management</dc:title>
  <dc:subject>PptxGenJS Presentation</dc:subject>
  <dc:creator>Projet SGES</dc:creator>
  <cp:lastModifiedBy>Projet SGES</cp:lastModifiedBy>
  <cp:revision>1</cp:revision>
  <dcterms:created xsi:type="dcterms:W3CDTF">2026-10-26T16:52:09Z</dcterms:created>
  <dcterms:modified xsi:type="dcterms:W3CDTF">2026-10-26T16:52:09Z</dcterms:modified>
</cp:coreProperties>
</file>