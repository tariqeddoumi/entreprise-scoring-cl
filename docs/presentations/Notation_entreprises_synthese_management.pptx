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5" r:id="rId11"/>
    <p:sldId id="268" r:id="rId19"/>
    <p:sldId id="269" r:id="rId20"/>
    <p:sldId id="258" r:id="rId4"/>
    <p:sldId id="274" r:id="rId25"/>
    <p:sldId id="270" r:id="rId21"/>
    <p:sldId id="271" r:id="rId22"/>
    <p:sldId id="275" r:id="rId26"/>
    <p:sldId id="260" r:id="rId6"/>
    <p:sldId id="272" r:id="rId23"/>
    <p:sldId id="276" r:id="rId27"/>
    <p:sldId id="273" r:id="rId24"/>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84fd844-e2f6-0d4c-002e-945d5cbcf8e5}">
          <p14:sldIdLst>
            <p14:sldId id="256"/>
            <p14:sldId id="257"/>
          </p14:sldIdLst>
        </p14:section>
        <p14:section name="Enjeux" id="{6adef724-e0ee-596f-432a-8f5d98d973d9}">
          <p14:sldIdLst>
            <p14:sldId id="258"/>
          </p14:sldIdLst>
        </p14:section>
        <p14:section name="L'outil" id="{1edfa864-818c-8daf-1c7c-c97da56cb412}">
          <p14:sldIdLst>
            <p14:sldId id="259"/>
            <p14:sldId id="260"/>
          </p14:sldIdLst>
        </p14:section>
        <p14:section name="Pilotage" id="{d25cff36-180e-681e-dbc0-d44027c1fb15}">
          <p14:sldIdLst>
            <p14:sldId id="261"/>
            <p14:sldId id="262"/>
            <p14:sldId id="263"/>
            <p14:sldId id="264"/>
          </p14:sldIdLst>
        </p14:section>
        <p14:section name="Fiabilité et suite" id="{d172d8ed-f1cc-4767-6ac6-5daf44896569}">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7.xml"/><Relationship Id="rId5" Type="http://schemas.openxmlformats.org/officeDocument/2006/relationships/slide" Target="slides/slide3.xml"/><Relationship Id="rId6" Type="http://schemas.openxmlformats.org/officeDocument/2006/relationships/slide" Target="slides/slide12.xml"/><Relationship Id="rId11" Type="http://schemas.openxmlformats.org/officeDocument/2006/relationships/slide" Target="slides/slide4.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3.xml"/><Relationship Id="rId24" Type="http://schemas.openxmlformats.org/officeDocument/2006/relationships/slide" Target="slides/slide15.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Présentation de 25 minutes environ. Elle remplace, en plus court, les deux présentations précédentes (modèle actuel ; vers le statistique) et ajoute trois sujets : la notation des groupes d'affaires et de leurs membres, la notation des entrées en relation, et la renotation périodique du portefeuille par 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Quatre messages. Le modèle note chaque entreprise sur 45 critères. Il traite explicitement trois situations : l'entreprise seule, l'entreprise d'un groupe, et l'entreprise qui entre en relation. Le portefeuille est renoté chaque mois par lot, sans que la note officielle change sans validation. Enfin, le passage au statistique remplacera les choix d'experts par des mesures, en 18 mois environ.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 temps. 1) On note toujours l'entreprise seule : c'est la note autonome, conservée à côté de la note finale. 2) Le groupe peut relever la note, de deux crans au plus et sans jamais dépasser la note du groupe, à condition de documenter quatre preuves : le groupe a la capacité financière de soutenir, il en a la volonté démontrée, l'engagement est juridiquement contraignant, et les fonds peuvent effectivement être transférés. Une garantie qui ne remplit pas ces conditions joue sur la perte en cas de défaut, pas sur la note. 3) Le groupe peut aussi tirer la note vers le bas : une filiale solide d'un groupe fragile ne peut pas être notée plus d'un cran au-dessus du groupe, sauf cloisonnement démontré. Déjà dans l'outil : note autonome, soutien plafonné à deux crans avec les quatre conditions, plafond STD-P6 si le dossier groupe est incomplet, rattachement des contreparties à un groupe d'affaires. À développer : le statut du membre et le plafond de contagion.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calcul est déterministe : un même dossier donne toujours la même note. L'analyste ne choisit pas la note, il fournit des données qualifiées et des appréciations ancrées sur des repères écrits. Le défaut constaté prime sur tout ; les exceptions et le support groupe agissent après le grade, sans modifier le score.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lot transforme la notation annuelle en surveillance mensuelle, sans alourdir le travail des analystes : seuls les dossiers qui bougent leur reviennent. Chaque lot renoté enrichit aussi l'historique qui servira à estimer le modèle statistique. Condition : un flux mensuel de la DSI sur le comportement bancaire.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se décide une fois, au niveau du groupe, et se justifie au dossier. Il dit jusqu'où le soutien du groupe est crédible. Exemple : un groupe noté STD-P4 ; une filiale cœur notée STD-P6 seule peut remonter à STD-P4 si les quatre preuves sont réunies ; une filiale non stratégique reste à STD-P6 ; une filiale très solide (STD-P2 seule) d'un groupe STD-P5 est ramenée à STD-P4, sauf cloisonnement démontré. Ces règles sont une proposition à valider par la Direction des risques.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note du groupe est la référence de ses membres. Étape 1 : le périmètre suit le contrôle (majorité des droits de vote ou contrôle de fait) et les liens économiques forts (dépendance de financement, garanties croisées), en cohérence avec la notion de bénéficiaires liés de la réglementation sur la division des risques, à confirmer avec la Conformité. Étape 2 : les comptes consolidés audités sont la meilleure source ; sinon, on combine les comptes des membres en éliminant ce qui circule à l'intérieur du groupe. Étape 3 : la grille s'applique au groupe comme à une entreprise. Étape 4 : contrôle de cohérence par le bas — la note du groupe ne peut pas être meilleure que celle de sa tête de groupe, ni ignorer un membre cœur en difficulté. Étape 5 : chaque membre est positionné par rapport à la note du groupe (diapositive suivante). Le groupe est revu chaque année et à chaque événement majeur sur un membre. État : l'outil gère déjà les groupes d'affaires et les renote par lot ; la note du groupe elle-même est à développer.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profils, un par mécanisme. A : PME saine, STD-P3. B : comptes corrects mais compte tendu (retards, dépassements, incidents) : STD-P6. C : score correct mais DSCR de 0,9 : plafonné à STD-P7. D : trop de données manquantes : aucun grade, le dossier est à compléter. E : impayé de plus de 90 jours : DEF1, quel que soit le score.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score se convertit en grade par des bornes fixes. Les garde-fous empêchent qu'une moyenne masque une situation grave : ils plafonnent ou remplacent le grade, sans modifier le score. Aucune probabilité de défaut n'est affichée : la calibration actuelle repose sur des données simulées.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 critères sont des ratios notés sur un barème à cinq paliers ; 31 sont qualitatifs, avec cinq repères écrits chacun. Les poids changent avec la taille : pour une TPE, le compte en dit plus que des comptes souvent peu fiables ; pour une grande entreprise, la capacité à servir la dette domine. Le barème complet est dans le simulateur Excel. Une donnée manquante reçoit un score prudent de 25, sauf les trois données critiques, qui bloquent la notation.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Cinq décisions. La première conditionne le statistique. La deuxième et la troisième valident des méthodes proposées, à développer ensuite dans l'outil. La quatrième conditionne la valeur de la renotation mensuelle. La cinquième lance le pilote : l'outil tourne en parallèle du processus actuel, sans usage décisionnel, et constitue la base de données de demain.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dur est le critère D3.1, retards de paiement : il est bloquant. Pour une vraie nouvelle relation, la banque n'a rien en interne ; il faut donc accepter comme source la centrale des risques de Bank Al-Maghrib ou le crédit bureau, et les relevés des autres banques pour les mouvements et les incidents. La confiance de la note est réduite et la note est revue à 6 mois, quand la banque dispose de son propre historique. Pour un client qui a des comptes sans crédit, le comportement est observé directement ; il faut seulement éviter de le pénaliser sur l'utilisation de lignes qu'il n'a pas (règle « sans objet » à ajouter). Une entreprise de moins de deux ans sort de la grille, sauf soutien de groupe juridiquement robuste : un grade sur un historique inexistant donnerait une fausse impression de mesure. À développer : l'indicateur « nouvelle relation » et la revue à 6 mois.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Disponible dans l'outil, écran Renotation. 1) On choisit le périmètre : une banque ou une filiale, un groupe d'affaires, un segment, un secteur, ou les notes validées depuis plus de N mois. 2) La DSI fournit un fichier de mise à jour (retards, incidents, encours) ; chaque valeur est contrôlée contre la grille. 3) Chaque contrepartie est renotée à partir de son dernier dossier validé, à la nouvelle date d'arrêté et avec la version courante du modèle. 4) L'outil produit la matrice de migration. 5) Les migrations d'au moins un cran (seuil réglable), les absences de note et les défauts ouvrent un dossier de revue pré-rempli. Une nouvelle relation sans dossier validé est signalée, jamais notée par le lot.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statistique garde la structure : critères, domaines, échelle, garde-fous, workflow, règles de groupe et d'entrée en relation. Ce qui change, ce sont les nombres : poids, bornes des barèmes et probabilités de défaut par grade. Méthode recommandée : régression logistique, lisible comme une grille de points, avec un module qualitatif distinct et un modèle d'apprentissage automatique en contrôle seulement.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premières étapes représentent plus de la moitié de l'effort : un modèle ne vaut que ses données. Le volume de défauts est probablement suffisant en PME et TPE, insuffisant en GE, qui demande des méthodes adaptées. Repères de validation : Gini de 50 à 60 % pour des PME, dérive de population inférieure à 10 %, revue annuelle indépendante. Calendrier indicatif : pilote et collecte M0-6, données qualifiées M6-9, modèle M9-12, validation M12-15, production en parallèle M15-18.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écarts sont ceux qu'on observe habituellement ; les vrais écarts ne seront connus qu'avec les données de la banque. La renotation par lot sert aussi à la bascule : on fait tourner les deux versions du modèle sur le même portefeuille et on analyse un à un les écarts de deux crans ou plus, puis on chiffre les impacts (limites, tarification, provisions, fonds propres) avant de décider en comité.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NTERCALAIRE-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FFFFFF"/>
        </a:solidFill>
      </p:bgPr>
    </p:bg>
    <p:spTree>
      <p:nvGrpSpPr>
        <p:cNvPr id="1" name=""/>
        <p:cNvGrpSpPr/>
        <p:nvPr/>
      </p:nvGrpSpPr>
      <p:grpSpPr>
        <a:xfrm>
          <a:off x="0" y="0"/>
          <a:ext cx="0" cy="0"/>
          <a:chOff x="0" y="0"/>
          <a:chExt cx="0" cy="0"/>
        </a:xfrm>
      </p:grpSpPr>
      <p:pic>
        <p:nvPicPr>
          <p:cNvPr id="2" name="Image 0" descr="/tmp/claude-0/pdfbcp/assets/fond.png">    </p:cNvPr>
          <p:cNvPicPr>
            <a:picLocks noChangeAspect="1"/>
          </p:cNvPicPr>
          <p:nvPr/>
        </p:nvPicPr>
        <p:blipFill>
          <a:blip r:embed="rId1"/>
          <a:stretch>
            <a:fillRect/>
          </a:stretch>
        </p:blipFill>
        <p:spPr>
          <a:xfrm>
            <a:off x="0" y="1417320"/>
            <a:ext cx="12191695" cy="5440680"/>
          </a:xfrm>
          <a:prstGeom prst="rect">
            <a:avLst/>
          </a:prstGeom>
        </p:spPr>
      </p:pic>
      <p:pic>
        <p:nvPicPr>
          <p:cNvPr id="3" name="Image 1" descr="/tmp/claude-0/pdfbcp/assets/logo.png">    </p:cNvPr>
          <p:cNvPicPr>
            <a:picLocks noChangeAspect="1"/>
          </p:cNvPicPr>
          <p:nvPr/>
        </p:nvPicPr>
        <p:blipFill>
          <a:blip r:embed="rId2"/>
          <a:stretch>
            <a:fillRect/>
          </a:stretch>
        </p:blipFill>
        <p:spPr>
          <a:xfrm>
            <a:off x="5074920" y="164592"/>
            <a:ext cx="2039112" cy="1060704"/>
          </a:xfrm>
          <a:prstGeom prst="rect">
            <a:avLst/>
          </a:prstGeom>
        </p:spPr>
      </p:pic>
      <p:pic>
        <p:nvPicPr>
          <p:cNvPr id="4" name="Image 2" descr="/tmp/claude-0/pdfbcp/assets/motif.png">    </p:cNvPr>
          <p:cNvPicPr>
            <a:picLocks noChangeAspect="1"/>
          </p:cNvPicPr>
          <p:nvPr/>
        </p:nvPicPr>
        <p:blipFill>
          <a:blip r:embed="rId3"/>
          <a:stretch>
            <a:fillRect/>
          </a:stretch>
        </p:blipFill>
        <p:spPr>
          <a:xfrm>
            <a:off x="9646920" y="1691640"/>
            <a:ext cx="1828800" cy="2706624"/>
          </a:xfrm>
          <a:prstGeom prst="rect">
            <a:avLst/>
          </a:prstGeom>
        </p:spPr>
      </p:pic>
      <p:pic>
        <p:nvPicPr>
          <p:cNvPr id="5" name="Image 3" descr="/tmp/claude-0/pdfbcp/assets/motif2.png">    </p:cNvPr>
          <p:cNvPicPr>
            <a:picLocks noChangeAspect="1"/>
          </p:cNvPicPr>
          <p:nvPr/>
        </p:nvPicPr>
        <p:blipFill>
          <a:blip r:embed="rId4"/>
          <a:stretch>
            <a:fillRect/>
          </a:stretch>
        </p:blipFill>
        <p:spPr>
          <a:xfrm>
            <a:off x="9646920" y="4526280"/>
            <a:ext cx="1828800" cy="2103120"/>
          </a:xfrm>
          <a:prstGeom prst="rect">
            <a:avLst/>
          </a:prstGeom>
        </p:spPr>
      </p:pic>
      <p:sp>
        <p:nvSpPr>
          <p:cNvPr id="6" name="Text 0"/>
          <p:cNvSpPr/>
          <p:nvPr>
            <p:ph idx="104" type="title" hasCustomPrompt="1"/>
          </p:nvPr>
        </p:nvSpPr>
        <p:spPr>
          <a:xfrm>
            <a:off x="731520" y="2240280"/>
            <a:ext cx="7863840" cy="20116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7" name="Text 0"/>
          <p:cNvSpPr/>
          <p:nvPr>
            <p:ph idx="105" type="body" hasCustomPrompt="1"/>
          </p:nvPr>
        </p:nvSpPr>
        <p:spPr>
          <a:xfrm>
            <a:off x="731520" y="4434840"/>
            <a:ext cx="7863840" cy="128016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pdfbcp/assets/logo_blanc.png">    </p:cNvPr>
          <p:cNvPicPr>
            <a:picLocks noChangeAspect="1"/>
          </p:cNvPicPr>
          <p:nvPr/>
        </p:nvPicPr>
        <p:blipFill>
          <a:blip r:embed="rId1"/>
          <a:stretch>
            <a:fillRect/>
          </a:stretch>
        </p:blipFill>
        <p:spPr>
          <a:xfrm>
            <a:off x="548640" y="411480"/>
            <a:ext cx="1371600" cy="713232"/>
          </a:xfrm>
          <a:prstGeom prst="rect">
            <a:avLst/>
          </a:prstGeom>
        </p:spPr>
      </p:pic>
      <p:pic>
        <p:nvPicPr>
          <p:cNvPr id="3" name="Image 1" descr="/tmp/claude-0/pdfbcp/assets/motif.png">    </p:cNvPr>
          <p:cNvPicPr>
            <a:picLocks noChangeAspect="1"/>
          </p:cNvPicPr>
          <p:nvPr/>
        </p:nvPicPr>
        <p:blipFill>
          <a:blip r:embed="rId2"/>
          <a:stretch>
            <a:fillRect/>
          </a:stretch>
        </p:blipFill>
        <p:spPr>
          <a:xfrm>
            <a:off x="9692640" y="502920"/>
            <a:ext cx="1920240" cy="2834640"/>
          </a:xfrm>
          <a:prstGeom prst="rect">
            <a:avLst/>
          </a:prstGeom>
        </p:spPr>
      </p:pic>
      <p:sp>
        <p:nvSpPr>
          <p:cNvPr id="4" name="Text 0"/>
          <p:cNvSpPr/>
          <p:nvPr>
            <p:ph idx="102" type="body" hasCustomPrompt="1"/>
          </p:nvPr>
        </p:nvSpPr>
        <p:spPr>
          <a:xfrm>
            <a:off x="731520" y="2103120"/>
            <a:ext cx="2743200" cy="109728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5" name="Text 0"/>
          <p:cNvSpPr/>
          <p:nvPr>
            <p:ph idx="103" type="title" hasCustomPrompt="1"/>
          </p:nvPr>
        </p:nvSpPr>
        <p:spPr>
          <a:xfrm>
            <a:off x="731520" y="3200400"/>
            <a:ext cx="859536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6" name="Text 0"/>
          <p:cNvSpPr/>
          <p:nvPr>
            <p:ph idx="104" type="body" hasCustomPrompt="1"/>
          </p:nvPr>
        </p:nvSpPr>
        <p:spPr>
          <a:xfrm>
            <a:off x="731520" y="4617720"/>
            <a:ext cx="8595360" cy="109728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pic>
        <p:nvPicPr>
          <p:cNvPr id="2" name="Image 0" descr="/tmp/claude-0/pdfbcp/assets/bandeau.png">    </p:cNvPr>
          <p:cNvPicPr>
            <a:picLocks noChangeAspect="1"/>
          </p:cNvPicPr>
          <p:nvPr/>
        </p:nvPicPr>
        <p:blipFill>
          <a:blip r:embed="rId1"/>
          <a:stretch>
            <a:fillRect/>
          </a:stretch>
        </p:blipFill>
        <p:spPr>
          <a:xfrm>
            <a:off x="411480" y="274320"/>
            <a:ext cx="11365992" cy="713232"/>
          </a:xfrm>
          <a:prstGeom prst="rect">
            <a:avLst/>
          </a:prstGeom>
        </p:spPr>
      </p:pic>
      <p:pic>
        <p:nvPicPr>
          <p:cNvPr id="3" name="Image 1" descr="/tmp/claude-0/pdfbcp/assets/logo_blanc.png">    </p:cNvPr>
          <p:cNvPicPr>
            <a:picLocks noChangeAspect="1"/>
          </p:cNvPicPr>
          <p:nvPr/>
        </p:nvPicPr>
        <p:blipFill>
          <a:blip r:embed="rId2"/>
          <a:stretch>
            <a:fillRect/>
          </a:stretch>
        </p:blipFill>
        <p:spPr>
          <a:xfrm>
            <a:off x="10744200" y="329184"/>
            <a:ext cx="914400" cy="475488"/>
          </a:xfrm>
          <a:prstGeom prst="rect">
            <a:avLst/>
          </a:prstGeom>
        </p:spPr>
      </p:pic>
      <p:sp>
        <p:nvSpPr>
          <p:cNvPr id="4" name="Text 0"/>
          <p:cNvSpPr/>
          <p:nvPr>
            <p:ph idx="102" type="title" hasCustomPrompt="1"/>
          </p:nvPr>
        </p:nvSpPr>
        <p:spPr>
          <a:xfrm>
            <a:off x="594360" y="274320"/>
            <a:ext cx="9966960" cy="713232"/>
          </a:xfrm>
          <a:prstGeom prst="rect">
            <a:avLst/>
          </a:prstGeom>
          <a:noFill/>
          <a:ln/>
        </p:spPr>
        <p:txBody>
          <a:bodyPr wrap="square" rtlCol="0"/>
          <a:lstStyle>
            <a:lvl1pPr indent="0" marL="0">
              <a:buNone/>
              <a:defRPr lang="en-US" sz="2400" b="1" dirty="0">
                <a:solidFill>
                  <a:schemeClr val="bg1"/>
                </a:solidFill>
                <a:latin typeface="Arial" pitchFamily="34" charset="0"/>
                <a:ea typeface="Arial" pitchFamily="34" charset="-122"/>
                <a:cs typeface="Arial" pitchFamily="34" charset="-120"/>
              </a:defRPr>
            </a:lvl1pPr>
          </a:lstStyle>
          <a:p>
            <a:pPr indent="0" marL="0">
              <a:buNone/>
            </a:pPr>
            <a:endParaRPr lang="en-US" sz="2400" dirty="0"/>
          </a:p>
        </p:txBody>
      </p:sp>
      <p:sp>
        <p:nvSpPr>
          <p:cNvPr id="5" name="Text 0"/>
          <p:cNvSpPr/>
          <p:nvPr/>
        </p:nvSpPr>
        <p:spPr>
          <a:xfrm>
            <a:off x="411480" y="6446520"/>
            <a:ext cx="8229600" cy="274320"/>
          </a:xfrm>
          <a:prstGeom prst="rect">
            <a:avLst/>
          </a:prstGeom>
          <a:noFill/>
          <a:ln/>
        </p:spPr>
        <p:txBody>
          <a:bodyPr wrap="square" rtlCol="0" anchor="ctr"/>
          <a:lstStyle/>
          <a:p>
            <a:pPr indent="0" marL="0">
              <a:buNone/>
            </a:pPr>
            <a:r>
              <a:rPr lang="en-US" sz="1000" dirty="0">
                <a:solidFill>
                  <a:schemeClr val="accent4"/>
                </a:solidFill>
                <a:latin typeface="Arial" pitchFamily="34" charset="0"/>
                <a:ea typeface="Arial" pitchFamily="34" charset="-122"/>
                <a:cs typeface="Arial" pitchFamily="34" charset="-120"/>
              </a:rPr>
              <a:t>Notation des entreprises — synthèse pour le management</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4" type="title" hasCustomPrompt="1"/>
          </p:nvPr>
        </p:nvSpPr>
        <p:spPr>
          <a:xfrm>
            <a:off x="731520" y="2240280"/>
            <a:ext cx="7863840" cy="2011680"/>
          </a:xfrm>
          <a:prstGeom prst="rect">
            <a:avLst/>
          </a:prstGeom>
          <a:noFill/>
          <a:ln/>
        </p:spPr>
        <p:txBody>
          <a:bodyPr wrap="square" rtlCol="0" anchor="b"/>
          <a:lstStyle/>
          <a:p>
            <a:pPr algn="l" indent="0" marL="0">
              <a:buNone/>
            </a:pPr>
            <a:r>
              <a:rPr lang="en-US" sz="5000" b="1" dirty="0">
                <a:solidFill>
                  <a:schemeClr val="bg1"/>
                </a:solidFill>
                <a:latin typeface="Arial" pitchFamily="34" charset="0"/>
                <a:ea typeface="Arial" pitchFamily="34" charset="-122"/>
                <a:cs typeface="Arial" pitchFamily="34" charset="-120"/>
              </a:rPr>
              <a:t>NOTATION DES ENTREPRISES</a:t>
            </a:r>
            <a:endParaRPr lang="en-US" sz="4000" dirty="0"/>
          </a:p>
          <a:p>
            <a:pPr algn="l" indent="0" marL="0">
              <a:buNone/>
            </a:pPr>
            <a:r>
              <a:rPr lang="en-US" sz="3000" b="1" dirty="0">
                <a:solidFill>
                  <a:schemeClr val="bg1"/>
                </a:solidFill>
                <a:latin typeface="Arial" pitchFamily="34" charset="0"/>
                <a:ea typeface="Arial" pitchFamily="34" charset="-122"/>
                <a:cs typeface="Arial" pitchFamily="34" charset="-120"/>
              </a:rPr>
              <a:t>SYNTHÈSE POUR LE MANAGEMENT</a:t>
            </a:r>
            <a:endParaRPr lang="en-US" sz="4000" dirty="0"/>
          </a:p>
        </p:txBody>
      </p:sp>
      <p:sp>
        <p:nvSpPr>
          <p:cNvPr id="3" name="Text 0"/>
          <p:cNvSpPr/>
          <p:nvPr>
            <p:ph idx="105" type="body" hasCustomPrompt="1"/>
          </p:nvPr>
        </p:nvSpPr>
        <p:spPr>
          <a:xfrm>
            <a:off x="731520" y="4434840"/>
            <a:ext cx="7863840" cy="128016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Le modèle, les groupes d'affaires, les entrées en relation, la renotation mensuelle et le passage au statistique —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L'ESSENTIEL</a:t>
            </a:r>
            <a:endParaRPr lang="en-US" sz="2400" dirty="0"/>
          </a:p>
        </p:txBody>
      </p:sp>
      <p:sp>
        <p:nvSpPr>
          <p:cNvPr id="4" name="Text 1"/>
          <p:cNvSpPr txBox="1"/>
          <p:nvPr/>
        </p:nvSpPr>
        <p:spPr>
          <a:xfrm>
            <a:off x="457200" y="1188720"/>
            <a:ext cx="11320272" cy="731520"/>
          </a:xfrm>
          <a:prstGeom prst="rect">
            <a:avLst/>
          </a:prstGeom>
          <a:noFill/>
          <a:ln/>
        </p:spPr>
        <p:txBody>
          <a:bodyPr wrap="square" lIns="0" tIns="0" rIns="0" bIns="0" rtlCol="0" anchor="ctr"/>
          <a:lstStyle/>
          <a:p>
            <a:pPr indent="0" marL="0">
              <a:buNone/>
            </a:pPr>
            <a:r>
              <a:rPr lang="en-US" sz="2200" b="1" dirty="0">
                <a:solidFill>
                  <a:srgbClr val="462016"/>
                </a:solidFill>
              </a:rPr>
              <a:t>Une note par contrepartie, cohérente avec son groupe, produite dès l'entrée en relation et tenue à jour chaque mois. La méthode est en place ; ses paramètres restent à estimer sur les défauts de la banque.</a:t>
            </a:r>
            <a:endParaRPr lang="en-US" sz="2200" dirty="0"/>
          </a:p>
        </p:txBody>
      </p:sp>
      <p:sp>
        <p:nvSpPr>
          <p:cNvPr id="5" name="chiffre-0"/>
          <p:cNvSpPr/>
          <p:nvPr/>
        </p:nvSpPr>
        <p:spPr>
          <a:xfrm>
            <a:off x="457200" y="2194560"/>
            <a:ext cx="2670048" cy="3017520"/>
          </a:xfrm>
          <a:prstGeom prst="roundRect">
            <a:avLst>
              <a:gd name="adj" fmla="val 3425"/>
            </a:avLst>
          </a:prstGeom>
          <a:solidFill>
            <a:srgbClr val="F2E8DB"/>
          </a:solidFill>
          <a:ln/>
        </p:spPr>
      </p:sp>
      <p:sp>
        <p:nvSpPr>
          <p:cNvPr id="6" name="Text 3"/>
          <p:cNvSpPr txBox="1"/>
          <p:nvPr/>
        </p:nvSpPr>
        <p:spPr>
          <a:xfrm>
            <a:off x="685800"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45</a:t>
            </a:r>
            <a:endParaRPr lang="en-US" sz="6600" dirty="0"/>
          </a:p>
        </p:txBody>
      </p:sp>
      <p:sp>
        <p:nvSpPr>
          <p:cNvPr id="7" name="Text 4"/>
          <p:cNvSpPr txBox="1"/>
          <p:nvPr/>
        </p:nvSpPr>
        <p:spPr>
          <a:xfrm>
            <a:off x="685800"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CRITÈRES</a:t>
            </a:r>
            <a:endParaRPr lang="en-US" sz="1800" dirty="0"/>
          </a:p>
        </p:txBody>
      </p:sp>
      <p:sp>
        <p:nvSpPr>
          <p:cNvPr id="8" name="Text 5"/>
          <p:cNvSpPr txBox="1"/>
          <p:nvPr/>
        </p:nvSpPr>
        <p:spPr>
          <a:xfrm>
            <a:off x="685800"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sur 7 domaines, pondérés selon la taille : TPE, PME ou grande entreprise</a:t>
            </a:r>
            <a:endParaRPr lang="en-US" sz="1400" dirty="0"/>
          </a:p>
        </p:txBody>
      </p:sp>
      <p:sp>
        <p:nvSpPr>
          <p:cNvPr id="9" name="chiffre-1"/>
          <p:cNvSpPr/>
          <p:nvPr/>
        </p:nvSpPr>
        <p:spPr>
          <a:xfrm>
            <a:off x="3319272" y="2194560"/>
            <a:ext cx="2670048" cy="3017520"/>
          </a:xfrm>
          <a:prstGeom prst="roundRect">
            <a:avLst>
              <a:gd name="adj" fmla="val 3425"/>
            </a:avLst>
          </a:prstGeom>
          <a:solidFill>
            <a:srgbClr val="FBF6F0"/>
          </a:solidFill>
          <a:ln/>
        </p:spPr>
      </p:sp>
      <p:sp>
        <p:nvSpPr>
          <p:cNvPr id="10" name="Text 7"/>
          <p:cNvSpPr txBox="1"/>
          <p:nvPr/>
        </p:nvSpPr>
        <p:spPr>
          <a:xfrm>
            <a:off x="3547872"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3</a:t>
            </a:r>
            <a:endParaRPr lang="en-US" sz="6600" dirty="0"/>
          </a:p>
        </p:txBody>
      </p:sp>
      <p:sp>
        <p:nvSpPr>
          <p:cNvPr id="11" name="Text 8"/>
          <p:cNvSpPr txBox="1"/>
          <p:nvPr/>
        </p:nvSpPr>
        <p:spPr>
          <a:xfrm>
            <a:off x="3547872"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SITUATIONS</a:t>
            </a:r>
            <a:endParaRPr lang="en-US" sz="1800" dirty="0"/>
          </a:p>
        </p:txBody>
      </p:sp>
      <p:sp>
        <p:nvSpPr>
          <p:cNvPr id="12" name="Text 9"/>
          <p:cNvSpPr txBox="1"/>
          <p:nvPr/>
        </p:nvSpPr>
        <p:spPr>
          <a:xfrm>
            <a:off x="3547872"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contrepartie seule, membre d'un groupe, nouvelle relation : une règle pour chacune</a:t>
            </a:r>
            <a:endParaRPr lang="en-US" sz="1400" dirty="0"/>
          </a:p>
        </p:txBody>
      </p:sp>
      <p:sp>
        <p:nvSpPr>
          <p:cNvPr id="13" name="chiffre-2"/>
          <p:cNvSpPr/>
          <p:nvPr/>
        </p:nvSpPr>
        <p:spPr>
          <a:xfrm>
            <a:off x="6181344" y="2194560"/>
            <a:ext cx="2670048" cy="3017520"/>
          </a:xfrm>
          <a:prstGeom prst="roundRect">
            <a:avLst>
              <a:gd name="adj" fmla="val 3425"/>
            </a:avLst>
          </a:prstGeom>
          <a:solidFill>
            <a:srgbClr val="F2E8DB"/>
          </a:solidFill>
          <a:ln/>
        </p:spPr>
      </p:sp>
      <p:sp>
        <p:nvSpPr>
          <p:cNvPr id="14" name="Text 11"/>
          <p:cNvSpPr txBox="1"/>
          <p:nvPr/>
        </p:nvSpPr>
        <p:spPr>
          <a:xfrm>
            <a:off x="6409944"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12</a:t>
            </a:r>
            <a:endParaRPr lang="en-US" sz="6600" dirty="0"/>
          </a:p>
        </p:txBody>
      </p:sp>
      <p:sp>
        <p:nvSpPr>
          <p:cNvPr id="15" name="Text 12"/>
          <p:cNvSpPr txBox="1"/>
          <p:nvPr/>
        </p:nvSpPr>
        <p:spPr>
          <a:xfrm>
            <a:off x="6409944"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LOTS PAR AN</a:t>
            </a:r>
            <a:endParaRPr lang="en-US" sz="1800" dirty="0"/>
          </a:p>
        </p:txBody>
      </p:sp>
      <p:sp>
        <p:nvSpPr>
          <p:cNvPr id="16" name="Text 13"/>
          <p:cNvSpPr txBox="1"/>
          <p:nvPr/>
        </p:nvSpPr>
        <p:spPr>
          <a:xfrm>
            <a:off x="6409944"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de renotation du portefeuille, ciblés par groupe, segment ou secteur</a:t>
            </a:r>
            <a:endParaRPr lang="en-US" sz="1400" dirty="0"/>
          </a:p>
        </p:txBody>
      </p:sp>
      <p:sp>
        <p:nvSpPr>
          <p:cNvPr id="17" name="chiffre-3"/>
          <p:cNvSpPr/>
          <p:nvPr/>
        </p:nvSpPr>
        <p:spPr>
          <a:xfrm>
            <a:off x="9043416" y="2194560"/>
            <a:ext cx="2670048" cy="3017520"/>
          </a:xfrm>
          <a:prstGeom prst="roundRect">
            <a:avLst>
              <a:gd name="adj" fmla="val 3425"/>
            </a:avLst>
          </a:prstGeom>
          <a:solidFill>
            <a:srgbClr val="FBF6F0"/>
          </a:solidFill>
          <a:ln/>
        </p:spPr>
      </p:sp>
      <p:sp>
        <p:nvSpPr>
          <p:cNvPr id="18" name="Text 15"/>
          <p:cNvSpPr txBox="1"/>
          <p:nvPr/>
        </p:nvSpPr>
        <p:spPr>
          <a:xfrm>
            <a:off x="9272016"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18</a:t>
            </a:r>
            <a:endParaRPr lang="en-US" sz="6600" dirty="0"/>
          </a:p>
        </p:txBody>
      </p:sp>
      <p:sp>
        <p:nvSpPr>
          <p:cNvPr id="19" name="Text 16"/>
          <p:cNvSpPr txBox="1"/>
          <p:nvPr/>
        </p:nvSpPr>
        <p:spPr>
          <a:xfrm>
            <a:off x="9272016"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MOIS</a:t>
            </a:r>
            <a:endParaRPr lang="en-US" sz="1800" dirty="0"/>
          </a:p>
        </p:txBody>
      </p:sp>
      <p:sp>
        <p:nvSpPr>
          <p:cNvPr id="20" name="Text 17"/>
          <p:cNvSpPr txBox="1"/>
          <p:nvPr/>
        </p:nvSpPr>
        <p:spPr>
          <a:xfrm>
            <a:off x="9272016"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environ, pour passer à un modèle estimé sur les défauts de la banque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COMMENT SE CONSTRUIT UNE NOTE</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Données du dossier</a:t>
            </a:r>
            <a:endParaRPr lang="en-US" sz="1500" dirty="0"/>
          </a:p>
          <a:p>
            <a:pPr algn="ctr" indent="0" marL="0">
              <a:buNone/>
            </a:pPr>
            <a:r>
              <a:rPr lang="en-US" sz="1500" dirty="0">
                <a:solidFill>
                  <a:srgbClr val="8C5B52"/>
                </a:solidFill>
              </a:rPr>
              <a:t>états financiers, compte</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Statut de chaque donnée</a:t>
            </a:r>
            <a:endParaRPr lang="en-US" sz="1500" dirty="0"/>
          </a:p>
          <a:p>
            <a:pPr algn="ctr" indent="0" marL="0">
              <a:buNone/>
            </a:pPr>
            <a:r>
              <a:rPr lang="en-US" sz="1500" dirty="0">
                <a:solidFill>
                  <a:srgbClr val="8C5B52"/>
                </a:solidFill>
              </a:rPr>
              <a:t>observée, estimée, absente</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Score par critère</a:t>
            </a:r>
            <a:endParaRPr lang="en-US" sz="1500" dirty="0"/>
          </a:p>
          <a:p>
            <a:pPr algn="ctr" indent="0" marL="0">
              <a:buNone/>
            </a:pPr>
            <a:r>
              <a:rPr lang="en-US" sz="1500" dirty="0">
                <a:solidFill>
                  <a:srgbClr val="8C5B52"/>
                </a:solidFill>
              </a:rPr>
              <a:t>barème ou repère, sur 100</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Poids du segment</a:t>
            </a:r>
            <a:endParaRPr lang="en-US" sz="1500" dirty="0"/>
          </a:p>
          <a:p>
            <a:pPr algn="ctr" indent="0" marL="0">
              <a:buNone/>
            </a:pPr>
            <a:r>
              <a:rPr lang="en-US" sz="1500" dirty="0">
                <a:solidFill>
                  <a:srgbClr val="8C5B52"/>
                </a:solidFill>
              </a:rPr>
              <a:t>TPE, PME ou GE</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Score brut</a:t>
            </a:r>
            <a:endParaRPr lang="en-US" sz="1500" dirty="0"/>
          </a:p>
          <a:p>
            <a:pPr algn="ctr" indent="0" marL="0">
              <a:buNone/>
            </a:pPr>
            <a:r>
              <a:rPr lang="en-US" sz="1500" dirty="0">
                <a:solidFill>
                  <a:srgbClr val="8C5B52"/>
                </a:solidFill>
              </a:rPr>
              <a:t>moyenne pondérée</a:t>
            </a:r>
            <a:endParaRPr lang="en-US" sz="1500" dirty="0"/>
          </a:p>
        </p:txBody>
      </p:sp>
      <p:sp>
        <p:nvSpPr>
          <p:cNvPr id="19" name="etape-6"/>
          <p:cNvSpPr/>
          <p:nvPr/>
        </p:nvSpPr>
        <p:spPr>
          <a:xfrm>
            <a:off x="457200" y="3749040"/>
            <a:ext cx="2240280" cy="1051560"/>
          </a:xfrm>
          <a:prstGeom prst="chevron">
            <a:avLst/>
          </a:prstGeom>
          <a:solidFill>
            <a:srgbClr val="8C5B52"/>
          </a:solidFill>
          <a:ln/>
        </p:spPr>
      </p:sp>
      <p:sp>
        <p:nvSpPr>
          <p:cNvPr id="20" name="Text 17"/>
          <p:cNvSpPr txBox="1"/>
          <p:nvPr/>
        </p:nvSpPr>
        <p:spPr>
          <a:xfrm>
            <a:off x="868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6</a:t>
            </a:r>
            <a:endParaRPr lang="en-US" sz="2800" dirty="0"/>
          </a:p>
        </p:txBody>
      </p:sp>
      <p:sp>
        <p:nvSpPr>
          <p:cNvPr id="21" name="Text 18"/>
          <p:cNvSpPr txBox="1"/>
          <p:nvPr/>
        </p:nvSpPr>
        <p:spPr>
          <a:xfrm>
            <a:off x="548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Défaut constaté ?</a:t>
            </a:r>
            <a:endParaRPr lang="en-US" sz="1500" dirty="0"/>
          </a:p>
          <a:p>
            <a:pPr algn="ctr" indent="0" marL="0">
              <a:buNone/>
            </a:pPr>
            <a:r>
              <a:rPr lang="en-US" sz="1500" dirty="0">
                <a:solidFill>
                  <a:srgbClr val="8C5B52"/>
                </a:solidFill>
              </a:rPr>
              <a:t>le grade DEF s'impose</a:t>
            </a:r>
            <a:endParaRPr lang="en-US" sz="1500" dirty="0"/>
          </a:p>
        </p:txBody>
      </p:sp>
      <p:sp>
        <p:nvSpPr>
          <p:cNvPr id="22" name="etape-7"/>
          <p:cNvSpPr/>
          <p:nvPr/>
        </p:nvSpPr>
        <p:spPr>
          <a:xfrm>
            <a:off x="2743200" y="3749040"/>
            <a:ext cx="2240280" cy="1051560"/>
          </a:xfrm>
          <a:prstGeom prst="chevron">
            <a:avLst/>
          </a:prstGeom>
          <a:solidFill>
            <a:srgbClr val="8C5B52"/>
          </a:solidFill>
          <a:ln/>
        </p:spPr>
      </p:sp>
      <p:sp>
        <p:nvSpPr>
          <p:cNvPr id="23" name="Text 20"/>
          <p:cNvSpPr txBox="1"/>
          <p:nvPr/>
        </p:nvSpPr>
        <p:spPr>
          <a:xfrm>
            <a:off x="3154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7</a:t>
            </a:r>
            <a:endParaRPr lang="en-US" sz="2800" dirty="0"/>
          </a:p>
        </p:txBody>
      </p:sp>
      <p:sp>
        <p:nvSpPr>
          <p:cNvPr id="24" name="Text 21"/>
          <p:cNvSpPr txBox="1"/>
          <p:nvPr/>
        </p:nvSpPr>
        <p:spPr>
          <a:xfrm>
            <a:off x="2834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Porte de qualité</a:t>
            </a:r>
            <a:endParaRPr lang="en-US" sz="1500" dirty="0"/>
          </a:p>
          <a:p>
            <a:pPr algn="ctr" indent="0" marL="0">
              <a:buNone/>
            </a:pPr>
            <a:r>
              <a:rPr lang="en-US" sz="1500" dirty="0">
                <a:solidFill>
                  <a:srgbClr val="8C5B52"/>
                </a:solidFill>
              </a:rPr>
              <a:t>assez de données ?</a:t>
            </a:r>
            <a:endParaRPr lang="en-US" sz="1500" dirty="0"/>
          </a:p>
        </p:txBody>
      </p:sp>
      <p:sp>
        <p:nvSpPr>
          <p:cNvPr id="25" name="etape-8"/>
          <p:cNvSpPr/>
          <p:nvPr/>
        </p:nvSpPr>
        <p:spPr>
          <a:xfrm>
            <a:off x="5029200" y="3749040"/>
            <a:ext cx="2240280" cy="1051560"/>
          </a:xfrm>
          <a:prstGeom prst="chevron">
            <a:avLst/>
          </a:prstGeom>
          <a:solidFill>
            <a:srgbClr val="8C5B52"/>
          </a:solidFill>
          <a:ln/>
        </p:spPr>
      </p:sp>
      <p:sp>
        <p:nvSpPr>
          <p:cNvPr id="26" name="Text 23"/>
          <p:cNvSpPr txBox="1"/>
          <p:nvPr/>
        </p:nvSpPr>
        <p:spPr>
          <a:xfrm>
            <a:off x="5440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8</a:t>
            </a:r>
            <a:endParaRPr lang="en-US" sz="2800" dirty="0"/>
          </a:p>
        </p:txBody>
      </p:sp>
      <p:sp>
        <p:nvSpPr>
          <p:cNvPr id="27" name="Text 24"/>
          <p:cNvSpPr txBox="1"/>
          <p:nvPr/>
        </p:nvSpPr>
        <p:spPr>
          <a:xfrm>
            <a:off x="5120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Grade issu du score</a:t>
            </a:r>
            <a:endParaRPr lang="en-US" sz="1500" dirty="0"/>
          </a:p>
          <a:p>
            <a:pPr algn="ctr" indent="0" marL="0">
              <a:buNone/>
            </a:pPr>
            <a:r>
              <a:rPr lang="en-US" sz="1500" dirty="0">
                <a:solidFill>
                  <a:srgbClr val="8C5B52"/>
                </a:solidFill>
              </a:rPr>
              <a:t>bornes fixes</a:t>
            </a:r>
            <a:endParaRPr lang="en-US" sz="1500" dirty="0"/>
          </a:p>
        </p:txBody>
      </p:sp>
      <p:sp>
        <p:nvSpPr>
          <p:cNvPr id="28" name="etape-9"/>
          <p:cNvSpPr/>
          <p:nvPr/>
        </p:nvSpPr>
        <p:spPr>
          <a:xfrm>
            <a:off x="7315200" y="3749040"/>
            <a:ext cx="2240280" cy="1051560"/>
          </a:xfrm>
          <a:prstGeom prst="chevron">
            <a:avLst/>
          </a:prstGeom>
          <a:solidFill>
            <a:srgbClr val="8C5B52"/>
          </a:solidFill>
          <a:ln/>
        </p:spPr>
      </p:sp>
      <p:sp>
        <p:nvSpPr>
          <p:cNvPr id="29" name="Text 26"/>
          <p:cNvSpPr txBox="1"/>
          <p:nvPr/>
        </p:nvSpPr>
        <p:spPr>
          <a:xfrm>
            <a:off x="7726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9</a:t>
            </a:r>
            <a:endParaRPr lang="en-US" sz="2800" dirty="0"/>
          </a:p>
        </p:txBody>
      </p:sp>
      <p:sp>
        <p:nvSpPr>
          <p:cNvPr id="30" name="Text 27"/>
          <p:cNvSpPr txBox="1"/>
          <p:nvPr/>
        </p:nvSpPr>
        <p:spPr>
          <a:xfrm>
            <a:off x="7406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Exceptions</a:t>
            </a:r>
            <a:endParaRPr lang="en-US" sz="1500" dirty="0"/>
          </a:p>
          <a:p>
            <a:pPr algn="ctr" indent="0" marL="0">
              <a:buNone/>
            </a:pPr>
            <a:r>
              <a:rPr lang="en-US" sz="1500" dirty="0">
                <a:solidFill>
                  <a:srgbClr val="8C5B52"/>
                </a:solidFill>
              </a:rPr>
              <a:t>plafonnent le grade</a:t>
            </a:r>
            <a:endParaRPr lang="en-US" sz="1500" dirty="0"/>
          </a:p>
        </p:txBody>
      </p:sp>
      <p:sp>
        <p:nvSpPr>
          <p:cNvPr id="31" name="etape-10"/>
          <p:cNvSpPr/>
          <p:nvPr/>
        </p:nvSpPr>
        <p:spPr>
          <a:xfrm>
            <a:off x="9601200" y="3749040"/>
            <a:ext cx="2240280" cy="1051560"/>
          </a:xfrm>
          <a:prstGeom prst="chevron">
            <a:avLst/>
          </a:prstGeom>
          <a:solidFill>
            <a:srgbClr val="8C5B52"/>
          </a:solidFill>
          <a:ln/>
        </p:spPr>
      </p:sp>
      <p:sp>
        <p:nvSpPr>
          <p:cNvPr id="32" name="Text 29"/>
          <p:cNvSpPr txBox="1"/>
          <p:nvPr/>
        </p:nvSpPr>
        <p:spPr>
          <a:xfrm>
            <a:off x="10012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10</a:t>
            </a:r>
            <a:endParaRPr lang="en-US" sz="2800" dirty="0"/>
          </a:p>
        </p:txBody>
      </p:sp>
      <p:sp>
        <p:nvSpPr>
          <p:cNvPr id="33" name="Text 30"/>
          <p:cNvSpPr txBox="1"/>
          <p:nvPr/>
        </p:nvSpPr>
        <p:spPr>
          <a:xfrm>
            <a:off x="9692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Support groupe</a:t>
            </a:r>
            <a:endParaRPr lang="en-US" sz="1500" dirty="0"/>
          </a:p>
          <a:p>
            <a:pPr algn="ctr" indent="0" marL="0">
              <a:buNone/>
            </a:pPr>
            <a:r>
              <a:rPr lang="en-US" sz="1500" dirty="0">
                <a:solidFill>
                  <a:srgbClr val="8C5B52"/>
                </a:solidFill>
              </a:rPr>
              <a:t>2 crans au plus</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Étapes 1-2 : l'analyste saisit et qualifie. Étapes 3-10 : le moteur calcule, toujours dans le même ordre.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SEPT DOMAINES, PONDÉRÉS SELON LA TAILLE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Trois données sont critiques : fonds propres tangibles, dette nette / EBE et retards de paiement. Sans elles, aucune note.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4096512"/>
        </p:xfrm>
        <a:graphic>
          <a:graphicData uri="http://schemas.openxmlformats.org/drawingml/2006/table">
            <a:tbl>
              <a:tblPr firstRow="0" bandRow="0"/>
              <a:tblGrid>
                <a:gridCol w="3291840"/>
                <a:gridCol w="5513832"/>
                <a:gridCol w="822960"/>
                <a:gridCol w="822960"/>
                <a:gridCol w="822960"/>
              </a:tblGrid>
              <a:tr h="512064">
                <a:tc>
                  <a:txBody>
                    <a:bodyPr wrap="square"/>
                    <a:lstStyle/>
                    <a:p>
                      <a:pPr algn="l"/>
                      <a:r>
                        <a:rPr sz="1300" b="1">
                          <a:solidFill>
                            <a:srgbClr val="FFFFFF"/>
                          </a:solidFill>
                          <a:latin typeface="Arial"/>
                        </a:rPr>
                        <a:t>Domaine</a:t>
                      </a:r>
                    </a:p>
                  </a:txBody>
                  <a:tcPr marL="91440" marR="91440" marT="36576" marB="36576" anchor="ctr">
                    <a:solidFill>
                      <a:srgbClr val="E37B05"/>
                    </a:solidFill>
                  </a:tcPr>
                </a:tc>
                <a:tc>
                  <a:txBody>
                    <a:bodyPr wrap="square"/>
                    <a:lstStyle/>
                    <a:p>
                      <a:pPr algn="l"/>
                      <a:r>
                        <a:rPr sz="1300" b="1">
                          <a:solidFill>
                            <a:srgbClr val="FFFFFF"/>
                          </a:solidFill>
                          <a:latin typeface="Arial"/>
                        </a:rPr>
                        <a:t>Ce qui est mesuré</a:t>
                      </a:r>
                    </a:p>
                  </a:txBody>
                  <a:tcPr marL="91440" marR="91440" marT="36576" marB="36576" anchor="ctr">
                    <a:solidFill>
                      <a:srgbClr val="E37B05"/>
                    </a:solidFill>
                  </a:tcPr>
                </a:tc>
                <a:tc>
                  <a:txBody>
                    <a:bodyPr wrap="square"/>
                    <a:lstStyle/>
                    <a:p>
                      <a:pPr algn="ctr"/>
                      <a:r>
                        <a:rPr sz="1300" b="1">
                          <a:solidFill>
                            <a:srgbClr val="FFFFFF"/>
                          </a:solidFill>
                          <a:latin typeface="Arial"/>
                        </a:rPr>
                        <a:t>TPE</a:t>
                      </a:r>
                    </a:p>
                  </a:txBody>
                  <a:tcPr marL="91440" marR="91440" marT="36576" marB="36576" anchor="ctr">
                    <a:solidFill>
                      <a:srgbClr val="E37B05"/>
                    </a:solidFill>
                  </a:tcPr>
                </a:tc>
                <a:tc>
                  <a:txBody>
                    <a:bodyPr wrap="square"/>
                    <a:lstStyle/>
                    <a:p>
                      <a:pPr algn="ctr"/>
                      <a:r>
                        <a:rPr sz="1300" b="1">
                          <a:solidFill>
                            <a:srgbClr val="FFFFFF"/>
                          </a:solidFill>
                          <a:latin typeface="Arial"/>
                        </a:rPr>
                        <a:t>PME</a:t>
                      </a:r>
                    </a:p>
                  </a:txBody>
                  <a:tcPr marL="91440" marR="91440" marT="36576" marB="36576" anchor="ctr">
                    <a:solidFill>
                      <a:srgbClr val="E37B05"/>
                    </a:solidFill>
                  </a:tcPr>
                </a:tc>
                <a:tc>
                  <a:txBody>
                    <a:bodyPr wrap="square"/>
                    <a:lstStyle/>
                    <a:p>
                      <a:pPr algn="ctr"/>
                      <a:r>
                        <a:rPr sz="1300" b="1">
                          <a:solidFill>
                            <a:srgbClr val="FFFFFF"/>
                          </a:solidFill>
                          <a:latin typeface="Arial"/>
                        </a:rPr>
                        <a:t>GE</a:t>
                      </a:r>
                    </a:p>
                  </a:txBody>
                  <a:tcPr marL="91440" marR="91440" marT="36576" marB="36576" anchor="ctr">
                    <a:solidFill>
                      <a:srgbClr val="E37B05"/>
                    </a:solidFill>
                  </a:tcPr>
                </a:tc>
              </a:tr>
              <a:tr h="512064">
                <a:tc>
                  <a:txBody>
                    <a:bodyPr wrap="square"/>
                    <a:lstStyle/>
                    <a:p>
                      <a:pPr algn="l"/>
                      <a:r>
                        <a:rPr sz="1300" b="1">
                          <a:solidFill>
                            <a:srgbClr val="462016"/>
                          </a:solidFill>
                          <a:latin typeface="Arial"/>
                        </a:rPr>
                        <a:t>D1 · Performance financière et bilan</a:t>
                      </a:r>
                    </a:p>
                  </a:txBody>
                  <a:tcPr marL="91440" marR="91440" marT="36576" marB="36576" anchor="ctr">
                    <a:solidFill>
                      <a:srgbClr val="F2E8DB"/>
                    </a:solidFill>
                  </a:tcPr>
                </a:tc>
                <a:tc>
                  <a:txBody>
                    <a:bodyPr wrap="square"/>
                    <a:lstStyle/>
                    <a:p>
                      <a:pPr algn="l"/>
                      <a:r>
                        <a:rPr sz="1300" b="0">
                          <a:solidFill>
                            <a:srgbClr val="3D3D3B"/>
                          </a:solidFill>
                          <a:latin typeface="Arial"/>
                        </a:rPr>
                        <a:t>Croissance, marges, fonds propres, endettement, liquidité</a:t>
                      </a:r>
                    </a:p>
                  </a:txBody>
                  <a:tcPr marL="91440" marR="91440" marT="36576" marB="36576" anchor="ctr">
                    <a:solidFill>
                      <a:srgbClr val="F2E8DB"/>
                    </a:solidFill>
                  </a:tcPr>
                </a:tc>
                <a:tc>
                  <a:txBody>
                    <a:bodyPr wrap="square"/>
                    <a:lstStyle/>
                    <a:p>
                      <a:pPr algn="ctr"/>
                      <a:r>
                        <a:rPr sz="1300" b="0">
                          <a:solidFill>
                            <a:srgbClr val="3D3D3B"/>
                          </a:solidFill>
                          <a:latin typeface="Arial"/>
                        </a:rPr>
                        <a:t>25 %</a:t>
                      </a:r>
                    </a:p>
                  </a:txBody>
                  <a:tcPr marL="91440" marR="91440" marT="36576" marB="36576" anchor="ctr">
                    <a:solidFill>
                      <a:srgbClr val="F2E8DB"/>
                    </a:solidFill>
                  </a:tcPr>
                </a:tc>
                <a:tc>
                  <a:txBody>
                    <a:bodyPr wrap="square"/>
                    <a:lstStyle/>
                    <a:p>
                      <a:pPr algn="ctr"/>
                      <a:r>
                        <a:rPr sz="1300" b="0">
                          <a:solidFill>
                            <a:srgbClr val="3D3D3B"/>
                          </a:solidFill>
                          <a:latin typeface="Arial"/>
                        </a:rPr>
                        <a:t>30 %</a:t>
                      </a:r>
                    </a:p>
                  </a:txBody>
                  <a:tcPr marL="91440" marR="91440" marT="36576" marB="36576" anchor="ctr">
                    <a:solidFill>
                      <a:srgbClr val="F2E8DB"/>
                    </a:solidFill>
                  </a:tcPr>
                </a:tc>
                <a:tc>
                  <a:txBody>
                    <a:bodyPr wrap="square"/>
                    <a:lstStyle/>
                    <a:p>
                      <a:pPr algn="ctr"/>
                      <a:r>
                        <a:rPr sz="1300" b="0">
                          <a:solidFill>
                            <a:srgbClr val="3D3D3B"/>
                          </a:solidFill>
                          <a:latin typeface="Arial"/>
                        </a:rPr>
                        <a:t>30 %</a:t>
                      </a:r>
                    </a:p>
                  </a:txBody>
                  <a:tcPr marL="91440" marR="91440" marT="36576" marB="36576" anchor="ctr">
                    <a:solidFill>
                      <a:srgbClr val="F2E8DB"/>
                    </a:solidFill>
                  </a:tcPr>
                </a:tc>
              </a:tr>
              <a:tr h="512064">
                <a:tc>
                  <a:txBody>
                    <a:bodyPr wrap="square"/>
                    <a:lstStyle/>
                    <a:p>
                      <a:pPr algn="l"/>
                      <a:r>
                        <a:rPr sz="1300" b="1">
                          <a:solidFill>
                            <a:srgbClr val="462016"/>
                          </a:solidFill>
                          <a:latin typeface="Arial"/>
                        </a:rPr>
                        <a:t>D2 · Capacité de remboursement</a:t>
                      </a:r>
                    </a:p>
                  </a:txBody>
                  <a:tcPr marL="91440" marR="91440" marT="36576" marB="36576" anchor="ctr">
                    <a:solidFill>
                      <a:srgbClr val="FBF6F0"/>
                    </a:solidFill>
                  </a:tcPr>
                </a:tc>
                <a:tc>
                  <a:txBody>
                    <a:bodyPr wrap="square"/>
                    <a:lstStyle/>
                    <a:p>
                      <a:pPr algn="l"/>
                      <a:r>
                        <a:rPr sz="1300" b="0">
                          <a:solidFill>
                            <a:srgbClr val="3D3D3B"/>
                          </a:solidFill>
                          <a:latin typeface="Arial"/>
                        </a:rPr>
                        <a:t>Couverture du service de la dette, résistance à un scénario de stress</a:t>
                      </a:r>
                    </a:p>
                  </a:txBody>
                  <a:tcPr marL="91440" marR="91440" marT="36576" marB="36576" anchor="ctr">
                    <a:solidFill>
                      <a:srgbClr val="FBF6F0"/>
                    </a:solidFill>
                  </a:tcPr>
                </a:tc>
                <a:tc>
                  <a:txBody>
                    <a:bodyPr wrap="square"/>
                    <a:lstStyle/>
                    <a:p>
                      <a:pPr algn="ctr"/>
                      <a:r>
                        <a:rPr sz="1300" b="0">
                          <a:solidFill>
                            <a:srgbClr val="3D3D3B"/>
                          </a:solidFill>
                          <a:latin typeface="Arial"/>
                        </a:rPr>
                        <a:t>10 %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20 %</a:t>
                      </a:r>
                    </a:p>
                  </a:txBody>
                  <a:tcPr marL="91440" marR="91440" marT="36576" marB="36576" anchor="ctr">
                    <a:solidFill>
                      <a:srgbClr val="FBF6F0"/>
                    </a:solidFill>
                  </a:tcPr>
                </a:tc>
              </a:tr>
              <a:tr h="512064">
                <a:tc>
                  <a:txBody>
                    <a:bodyPr wrap="square"/>
                    <a:lstStyle/>
                    <a:p>
                      <a:pPr algn="l"/>
                      <a:r>
                        <a:rPr sz="1300" b="1">
                          <a:solidFill>
                            <a:srgbClr val="462016"/>
                          </a:solidFill>
                          <a:latin typeface="Arial"/>
                        </a:rPr>
                        <a:t>D3 · Comportement bancaire</a:t>
                      </a:r>
                    </a:p>
                  </a:txBody>
                  <a:tcPr marL="91440" marR="91440" marT="36576" marB="36576" anchor="ctr">
                    <a:solidFill>
                      <a:srgbClr val="F2E8DB"/>
                    </a:solidFill>
                  </a:tcPr>
                </a:tc>
                <a:tc>
                  <a:txBody>
                    <a:bodyPr wrap="square"/>
                    <a:lstStyle/>
                    <a:p>
                      <a:pPr algn="l"/>
                      <a:r>
                        <a:rPr sz="1300" b="0">
                          <a:solidFill>
                            <a:srgbClr val="3D3D3B"/>
                          </a:solidFill>
                          <a:latin typeface="Arial"/>
                        </a:rPr>
                        <a:t>Retards de paiement, dépassements, utilisation des lignes, flux confiés</a:t>
                      </a:r>
                    </a:p>
                  </a:txBody>
                  <a:tcPr marL="91440" marR="91440" marT="36576" marB="36576" anchor="ctr">
                    <a:solidFill>
                      <a:srgbClr val="F2E8DB"/>
                    </a:solidFill>
                  </a:tcPr>
                </a:tc>
                <a:tc>
                  <a:txBody>
                    <a:bodyPr wrap="square"/>
                    <a:lstStyle/>
                    <a:p>
                      <a:pPr algn="ctr"/>
                      <a:r>
                        <a:rPr sz="1300" b="0">
                          <a:solidFill>
                            <a:srgbClr val="3D3D3B"/>
                          </a:solidFill>
                          <a:latin typeface="Arial"/>
                        </a:rPr>
                        <a:t>25 %</a:t>
                      </a:r>
                    </a:p>
                  </a:txBody>
                  <a:tcPr marL="91440" marR="91440" marT="36576" marB="36576" anchor="ctr">
                    <a:solidFill>
                      <a:srgbClr val="F2E8DB"/>
                    </a:solidFill>
                  </a:tcPr>
                </a:tc>
                <a:tc>
                  <a:txBody>
                    <a:bodyPr wrap="square"/>
                    <a:lstStyle/>
                    <a:p>
                      <a:pPr algn="ctr"/>
                      <a:r>
                        <a:rPr sz="1300" b="0">
                          <a:solidFill>
                            <a:srgbClr val="3D3D3B"/>
                          </a:solidFill>
                          <a:latin typeface="Arial"/>
                        </a:rPr>
                        <a:t>20 %</a:t>
                      </a:r>
                    </a:p>
                  </a:txBody>
                  <a:tcPr marL="91440" marR="91440" marT="36576" marB="36576" anchor="ctr">
                    <a:solidFill>
                      <a:srgbClr val="F2E8DB"/>
                    </a:solidFill>
                  </a:tcPr>
                </a:tc>
                <a:tc>
                  <a:txBody>
                    <a:bodyPr wrap="square"/>
                    <a:lstStyle/>
                    <a:p>
                      <a:pPr algn="ctr"/>
                      <a:r>
                        <a:rPr sz="1300" b="0">
                          <a:solidFill>
                            <a:srgbClr val="3D3D3B"/>
                          </a:solidFill>
                          <a:latin typeface="Arial"/>
                        </a:rPr>
                        <a:t>10 %</a:t>
                      </a:r>
                    </a:p>
                  </a:txBody>
                  <a:tcPr marL="91440" marR="91440" marT="36576" marB="36576" anchor="ctr">
                    <a:solidFill>
                      <a:srgbClr val="F2E8DB"/>
                    </a:solidFill>
                  </a:tcPr>
                </a:tc>
              </a:tr>
              <a:tr h="512064">
                <a:tc>
                  <a:txBody>
                    <a:bodyPr wrap="square"/>
                    <a:lstStyle/>
                    <a:p>
                      <a:pPr algn="l"/>
                      <a:r>
                        <a:rPr sz="1300" b="1">
                          <a:solidFill>
                            <a:srgbClr val="462016"/>
                          </a:solidFill>
                          <a:latin typeface="Arial"/>
                        </a:rPr>
                        <a:t>D4 · Activité et secteur</a:t>
                      </a:r>
                    </a:p>
                  </a:txBody>
                  <a:tcPr marL="91440" marR="91440" marT="36576" marB="36576" anchor="ctr">
                    <a:solidFill>
                      <a:srgbClr val="FBF6F0"/>
                    </a:solidFill>
                  </a:tcPr>
                </a:tc>
                <a:tc>
                  <a:txBody>
                    <a:bodyPr wrap="square"/>
                    <a:lstStyle/>
                    <a:p>
                      <a:pPr algn="l"/>
                      <a:r>
                        <a:rPr sz="1300" b="0">
                          <a:solidFill>
                            <a:srgbClr val="3D3D3B"/>
                          </a:solidFill>
                          <a:latin typeface="Arial"/>
                        </a:rPr>
                        <a:t>Risque sectoriel, concentration clients et fournisseurs, carnet de commandes</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r>
              <a:tr h="512064">
                <a:tc>
                  <a:txBody>
                    <a:bodyPr wrap="square"/>
                    <a:lstStyle/>
                    <a:p>
                      <a:pPr algn="l"/>
                      <a:r>
                        <a:rPr sz="1300" b="1">
                          <a:solidFill>
                            <a:srgbClr val="462016"/>
                          </a:solidFill>
                          <a:latin typeface="Arial"/>
                        </a:rPr>
                        <a:t>D5 · Management et groupe</a:t>
                      </a:r>
                    </a:p>
                  </a:txBody>
                  <a:tcPr marL="91440" marR="91440" marT="36576" marB="36576" anchor="ctr">
                    <a:solidFill>
                      <a:srgbClr val="F2E8DB"/>
                    </a:solidFill>
                  </a:tcPr>
                </a:tc>
                <a:tc>
                  <a:txBody>
                    <a:bodyPr wrap="square"/>
                    <a:lstStyle/>
                    <a:p>
                      <a:pPr algn="l"/>
                      <a:r>
                        <a:rPr sz="1300" b="0">
                          <a:solidFill>
                            <a:srgbClr val="3D3D3B"/>
                          </a:solidFill>
                          <a:latin typeface="Arial"/>
                        </a:rPr>
                        <a:t>Expérience, succession, gouvernance, actionnariat</a:t>
                      </a:r>
                    </a:p>
                  </a:txBody>
                  <a:tcPr marL="91440" marR="91440" marT="36576" marB="36576" anchor="ctr">
                    <a:solidFill>
                      <a:srgbClr val="F2E8DB"/>
                    </a:solidFill>
                  </a:tcPr>
                </a:tc>
                <a:tc>
                  <a:txBody>
                    <a:bodyPr wrap="square"/>
                    <a:lstStyle/>
                    <a:p>
                      <a:pPr algn="ctr"/>
                      <a:r>
                        <a:rPr sz="1300" b="0">
                          <a:solidFill>
                            <a:srgbClr val="3D3D3B"/>
                          </a:solidFill>
                          <a:latin typeface="Arial"/>
                        </a:rPr>
                        <a:t>15 %</a:t>
                      </a:r>
                    </a:p>
                  </a:txBody>
                  <a:tcPr marL="91440" marR="91440" marT="36576" marB="36576" anchor="ctr">
                    <a:solidFill>
                      <a:srgbClr val="F2E8DB"/>
                    </a:solidFill>
                  </a:tcPr>
                </a:tc>
                <a:tc>
                  <a:txBody>
                    <a:bodyPr wrap="square"/>
                    <a:lstStyle/>
                    <a:p>
                      <a:pPr algn="ctr"/>
                      <a:r>
                        <a:rPr sz="1300" b="0">
                          <a:solidFill>
                            <a:srgbClr val="3D3D3B"/>
                          </a:solidFill>
                          <a:latin typeface="Arial"/>
                        </a:rPr>
                        <a:t>12 %</a:t>
                      </a:r>
                    </a:p>
                  </a:txBody>
                  <a:tcPr marL="91440" marR="91440" marT="36576" marB="36576" anchor="ctr">
                    <a:solidFill>
                      <a:srgbClr val="F2E8DB"/>
                    </a:solidFill>
                  </a:tcPr>
                </a:tc>
                <a:tc>
                  <a:txBody>
                    <a:bodyPr wrap="square"/>
                    <a:lstStyle/>
                    <a:p>
                      <a:pPr algn="ctr"/>
                      <a:r>
                        <a:rPr sz="1300" b="0">
                          <a:solidFill>
                            <a:srgbClr val="3D3D3B"/>
                          </a:solidFill>
                          <a:latin typeface="Arial"/>
                        </a:rPr>
                        <a:t>15 %</a:t>
                      </a:r>
                    </a:p>
                  </a:txBody>
                  <a:tcPr marL="91440" marR="91440" marT="36576" marB="36576" anchor="ctr">
                    <a:solidFill>
                      <a:srgbClr val="F2E8DB"/>
                    </a:solidFill>
                  </a:tcPr>
                </a:tc>
              </a:tr>
              <a:tr h="512064">
                <a:tc>
                  <a:txBody>
                    <a:bodyPr wrap="square"/>
                    <a:lstStyle/>
                    <a:p>
                      <a:pPr algn="l"/>
                      <a:r>
                        <a:rPr sz="1300" b="1">
                          <a:solidFill>
                            <a:srgbClr val="462016"/>
                          </a:solidFill>
                          <a:latin typeface="Arial"/>
                        </a:rPr>
                        <a:t>D6 · Transparence et conformité</a:t>
                      </a:r>
                    </a:p>
                  </a:txBody>
                  <a:tcPr marL="91440" marR="91440" marT="36576" marB="36576" anchor="ctr">
                    <a:solidFill>
                      <a:srgbClr val="FBF6F0"/>
                    </a:solidFill>
                  </a:tcPr>
                </a:tc>
                <a:tc>
                  <a:txBody>
                    <a:bodyPr wrap="square"/>
                    <a:lstStyle/>
                    <a:p>
                      <a:pPr algn="l"/>
                      <a:r>
                        <a:rPr sz="1300" b="0">
                          <a:solidFill>
                            <a:srgbClr val="3D3D3B"/>
                          </a:solidFill>
                          <a:latin typeface="Arial"/>
                        </a:rPr>
                        <a:t>Qualité et délai de l'information financière, situation fiscale et sociale</a:t>
                      </a:r>
                    </a:p>
                  </a:txBody>
                  <a:tcPr marL="91440" marR="91440" marT="36576" marB="36576" anchor="ctr">
                    <a:solidFill>
                      <a:srgbClr val="FBF6F0"/>
                    </a:solidFill>
                  </a:tcPr>
                </a:tc>
                <a:tc>
                  <a:txBody>
                    <a:bodyPr wrap="square"/>
                    <a:lstStyle/>
                    <a:p>
                      <a:pPr algn="ctr"/>
                      <a:r>
                        <a:rPr sz="1300" b="0">
                          <a:solidFill>
                            <a:srgbClr val="3D3D3B"/>
                          </a:solidFill>
                          <a:latin typeface="Arial"/>
                        </a:rPr>
                        <a:t>7 %</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r>
              <a:tr h="512064">
                <a:tc>
                  <a:txBody>
                    <a:bodyPr wrap="square"/>
                    <a:lstStyle/>
                    <a:p>
                      <a:pPr algn="l"/>
                      <a:r>
                        <a:rPr sz="1300" b="1">
                          <a:solidFill>
                            <a:srgbClr val="462016"/>
                          </a:solidFill>
                          <a:latin typeface="Arial"/>
                        </a:rPr>
                        <a:t>D7 · ESG et climat</a:t>
                      </a:r>
                    </a:p>
                  </a:txBody>
                  <a:tcPr marL="91440" marR="91440" marT="36576" marB="36576" anchor="ctr">
                    <a:solidFill>
                      <a:srgbClr val="F2E8DB"/>
                    </a:solidFill>
                  </a:tcPr>
                </a:tc>
                <a:tc>
                  <a:txBody>
                    <a:bodyPr wrap="square"/>
                    <a:lstStyle/>
                    <a:p>
                      <a:pPr algn="l"/>
                      <a:r>
                        <a:rPr sz="1300" b="0">
                          <a:solidFill>
                            <a:srgbClr val="3D3D3B"/>
                          </a:solidFill>
                          <a:latin typeface="Arial"/>
                        </a:rPr>
                        <a:t>Risque climatique physique, transition, conformité environnementale</a:t>
                      </a:r>
                    </a:p>
                  </a:txBody>
                  <a:tcPr marL="91440" marR="91440" marT="36576" marB="36576" anchor="ctr">
                    <a:solidFill>
                      <a:srgbClr val="F2E8DB"/>
                    </a:solidFill>
                  </a:tcPr>
                </a:tc>
                <a:tc>
                  <a:txBody>
                    <a:bodyPr wrap="square"/>
                    <a:lstStyle/>
                    <a:p>
                      <a:pPr algn="ctr"/>
                      <a:r>
                        <a:rPr sz="1300" b="0">
                          <a:solidFill>
                            <a:srgbClr val="3D3D3B"/>
                          </a:solidFill>
                          <a:latin typeface="Arial"/>
                        </a:rPr>
                        <a:t>3 %</a:t>
                      </a:r>
                    </a:p>
                  </a:txBody>
                  <a:tcPr marL="91440" marR="91440" marT="36576" marB="36576" anchor="ctr">
                    <a:solidFill>
                      <a:srgbClr val="F2E8DB"/>
                    </a:solidFill>
                  </a:tcPr>
                </a:tc>
                <a:tc>
                  <a:txBody>
                    <a:bodyPr wrap="square"/>
                    <a:lstStyle/>
                    <a:p>
                      <a:pPr algn="ctr"/>
                      <a:r>
                        <a:rPr sz="1300" b="0">
                          <a:solidFill>
                            <a:srgbClr val="3D3D3B"/>
                          </a:solidFill>
                          <a:latin typeface="Arial"/>
                        </a:rPr>
                        <a:t>3 %</a:t>
                      </a:r>
                    </a:p>
                  </a:txBody>
                  <a:tcPr marL="91440" marR="91440" marT="36576" marB="36576" anchor="ctr">
                    <a:solidFill>
                      <a:srgbClr val="F2E8DB"/>
                    </a:solidFill>
                  </a:tcPr>
                </a:tc>
                <a:tc>
                  <a:txBody>
                    <a:bodyPr wrap="square"/>
                    <a:lstStyle/>
                    <a:p>
                      <a:pPr algn="ctr"/>
                      <a:r>
                        <a:rPr sz="1300" b="0">
                          <a:solidFill>
                            <a:srgbClr val="3D3D3B"/>
                          </a:solidFill>
                          <a:latin typeface="Arial"/>
                        </a:rPr>
                        <a:t>5 %</a:t>
                      </a:r>
                    </a:p>
                  </a:txBody>
                  <a:tcPr marL="91440" marR="91440" marT="36576" marB="36576" anchor="ctr">
                    <a:solidFill>
                      <a:srgbClr val="F2E8DB"/>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DU SCORE AU GRADE, ET LES GARDE-FOUS</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grade de défaut (DEF1 à DEF3) ne vient jamais du score : c'est un constat.</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5120640" cy="4114800"/>
        </p:xfrm>
        <a:graphic>
          <a:graphicData uri="http://schemas.openxmlformats.org/drawingml/2006/table">
            <a:tbl>
              <a:tblPr firstRow="0" bandRow="0"/>
              <a:tblGrid>
                <a:gridCol w="1463040"/>
                <a:gridCol w="1737360"/>
                <a:gridCol w="1920240"/>
              </a:tblGrid>
              <a:tr h="457200">
                <a:tc>
                  <a:txBody>
                    <a:bodyPr wrap="square"/>
                    <a:lstStyle/>
                    <a:p>
                      <a:pPr algn="l"/>
                      <a:r>
                        <a:rPr sz="1300" b="1">
                          <a:solidFill>
                            <a:srgbClr val="FFFFFF"/>
                          </a:solidFill>
                          <a:latin typeface="Arial"/>
                        </a:rPr>
                        <a:t>Grade</a:t>
                      </a:r>
                    </a:p>
                  </a:txBody>
                  <a:tcPr marL="91440" marR="91440" marT="36576" marB="36576" anchor="ctr">
                    <a:solidFill>
                      <a:srgbClr val="E37B05"/>
                    </a:solidFill>
                  </a:tcPr>
                </a:tc>
                <a:tc>
                  <a:txBody>
                    <a:bodyPr wrap="square"/>
                    <a:lstStyle/>
                    <a:p>
                      <a:pPr algn="ctr"/>
                      <a:r>
                        <a:rPr sz="1300" b="1">
                          <a:solidFill>
                            <a:srgbClr val="FFFFFF"/>
                          </a:solidFill>
                          <a:latin typeface="Arial"/>
                        </a:rPr>
                        <a:t>Score brut</a:t>
                      </a:r>
                    </a:p>
                  </a:txBody>
                  <a:tcPr marL="91440" marR="91440" marT="36576" marB="36576" anchor="ctr">
                    <a:solidFill>
                      <a:srgbClr val="E37B05"/>
                    </a:solidFill>
                  </a:tcPr>
                </a:tc>
                <a:tc>
                  <a:txBody>
                    <a:bodyPr wrap="square"/>
                    <a:lstStyle/>
                    <a:p>
                      <a:pPr algn="l"/>
                      <a:r>
                        <a:rPr sz="1300" b="1">
                          <a:solidFill>
                            <a:srgbClr val="FFFFFF"/>
                          </a:solidFill>
                          <a:latin typeface="Arial"/>
                        </a:rPr>
                        <a:t>Lecture</a:t>
                      </a:r>
                    </a:p>
                  </a:txBody>
                  <a:tcPr marL="91440" marR="91440" marT="36576" marB="36576" anchor="ctr">
                    <a:solidFill>
                      <a:srgbClr val="E37B05"/>
                    </a:solidFill>
                  </a:tcPr>
                </a:tc>
              </a:tr>
              <a:tr h="457200">
                <a:tc>
                  <a:txBody>
                    <a:bodyPr wrap="square"/>
                    <a:lstStyle/>
                    <a:p>
                      <a:pPr algn="l"/>
                      <a:r>
                        <a:rPr sz="1300" b="1">
                          <a:solidFill>
                            <a:srgbClr val="462016"/>
                          </a:solidFill>
                          <a:latin typeface="Arial"/>
                        </a:rPr>
                        <a:t>STD-P1</a:t>
                      </a:r>
                    </a:p>
                  </a:txBody>
                  <a:tcPr marL="91440" marR="91440" marT="36576" marB="36576" anchor="ctr">
                    <a:solidFill>
                      <a:srgbClr val="F2E8DB"/>
                    </a:solidFill>
                  </a:tcPr>
                </a:tc>
                <a:tc>
                  <a:txBody>
                    <a:bodyPr wrap="square"/>
                    <a:lstStyle/>
                    <a:p>
                      <a:pPr algn="ctr"/>
                      <a:r>
                        <a:rPr sz="1300" b="0">
                          <a:solidFill>
                            <a:srgbClr val="3D3D3B"/>
                          </a:solidFill>
                          <a:latin typeface="Arial"/>
                        </a:rPr>
                        <a:t>88 et plus</a:t>
                      </a:r>
                    </a:p>
                  </a:txBody>
                  <a:tcPr marL="91440" marR="91440" marT="36576" marB="36576" anchor="ctr">
                    <a:solidFill>
                      <a:srgbClr val="F2E8DB"/>
                    </a:solidFill>
                  </a:tcPr>
                </a:tc>
                <a:tc>
                  <a:txBody>
                    <a:bodyPr wrap="square"/>
                    <a:lstStyle/>
                    <a:p>
                      <a:pPr algn="l"/>
                      <a:r>
                        <a:rPr sz="1300" b="0">
                          <a:solidFill>
                            <a:srgbClr val="3D3D3B"/>
                          </a:solidFill>
                          <a:latin typeface="Arial"/>
                        </a:rPr>
                        <a:t>Très solide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STD-P2</a:t>
                      </a:r>
                    </a:p>
                  </a:txBody>
                  <a:tcPr marL="91440" marR="91440" marT="36576" marB="36576" anchor="ctr">
                    <a:solidFill>
                      <a:srgbClr val="FBF6F0"/>
                    </a:solidFill>
                  </a:tcPr>
                </a:tc>
                <a:tc>
                  <a:txBody>
                    <a:bodyPr wrap="square"/>
                    <a:lstStyle/>
                    <a:p>
                      <a:pPr algn="ctr"/>
                      <a:r>
                        <a:rPr sz="1300" b="0">
                          <a:solidFill>
                            <a:srgbClr val="3D3D3B"/>
                          </a:solidFill>
                          <a:latin typeface="Arial"/>
                        </a:rPr>
                        <a:t>82 à 88</a:t>
                      </a:r>
                    </a:p>
                  </a:txBody>
                  <a:tcPr marL="91440" marR="91440" marT="36576" marB="36576" anchor="ctr">
                    <a:solidFill>
                      <a:srgbClr val="FBF6F0"/>
                    </a:solidFill>
                  </a:tcPr>
                </a:tc>
                <a:tc>
                  <a:txBody>
                    <a:bodyPr wrap="square"/>
                    <a:lstStyle/>
                    <a:p>
                      <a:pPr algn="l"/>
                      <a:r>
                        <a:rPr sz="1300" b="0">
                          <a:solidFill>
                            <a:srgbClr val="3D3D3B"/>
                          </a:solidFill>
                          <a:latin typeface="Arial"/>
                        </a:rPr>
                        <a:t>Solide</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STD-P3</a:t>
                      </a:r>
                    </a:p>
                  </a:txBody>
                  <a:tcPr marL="91440" marR="91440" marT="36576" marB="36576" anchor="ctr">
                    <a:solidFill>
                      <a:srgbClr val="F2E8DB"/>
                    </a:solidFill>
                  </a:tcPr>
                </a:tc>
                <a:tc>
                  <a:txBody>
                    <a:bodyPr wrap="square"/>
                    <a:lstStyle/>
                    <a:p>
                      <a:pPr algn="ctr"/>
                      <a:r>
                        <a:rPr sz="1300" b="0">
                          <a:solidFill>
                            <a:srgbClr val="3D3D3B"/>
                          </a:solidFill>
                          <a:latin typeface="Arial"/>
                        </a:rPr>
                        <a:t>76 à 82</a:t>
                      </a:r>
                    </a:p>
                  </a:txBody>
                  <a:tcPr marL="91440" marR="91440" marT="36576" marB="36576" anchor="ctr">
                    <a:solidFill>
                      <a:srgbClr val="F2E8DB"/>
                    </a:solidFill>
                  </a:tcPr>
                </a:tc>
                <a:tc>
                  <a:txBody>
                    <a:bodyPr wrap="square"/>
                    <a:lstStyle/>
                    <a:p>
                      <a:pPr algn="l"/>
                      <a:r>
                        <a:rPr sz="1300" b="0">
                          <a:solidFill>
                            <a:srgbClr val="3D3D3B"/>
                          </a:solidFill>
                          <a:latin typeface="Arial"/>
                        </a:rPr>
                        <a:t>Bon</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STD-P4</a:t>
                      </a:r>
                    </a:p>
                  </a:txBody>
                  <a:tcPr marL="91440" marR="91440" marT="36576" marB="36576" anchor="ctr">
                    <a:solidFill>
                      <a:srgbClr val="FBF6F0"/>
                    </a:solidFill>
                  </a:tcPr>
                </a:tc>
                <a:tc>
                  <a:txBody>
                    <a:bodyPr wrap="square"/>
                    <a:lstStyle/>
                    <a:p>
                      <a:pPr algn="ctr"/>
                      <a:r>
                        <a:rPr sz="1300" b="0">
                          <a:solidFill>
                            <a:srgbClr val="3D3D3B"/>
                          </a:solidFill>
                          <a:latin typeface="Arial"/>
                        </a:rPr>
                        <a:t>70 à 76</a:t>
                      </a:r>
                    </a:p>
                  </a:txBody>
                  <a:tcPr marL="91440" marR="91440" marT="36576" marB="36576" anchor="ctr">
                    <a:solidFill>
                      <a:srgbClr val="FBF6F0"/>
                    </a:solidFill>
                  </a:tcPr>
                </a:tc>
                <a:tc>
                  <a:txBody>
                    <a:bodyPr wrap="square"/>
                    <a:lstStyle/>
                    <a:p>
                      <a:pPr algn="l"/>
                      <a:r>
                        <a:rPr sz="1300" b="0">
                          <a:solidFill>
                            <a:srgbClr val="3D3D3B"/>
                          </a:solidFill>
                          <a:latin typeface="Arial"/>
                        </a:rPr>
                        <a:t>Satisfaisant</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STD-P5</a:t>
                      </a:r>
                    </a:p>
                  </a:txBody>
                  <a:tcPr marL="91440" marR="91440" marT="36576" marB="36576" anchor="ctr">
                    <a:solidFill>
                      <a:srgbClr val="F2E8DB"/>
                    </a:solidFill>
                  </a:tcPr>
                </a:tc>
                <a:tc>
                  <a:txBody>
                    <a:bodyPr wrap="square"/>
                    <a:lstStyle/>
                    <a:p>
                      <a:pPr algn="ctr"/>
                      <a:r>
                        <a:rPr sz="1300" b="0">
                          <a:solidFill>
                            <a:srgbClr val="3D3D3B"/>
                          </a:solidFill>
                          <a:latin typeface="Arial"/>
                        </a:rPr>
                        <a:t>64 à 70</a:t>
                      </a:r>
                    </a:p>
                  </a:txBody>
                  <a:tcPr marL="91440" marR="91440" marT="36576" marB="36576" anchor="ctr">
                    <a:solidFill>
                      <a:srgbClr val="F2E8DB"/>
                    </a:solidFill>
                  </a:tcPr>
                </a:tc>
                <a:tc>
                  <a:txBody>
                    <a:bodyPr wrap="square"/>
                    <a:lstStyle/>
                    <a:p>
                      <a:pPr algn="l"/>
                      <a:r>
                        <a:rPr sz="1300" b="0">
                          <a:solidFill>
                            <a:srgbClr val="3D3D3B"/>
                          </a:solidFill>
                          <a:latin typeface="Arial"/>
                        </a:rPr>
                        <a:t>Acceptable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STD-P6</a:t>
                      </a:r>
                    </a:p>
                  </a:txBody>
                  <a:tcPr marL="91440" marR="91440" marT="36576" marB="36576" anchor="ctr">
                    <a:solidFill>
                      <a:srgbClr val="FBF6F0"/>
                    </a:solidFill>
                  </a:tcPr>
                </a:tc>
                <a:tc>
                  <a:txBody>
                    <a:bodyPr wrap="square"/>
                    <a:lstStyle/>
                    <a:p>
                      <a:pPr algn="ctr"/>
                      <a:r>
                        <a:rPr sz="1300" b="0">
                          <a:solidFill>
                            <a:srgbClr val="3D3D3B"/>
                          </a:solidFill>
                          <a:latin typeface="Arial"/>
                        </a:rPr>
                        <a:t>57 à 64</a:t>
                      </a:r>
                    </a:p>
                  </a:txBody>
                  <a:tcPr marL="91440" marR="91440" marT="36576" marB="36576" anchor="ctr">
                    <a:solidFill>
                      <a:srgbClr val="FBF6F0"/>
                    </a:solidFill>
                  </a:tcPr>
                </a:tc>
                <a:tc>
                  <a:txBody>
                    <a:bodyPr wrap="square"/>
                    <a:lstStyle/>
                    <a:p>
                      <a:pPr algn="l"/>
                      <a:r>
                        <a:rPr sz="1300" b="0">
                          <a:solidFill>
                            <a:srgbClr val="3D3D3B"/>
                          </a:solidFill>
                          <a:latin typeface="Arial"/>
                        </a:rPr>
                        <a:t>Fragile</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STD-P7</a:t>
                      </a:r>
                    </a:p>
                  </a:txBody>
                  <a:tcPr marL="91440" marR="91440" marT="36576" marB="36576" anchor="ctr">
                    <a:solidFill>
                      <a:srgbClr val="F2E8DB"/>
                    </a:solidFill>
                  </a:tcPr>
                </a:tc>
                <a:tc>
                  <a:txBody>
                    <a:bodyPr wrap="square"/>
                    <a:lstStyle/>
                    <a:p>
                      <a:pPr algn="ctr"/>
                      <a:r>
                        <a:rPr sz="1300" b="0">
                          <a:solidFill>
                            <a:srgbClr val="3D3D3B"/>
                          </a:solidFill>
                          <a:latin typeface="Arial"/>
                        </a:rPr>
                        <a:t>48 à 57</a:t>
                      </a:r>
                    </a:p>
                  </a:txBody>
                  <a:tcPr marL="91440" marR="91440" marT="36576" marB="36576" anchor="ctr">
                    <a:solidFill>
                      <a:srgbClr val="F2E8DB"/>
                    </a:solidFill>
                  </a:tcPr>
                </a:tc>
                <a:tc>
                  <a:txBody>
                    <a:bodyPr wrap="square"/>
                    <a:lstStyle/>
                    <a:p>
                      <a:pPr algn="l"/>
                      <a:r>
                        <a:rPr sz="1300" b="0">
                          <a:solidFill>
                            <a:srgbClr val="3D3D3B"/>
                          </a:solidFill>
                          <a:latin typeface="Arial"/>
                        </a:rPr>
                        <a:t>Faible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STD-P8</a:t>
                      </a:r>
                    </a:p>
                  </a:txBody>
                  <a:tcPr marL="91440" marR="91440" marT="36576" marB="36576" anchor="ctr">
                    <a:solidFill>
                      <a:srgbClr val="FBF6F0"/>
                    </a:solidFill>
                  </a:tcPr>
                </a:tc>
                <a:tc>
                  <a:txBody>
                    <a:bodyPr wrap="square"/>
                    <a:lstStyle/>
                    <a:p>
                      <a:pPr algn="ctr"/>
                      <a:r>
                        <a:rPr sz="1300" b="0">
                          <a:solidFill>
                            <a:srgbClr val="3D3D3B"/>
                          </a:solidFill>
                          <a:latin typeface="Arial"/>
                        </a:rPr>
                        <a:t>moins de 48</a:t>
                      </a:r>
                    </a:p>
                  </a:txBody>
                  <a:tcPr marL="91440" marR="91440" marT="36576" marB="36576" anchor="ctr">
                    <a:solidFill>
                      <a:srgbClr val="FBF6F0"/>
                    </a:solidFill>
                  </a:tcPr>
                </a:tc>
                <a:tc>
                  <a:txBody>
                    <a:bodyPr wrap="square"/>
                    <a:lstStyle/>
                    <a:p>
                      <a:pPr algn="l"/>
                      <a:r>
                        <a:rPr sz="1300" b="0">
                          <a:solidFill>
                            <a:srgbClr val="3D3D3B"/>
                          </a:solidFill>
                          <a:latin typeface="Arial"/>
                        </a:rPr>
                        <a:t>Très faible</a:t>
                      </a:r>
                    </a:p>
                  </a:txBody>
                  <a:tcPr marL="91440" marR="91440" marT="36576" marB="36576" anchor="ctr">
                    <a:solidFill>
                      <a:srgbClr val="FBF6F0"/>
                    </a:solidFill>
                  </a:tcPr>
                </a:tc>
              </a:tr>
            </a:tbl>
          </a:graphicData>
        </a:graphic>
      </p:graphicFrame>
      <p:sp>
        <p:nvSpPr>
          <p:cNvPr id="27" name="encadre"/>
          <p:cNvSpPr/>
          <p:nvPr/>
        </p:nvSpPr>
        <p:spPr>
          <a:xfrm>
            <a:off x="5943600" y="1280160"/>
            <a:ext cx="5788152" cy="411480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e"/>
          <p:cNvSpPr txBox="1"/>
          <p:nvPr/>
        </p:nvSpPr>
        <p:spPr>
          <a:xfrm>
            <a:off x="6217920" y="1508760"/>
            <a:ext cx="5239512" cy="3657600"/>
          </a:xfrm>
          <a:prstGeom prst="rect">
            <a:avLst/>
          </a:prstGeom>
          <a:noFill/>
        </p:spPr>
        <p:txBody>
          <a:bodyPr wrap="square">
            <a:spAutoFit/>
          </a:bodyPr>
          <a:lstStyle/>
          <a:p>
            <a:pPr>
              <a:spcAft>
                <a:spcPts val="800"/>
              </a:spcAft>
            </a:pPr>
            <a:r>
              <a:rPr sz="1800" b="1">
                <a:solidFill>
                  <a:srgbClr val="462016"/>
                </a:solidFill>
                <a:latin typeface="Arial"/>
              </a:rPr>
              <a:t>Quatre garde-fous</a:t>
            </a:r>
          </a:p>
          <a:p>
            <a:pPr>
              <a:spcAft>
                <a:spcPts val="900"/>
              </a:spcAft>
            </a:pPr>
            <a:r>
              <a:rPr sz="1400">
                <a:solidFill>
                  <a:srgbClr val="3D3D3B"/>
                </a:solidFill>
                <a:latin typeface="Arial"/>
              </a:rPr>
              <a:t>Défaut constaté : le grade DEF s'impose, même sur un dossier incomplet.</a:t>
            </a:r>
          </a:p>
          <a:p>
            <a:pPr>
              <a:spcAft>
                <a:spcPts val="900"/>
              </a:spcAft>
            </a:pPr>
            <a:r>
              <a:rPr sz="1400">
                <a:solidFill>
                  <a:srgbClr val="3D3D3B"/>
                </a:solidFill>
                <a:latin typeface="Arial"/>
              </a:rPr>
              <a:t>Porte de qualité : 60 % du poids sur des données observées (30 % par domaine), sinon aucun grade.</a:t>
            </a:r>
          </a:p>
          <a:p>
            <a:pPr>
              <a:spcAft>
                <a:spcPts val="900"/>
              </a:spcAft>
            </a:pPr>
            <a:r>
              <a:rPr sz="1400">
                <a:solidFill>
                  <a:srgbClr val="3D3D3B"/>
                </a:solidFill>
                <a:latin typeface="Arial"/>
              </a:rPr>
              <a:t>Exceptions : DSCR &lt; 1, continuité douteuse, EBE négatif 2 ans sur 3 → au mieux STD-P7 ; dossier groupe incomplet → au mieux STD-P6.</a:t>
            </a:r>
          </a:p>
          <a:p>
            <a:pPr>
              <a:spcAft>
                <a:spcPts val="900"/>
              </a:spcAft>
            </a:pPr>
            <a:r>
              <a:rPr sz="1400">
                <a:solidFill>
                  <a:srgbClr val="3D3D3B"/>
                </a:solidFill>
                <a:latin typeface="Arial"/>
              </a:rPr>
              <a:t>Support groupe : 2 crans au plus, si les 4 conditions sont documentées.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CINQ CAS FICTIFS, CALCULÉS PAR L'OUTIL</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Entreprises fictives, segment PME, arrêté au 30 juin 2026. Les mêmes cas sont rejouables dans le simulateur Excel.</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4279392"/>
        </p:xfrm>
        <a:graphic>
          <a:graphicData uri="http://schemas.openxmlformats.org/drawingml/2006/table">
            <a:tbl>
              <a:tblPr firstRow="0" bandRow="0"/>
              <a:tblGrid>
                <a:gridCol w="2148840"/>
                <a:gridCol w="4206240"/>
                <a:gridCol w="868680"/>
                <a:gridCol w="1234440"/>
                <a:gridCol w="1078992"/>
                <a:gridCol w="1737360"/>
              </a:tblGrid>
              <a:tr h="713232">
                <a:tc>
                  <a:txBody>
                    <a:bodyPr wrap="square"/>
                    <a:lstStyle/>
                    <a:p>
                      <a:pPr algn="l"/>
                      <a:r>
                        <a:rPr sz="1200" b="1">
                          <a:solidFill>
                            <a:srgbClr val="FFFFFF"/>
                          </a:solidFill>
                          <a:latin typeface="Arial"/>
                        </a:rPr>
                        <a:t>Cas</a:t>
                      </a:r>
                    </a:p>
                  </a:txBody>
                  <a:tcPr marL="91440" marR="91440" marT="36576" marB="36576" anchor="ctr">
                    <a:solidFill>
                      <a:srgbClr val="E37B05"/>
                    </a:solidFill>
                  </a:tcPr>
                </a:tc>
                <a:tc>
                  <a:txBody>
                    <a:bodyPr wrap="square"/>
                    <a:lstStyle/>
                    <a:p>
                      <a:pPr algn="l"/>
                      <a:r>
                        <a:rPr sz="1200" b="1">
                          <a:solidFill>
                            <a:srgbClr val="FFFFFF"/>
                          </a:solidFill>
                          <a:latin typeface="Arial"/>
                        </a:rPr>
                        <a:t>Profil</a:t>
                      </a:r>
                    </a:p>
                  </a:txBody>
                  <a:tcPr marL="91440" marR="91440" marT="36576" marB="36576" anchor="ctr">
                    <a:solidFill>
                      <a:srgbClr val="E37B05"/>
                    </a:solidFill>
                  </a:tcPr>
                </a:tc>
                <a:tc>
                  <a:txBody>
                    <a:bodyPr wrap="square"/>
                    <a:lstStyle/>
                    <a:p>
                      <a:pPr algn="ctr"/>
                      <a:r>
                        <a:rPr sz="1200" b="1">
                          <a:solidFill>
                            <a:srgbClr val="FFFFFF"/>
                          </a:solidFill>
                          <a:latin typeface="Arial"/>
                        </a:rPr>
                        <a:t>Score</a:t>
                      </a:r>
                    </a:p>
                  </a:txBody>
                  <a:tcPr marL="91440" marR="91440" marT="36576" marB="36576" anchor="ctr">
                    <a:solidFill>
                      <a:srgbClr val="E37B05"/>
                    </a:solidFill>
                  </a:tcPr>
                </a:tc>
                <a:tc>
                  <a:txBody>
                    <a:bodyPr wrap="square"/>
                    <a:lstStyle/>
                    <a:p>
                      <a:pPr algn="ctr"/>
                      <a:r>
                        <a:rPr sz="1200" b="1">
                          <a:solidFill>
                            <a:srgbClr val="FFFFFF"/>
                          </a:solidFill>
                          <a:latin typeface="Arial"/>
                        </a:rPr>
                        <a:t>Grade du score</a:t>
                      </a:r>
                    </a:p>
                  </a:txBody>
                  <a:tcPr marL="91440" marR="91440" marT="36576" marB="36576" anchor="ctr">
                    <a:solidFill>
                      <a:srgbClr val="E37B05"/>
                    </a:solidFill>
                  </a:tcPr>
                </a:tc>
                <a:tc>
                  <a:txBody>
                    <a:bodyPr wrap="square"/>
                    <a:lstStyle/>
                    <a:p>
                      <a:pPr algn="ctr"/>
                      <a:r>
                        <a:rPr sz="1200" b="1">
                          <a:solidFill>
                            <a:srgbClr val="FFFFFF"/>
                          </a:solidFill>
                          <a:latin typeface="Arial"/>
                        </a:rPr>
                        <a:t>Grade final</a:t>
                      </a:r>
                    </a:p>
                  </a:txBody>
                  <a:tcPr marL="91440" marR="91440" marT="36576" marB="36576" anchor="ctr">
                    <a:solidFill>
                      <a:srgbClr val="E37B05"/>
                    </a:solidFill>
                  </a:tcPr>
                </a:tc>
                <a:tc>
                  <a:txBody>
                    <a:bodyPr wrap="square"/>
                    <a:lstStyle/>
                    <a:p>
                      <a:pPr algn="l"/>
                      <a:r>
                        <a:rPr sz="1200" b="1">
                          <a:solidFill>
                            <a:srgbClr val="FFFFFF"/>
                          </a:solidFill>
                          <a:latin typeface="Arial"/>
                        </a:rPr>
                        <a:t>Lecture</a:t>
                      </a:r>
                    </a:p>
                  </a:txBody>
                  <a:tcPr marL="91440" marR="91440" marT="36576" marB="36576" anchor="ctr">
                    <a:solidFill>
                      <a:srgbClr val="E37B05"/>
                    </a:solidFill>
                  </a:tcPr>
                </a:tc>
              </a:tr>
              <a:tr h="713232">
                <a:tc>
                  <a:txBody>
                    <a:bodyPr wrap="square"/>
                    <a:lstStyle/>
                    <a:p>
                      <a:pPr algn="l"/>
                      <a:r>
                        <a:rPr sz="1100" b="1">
                          <a:solidFill>
                            <a:srgbClr val="462016"/>
                          </a:solidFill>
                          <a:latin typeface="Arial"/>
                        </a:rPr>
                        <a:t>A · Atlas Agro SA</a:t>
                      </a:r>
                    </a:p>
                  </a:txBody>
                  <a:tcPr marL="91440" marR="91440" marT="36576" marB="36576" anchor="ctr">
                    <a:solidFill>
                      <a:srgbClr val="F2E8DB"/>
                    </a:solidFill>
                  </a:tcPr>
                </a:tc>
                <a:tc>
                  <a:txBody>
                    <a:bodyPr wrap="square"/>
                    <a:lstStyle/>
                    <a:p>
                      <a:pPr algn="l"/>
                      <a:r>
                        <a:rPr sz="1100" b="0">
                          <a:solidFill>
                            <a:srgbClr val="3D3D3B"/>
                          </a:solidFill>
                          <a:latin typeface="Arial"/>
                        </a:rPr>
                        <a:t>PME agro-industrielle saine : fonds propres solides, endettement modéré, compte sans incident.</a:t>
                      </a:r>
                    </a:p>
                  </a:txBody>
                  <a:tcPr marL="91440" marR="91440" marT="36576" marB="36576" anchor="ctr">
                    <a:solidFill>
                      <a:srgbClr val="F2E8DB"/>
                    </a:solidFill>
                  </a:tcPr>
                </a:tc>
                <a:tc>
                  <a:txBody>
                    <a:bodyPr wrap="square"/>
                    <a:lstStyle/>
                    <a:p>
                      <a:pPr algn="ctr"/>
                      <a:r>
                        <a:rPr sz="1100" b="0">
                          <a:solidFill>
                            <a:srgbClr val="3D3D3B"/>
                          </a:solidFill>
                          <a:latin typeface="Arial"/>
                        </a:rPr>
                        <a:t>80,8</a:t>
                      </a:r>
                    </a:p>
                  </a:txBody>
                  <a:tcPr marL="91440" marR="91440" marT="36576" marB="36576" anchor="ctr">
                    <a:solidFill>
                      <a:srgbClr val="F2E8DB"/>
                    </a:solidFill>
                  </a:tcPr>
                </a:tc>
                <a:tc>
                  <a:txBody>
                    <a:bodyPr wrap="square"/>
                    <a:lstStyle/>
                    <a:p>
                      <a:pPr algn="ctr"/>
                      <a:r>
                        <a:rPr sz="1100" b="0">
                          <a:solidFill>
                            <a:srgbClr val="3D3D3B"/>
                          </a:solidFill>
                          <a:latin typeface="Arial"/>
                        </a:rPr>
                        <a:t>STD-P3</a:t>
                      </a:r>
                    </a:p>
                  </a:txBody>
                  <a:tcPr marL="91440" marR="91440" marT="36576" marB="36576" anchor="ctr">
                    <a:solidFill>
                      <a:srgbClr val="F2E8DB"/>
                    </a:solidFill>
                  </a:tcPr>
                </a:tc>
                <a:tc>
                  <a:txBody>
                    <a:bodyPr wrap="square"/>
                    <a:lstStyle/>
                    <a:p>
                      <a:pPr algn="ctr"/>
                      <a:r>
                        <a:rPr sz="1100" b="0">
                          <a:solidFill>
                            <a:srgbClr val="3D3D3B"/>
                          </a:solidFill>
                          <a:latin typeface="Arial"/>
                        </a:rPr>
                        <a:t>STD-P3</a:t>
                      </a:r>
                    </a:p>
                  </a:txBody>
                  <a:tcPr marL="91440" marR="91440" marT="36576" marB="36576" anchor="ctr">
                    <a:solidFill>
                      <a:srgbClr val="F2E8DB"/>
                    </a:solidFill>
                  </a:tcPr>
                </a:tc>
                <a:tc>
                  <a:txBody>
                    <a:bodyPr wrap="square"/>
                    <a:lstStyle/>
                    <a:p>
                      <a:pPr algn="l"/>
                      <a:r>
                        <a:rPr sz="1100" b="0">
                          <a:solidFill>
                            <a:srgbClr val="3D3D3B"/>
                          </a:solidFill>
                          <a:latin typeface="Arial"/>
                        </a:rPr>
                        <a:t>Entreprise saine : bon grade</a:t>
                      </a:r>
                    </a:p>
                  </a:txBody>
                  <a:tcPr marL="91440" marR="91440" marT="36576" marB="36576" anchor="ctr">
                    <a:solidFill>
                      <a:srgbClr val="F2E8DB"/>
                    </a:solidFill>
                  </a:tcPr>
                </a:tc>
              </a:tr>
              <a:tr h="713232">
                <a:tc>
                  <a:txBody>
                    <a:bodyPr wrap="square"/>
                    <a:lstStyle/>
                    <a:p>
                      <a:pPr algn="l"/>
                      <a:r>
                        <a:rPr sz="1100" b="1">
                          <a:solidFill>
                            <a:srgbClr val="462016"/>
                          </a:solidFill>
                          <a:latin typeface="Arial"/>
                        </a:rPr>
                        <a:t>B · Souss Négoce SARL</a:t>
                      </a:r>
                    </a:p>
                  </a:txBody>
                  <a:tcPr marL="91440" marR="91440" marT="36576" marB="36576" anchor="ctr">
                    <a:solidFill>
                      <a:srgbClr val="FBF6F0"/>
                    </a:solidFill>
                  </a:tcPr>
                </a:tc>
                <a:tc>
                  <a:txBody>
                    <a:bodyPr wrap="square"/>
                    <a:lstStyle/>
                    <a:p>
                      <a:pPr algn="l"/>
                      <a:r>
                        <a:rPr sz="1100" b="0">
                          <a:solidFill>
                            <a:srgbClr val="3D3D3B"/>
                          </a:solidFill>
                          <a:latin typeface="Arial"/>
                        </a:rPr>
                        <a:t>Comptes corrects, mais compte courant tendu : retards de 20 jours, dépassements, incidents d'effets.</a:t>
                      </a:r>
                    </a:p>
                  </a:txBody>
                  <a:tcPr marL="91440" marR="91440" marT="36576" marB="36576" anchor="ctr">
                    <a:solidFill>
                      <a:srgbClr val="FBF6F0"/>
                    </a:solidFill>
                  </a:tcPr>
                </a:tc>
                <a:tc>
                  <a:txBody>
                    <a:bodyPr wrap="square"/>
                    <a:lstStyle/>
                    <a:p>
                      <a:pPr algn="ctr"/>
                      <a:r>
                        <a:rPr sz="1100" b="0">
                          <a:solidFill>
                            <a:srgbClr val="3D3D3B"/>
                          </a:solidFill>
                          <a:latin typeface="Arial"/>
                        </a:rPr>
                        <a:t>59,3</a:t>
                      </a:r>
                    </a:p>
                  </a:txBody>
                  <a:tcPr marL="91440" marR="91440" marT="36576" marB="36576" anchor="ctr">
                    <a:solidFill>
                      <a:srgbClr val="FBF6F0"/>
                    </a:solidFill>
                  </a:tcPr>
                </a:tc>
                <a:tc>
                  <a:txBody>
                    <a:bodyPr wrap="square"/>
                    <a:lstStyle/>
                    <a:p>
                      <a:pPr algn="ctr"/>
                      <a:r>
                        <a:rPr sz="1100" b="0">
                          <a:solidFill>
                            <a:srgbClr val="3D3D3B"/>
                          </a:solidFill>
                          <a:latin typeface="Arial"/>
                        </a:rPr>
                        <a:t>STD-P6</a:t>
                      </a:r>
                    </a:p>
                  </a:txBody>
                  <a:tcPr marL="91440" marR="91440" marT="36576" marB="36576" anchor="ctr">
                    <a:solidFill>
                      <a:srgbClr val="FBF6F0"/>
                    </a:solidFill>
                  </a:tcPr>
                </a:tc>
                <a:tc>
                  <a:txBody>
                    <a:bodyPr wrap="square"/>
                    <a:lstStyle/>
                    <a:p>
                      <a:pPr algn="ctr"/>
                      <a:r>
                        <a:rPr sz="1100" b="0">
                          <a:solidFill>
                            <a:srgbClr val="3D3D3B"/>
                          </a:solidFill>
                          <a:latin typeface="Arial"/>
                        </a:rPr>
                        <a:t>STD-P6</a:t>
                      </a:r>
                    </a:p>
                  </a:txBody>
                  <a:tcPr marL="91440" marR="91440" marT="36576" marB="36576" anchor="ctr">
                    <a:solidFill>
                      <a:srgbClr val="FBF6F0"/>
                    </a:solidFill>
                  </a:tcPr>
                </a:tc>
                <a:tc>
                  <a:txBody>
                    <a:bodyPr wrap="square"/>
                    <a:lstStyle/>
                    <a:p>
                      <a:pPr algn="l"/>
                      <a:r>
                        <a:rPr sz="1100" b="0">
                          <a:solidFill>
                            <a:srgbClr val="3D3D3B"/>
                          </a:solidFill>
                          <a:latin typeface="Arial"/>
                        </a:rPr>
                        <a:t>Le compte tendu coûte trois crans</a:t>
                      </a:r>
                    </a:p>
                  </a:txBody>
                  <a:tcPr marL="91440" marR="91440" marT="36576" marB="36576" anchor="ctr">
                    <a:solidFill>
                      <a:srgbClr val="FBF6F0"/>
                    </a:solidFill>
                  </a:tcPr>
                </a:tc>
              </a:tr>
              <a:tr h="713232">
                <a:tc>
                  <a:txBody>
                    <a:bodyPr wrap="square"/>
                    <a:lstStyle/>
                    <a:p>
                      <a:pPr algn="l"/>
                      <a:r>
                        <a:rPr sz="1100" b="1">
                          <a:solidFill>
                            <a:srgbClr val="462016"/>
                          </a:solidFill>
                          <a:latin typeface="Arial"/>
                        </a:rPr>
                        <a:t>C · Tanger Logistique SA</a:t>
                      </a:r>
                    </a:p>
                  </a:txBody>
                  <a:tcPr marL="91440" marR="91440" marT="36576" marB="36576" anchor="ctr">
                    <a:solidFill>
                      <a:srgbClr val="F2E8DB"/>
                    </a:solidFill>
                  </a:tcPr>
                </a:tc>
                <a:tc>
                  <a:txBody>
                    <a:bodyPr wrap="square"/>
                    <a:lstStyle/>
                    <a:p>
                      <a:pPr algn="l"/>
                      <a:r>
                        <a:rPr sz="1100" b="0">
                          <a:solidFill>
                            <a:srgbClr val="3D3D3B"/>
                          </a:solidFill>
                          <a:latin typeface="Arial"/>
                        </a:rPr>
                        <a:t>Score correct, mais service de la dette non couvert en scénario de base (DSCR 0,9) : exception non compensatoire.</a:t>
                      </a:r>
                    </a:p>
                  </a:txBody>
                  <a:tcPr marL="91440" marR="91440" marT="36576" marB="36576" anchor="ctr">
                    <a:solidFill>
                      <a:srgbClr val="F2E8DB"/>
                    </a:solidFill>
                  </a:tcPr>
                </a:tc>
                <a:tc>
                  <a:txBody>
                    <a:bodyPr wrap="square"/>
                    <a:lstStyle/>
                    <a:p>
                      <a:pPr algn="ctr"/>
                      <a:r>
                        <a:rPr sz="1100" b="0">
                          <a:solidFill>
                            <a:srgbClr val="3D3D3B"/>
                          </a:solidFill>
                          <a:latin typeface="Arial"/>
                        </a:rPr>
                        <a:t>66,1</a:t>
                      </a:r>
                    </a:p>
                  </a:txBody>
                  <a:tcPr marL="91440" marR="91440" marT="36576" marB="36576" anchor="ctr">
                    <a:solidFill>
                      <a:srgbClr val="F2E8DB"/>
                    </a:solidFill>
                  </a:tcPr>
                </a:tc>
                <a:tc>
                  <a:txBody>
                    <a:bodyPr wrap="square"/>
                    <a:lstStyle/>
                    <a:p>
                      <a:pPr algn="ctr"/>
                      <a:r>
                        <a:rPr sz="1100" b="0">
                          <a:solidFill>
                            <a:srgbClr val="3D3D3B"/>
                          </a:solidFill>
                          <a:latin typeface="Arial"/>
                        </a:rPr>
                        <a:t>STD-P5</a:t>
                      </a:r>
                    </a:p>
                  </a:txBody>
                  <a:tcPr marL="91440" marR="91440" marT="36576" marB="36576" anchor="ctr">
                    <a:solidFill>
                      <a:srgbClr val="F2E8DB"/>
                    </a:solidFill>
                  </a:tcPr>
                </a:tc>
                <a:tc>
                  <a:txBody>
                    <a:bodyPr wrap="square"/>
                    <a:lstStyle/>
                    <a:p>
                      <a:pPr algn="ctr"/>
                      <a:r>
                        <a:rPr sz="1100" b="0">
                          <a:solidFill>
                            <a:srgbClr val="3D3D3B"/>
                          </a:solidFill>
                          <a:latin typeface="Arial"/>
                        </a:rPr>
                        <a:t>STD-P7</a:t>
                      </a:r>
                    </a:p>
                  </a:txBody>
                  <a:tcPr marL="91440" marR="91440" marT="36576" marB="36576" anchor="ctr">
                    <a:solidFill>
                      <a:srgbClr val="F2E8DB"/>
                    </a:solidFill>
                  </a:tcPr>
                </a:tc>
                <a:tc>
                  <a:txBody>
                    <a:bodyPr wrap="square"/>
                    <a:lstStyle/>
                    <a:p>
                      <a:pPr algn="l"/>
                      <a:r>
                        <a:rPr sz="1100" b="0">
                          <a:solidFill>
                            <a:srgbClr val="3D3D3B"/>
                          </a:solidFill>
                          <a:latin typeface="Arial"/>
                        </a:rPr>
                        <a:t>Le DSCR &lt; 1 plafonne le grade</a:t>
                      </a:r>
                    </a:p>
                  </a:txBody>
                  <a:tcPr marL="91440" marR="91440" marT="36576" marB="36576" anchor="ctr">
                    <a:solidFill>
                      <a:srgbClr val="F2E8DB"/>
                    </a:solidFill>
                  </a:tcPr>
                </a:tc>
              </a:tr>
              <a:tr h="713232">
                <a:tc>
                  <a:txBody>
                    <a:bodyPr wrap="square"/>
                    <a:lstStyle/>
                    <a:p>
                      <a:pPr algn="l"/>
                      <a:r>
                        <a:rPr sz="1100" b="1">
                          <a:solidFill>
                            <a:srgbClr val="462016"/>
                          </a:solidFill>
                          <a:latin typeface="Arial"/>
                        </a:rPr>
                        <a:t>D · Rif Bâtiment SARL</a:t>
                      </a:r>
                    </a:p>
                  </a:txBody>
                  <a:tcPr marL="91440" marR="91440" marT="36576" marB="36576" anchor="ctr">
                    <a:solidFill>
                      <a:srgbClr val="FBF6F0"/>
                    </a:solidFill>
                  </a:tcPr>
                </a:tc>
                <a:tc>
                  <a:txBody>
                    <a:bodyPr wrap="square"/>
                    <a:lstStyle/>
                    <a:p>
                      <a:pPr algn="l"/>
                      <a:r>
                        <a:rPr sz="1100" b="0">
                          <a:solidFill>
                            <a:srgbClr val="3D3D3B"/>
                          </a:solidFill>
                          <a:latin typeface="Arial"/>
                        </a:rPr>
                        <a:t>Dossier incomplet : comptes partiels, comportement bancaire et activité non documentés.</a:t>
                      </a:r>
                    </a:p>
                  </a:txBody>
                  <a:tcPr marL="91440" marR="91440" marT="36576" marB="36576" anchor="ctr">
                    <a:solidFill>
                      <a:srgbClr val="FBF6F0"/>
                    </a:solidFill>
                  </a:tcPr>
                </a:tc>
                <a:tc>
                  <a:txBody>
                    <a:bodyPr wrap="square"/>
                    <a:lstStyle/>
                    <a:p>
                      <a:pPr algn="ctr"/>
                      <a:r>
                        <a:rPr sz="1100" b="0">
                          <a:solidFill>
                            <a:srgbClr val="3D3D3B"/>
                          </a:solidFill>
                          <a:latin typeface="Arial"/>
                        </a:rPr>
                        <a:t>46,2</a:t>
                      </a:r>
                    </a:p>
                  </a:txBody>
                  <a:tcPr marL="91440" marR="91440" marT="36576" marB="36576" anchor="ctr">
                    <a:solidFill>
                      <a:srgbClr val="FBF6F0"/>
                    </a:solidFill>
                  </a:tcPr>
                </a:tc>
                <a:tc>
                  <a:txBody>
                    <a:bodyPr wrap="square"/>
                    <a:lstStyle/>
                    <a:p>
                      <a:pPr algn="ctr"/>
                      <a:r>
                        <a:rPr sz="1100" b="0">
                          <a:solidFill>
                            <a:srgbClr val="3D3D3B"/>
                          </a:solidFill>
                          <a:latin typeface="Arial"/>
                        </a:rPr>
                        <a:t>—</a:t>
                      </a:r>
                    </a:p>
                  </a:txBody>
                  <a:tcPr marL="91440" marR="91440" marT="36576" marB="36576" anchor="ctr">
                    <a:solidFill>
                      <a:srgbClr val="FBF6F0"/>
                    </a:solidFill>
                  </a:tcPr>
                </a:tc>
                <a:tc>
                  <a:txBody>
                    <a:bodyPr wrap="square"/>
                    <a:lstStyle/>
                    <a:p>
                      <a:pPr algn="ctr"/>
                      <a:r>
                        <a:rPr sz="1100" b="0">
                          <a:solidFill>
                            <a:srgbClr val="3D3D3B"/>
                          </a:solidFill>
                          <a:latin typeface="Arial"/>
                        </a:rPr>
                        <a:t>aucun</a:t>
                      </a:r>
                    </a:p>
                  </a:txBody>
                  <a:tcPr marL="91440" marR="91440" marT="36576" marB="36576" anchor="ctr">
                    <a:solidFill>
                      <a:srgbClr val="FBF6F0"/>
                    </a:solidFill>
                  </a:tcPr>
                </a:tc>
                <a:tc>
                  <a:txBody>
                    <a:bodyPr wrap="square"/>
                    <a:lstStyle/>
                    <a:p>
                      <a:pPr algn="l"/>
                      <a:r>
                        <a:rPr sz="1100" b="0">
                          <a:solidFill>
                            <a:srgbClr val="3D3D3B"/>
                          </a:solidFill>
                          <a:latin typeface="Arial"/>
                        </a:rPr>
                        <a:t>Trop peu de données : aucun grade</a:t>
                      </a:r>
                    </a:p>
                  </a:txBody>
                  <a:tcPr marL="91440" marR="91440" marT="36576" marB="36576" anchor="ctr">
                    <a:solidFill>
                      <a:srgbClr val="FBF6F0"/>
                    </a:solidFill>
                  </a:tcPr>
                </a:tc>
              </a:tr>
              <a:tr h="713232">
                <a:tc>
                  <a:txBody>
                    <a:bodyPr wrap="square"/>
                    <a:lstStyle/>
                    <a:p>
                      <a:pPr algn="l"/>
                      <a:r>
                        <a:rPr sz="1100" b="1">
                          <a:solidFill>
                            <a:srgbClr val="462016"/>
                          </a:solidFill>
                          <a:latin typeface="Arial"/>
                        </a:rPr>
                        <a:t>E · Fès Textile SA</a:t>
                      </a:r>
                    </a:p>
                  </a:txBody>
                  <a:tcPr marL="91440" marR="91440" marT="36576" marB="36576" anchor="ctr">
                    <a:solidFill>
                      <a:srgbClr val="F2E8DB"/>
                    </a:solidFill>
                  </a:tcPr>
                </a:tc>
                <a:tc>
                  <a:txBody>
                    <a:bodyPr wrap="square"/>
                    <a:lstStyle/>
                    <a:p>
                      <a:pPr algn="l"/>
                      <a:r>
                        <a:rPr sz="1100" b="0">
                          <a:solidFill>
                            <a:srgbClr val="3D3D3B"/>
                          </a:solidFill>
                          <a:latin typeface="Arial"/>
                        </a:rPr>
                        <a:t>Impayé de plus de 90 jours constaté : le défaut s'impose, quel que soit le score.</a:t>
                      </a:r>
                    </a:p>
                  </a:txBody>
                  <a:tcPr marL="91440" marR="91440" marT="36576" marB="36576" anchor="ctr">
                    <a:solidFill>
                      <a:srgbClr val="F2E8DB"/>
                    </a:solidFill>
                  </a:tcPr>
                </a:tc>
                <a:tc>
                  <a:txBody>
                    <a:bodyPr wrap="square"/>
                    <a:lstStyle/>
                    <a:p>
                      <a:pPr algn="ctr"/>
                      <a:r>
                        <a:rPr sz="1100" b="0">
                          <a:solidFill>
                            <a:srgbClr val="3D3D3B"/>
                          </a:solidFill>
                          <a:latin typeface="Arial"/>
                        </a:rPr>
                        <a:t>64,8</a:t>
                      </a:r>
                    </a:p>
                  </a:txBody>
                  <a:tcPr marL="91440" marR="91440" marT="36576" marB="36576" anchor="ctr">
                    <a:solidFill>
                      <a:srgbClr val="F2E8DB"/>
                    </a:solidFill>
                  </a:tcPr>
                </a:tc>
                <a:tc>
                  <a:txBody>
                    <a:bodyPr wrap="square"/>
                    <a:lstStyle/>
                    <a:p>
                      <a:pPr algn="ctr"/>
                      <a:r>
                        <a:rPr sz="1100" b="0">
                          <a:solidFill>
                            <a:srgbClr val="3D3D3B"/>
                          </a:solidFill>
                          <a:latin typeface="Arial"/>
                        </a:rPr>
                        <a:t>STD-P5</a:t>
                      </a:r>
                    </a:p>
                  </a:txBody>
                  <a:tcPr marL="91440" marR="91440" marT="36576" marB="36576" anchor="ctr">
                    <a:solidFill>
                      <a:srgbClr val="F2E8DB"/>
                    </a:solidFill>
                  </a:tcPr>
                </a:tc>
                <a:tc>
                  <a:txBody>
                    <a:bodyPr wrap="square"/>
                    <a:lstStyle/>
                    <a:p>
                      <a:pPr algn="ctr"/>
                      <a:r>
                        <a:rPr sz="1100" b="0">
                          <a:solidFill>
                            <a:srgbClr val="3D3D3B"/>
                          </a:solidFill>
                          <a:latin typeface="Arial"/>
                        </a:rPr>
                        <a:t>DEF1</a:t>
                      </a:r>
                    </a:p>
                  </a:txBody>
                  <a:tcPr marL="91440" marR="91440" marT="36576" marB="36576" anchor="ctr">
                    <a:solidFill>
                      <a:srgbClr val="F2E8DB"/>
                    </a:solidFill>
                  </a:tcPr>
                </a:tc>
                <a:tc>
                  <a:txBody>
                    <a:bodyPr wrap="square"/>
                    <a:lstStyle/>
                    <a:p>
                      <a:pPr algn="l"/>
                      <a:r>
                        <a:rPr sz="1100" b="0">
                          <a:solidFill>
                            <a:srgbClr val="3D3D3B"/>
                          </a:solidFill>
                          <a:latin typeface="Arial"/>
                        </a:rPr>
                        <a:t>Le défaut s'impose</a:t>
                      </a:r>
                    </a:p>
                  </a:txBody>
                  <a:tcPr marL="91440" marR="91440" marT="36576" marB="36576" anchor="ctr">
                    <a:solidFill>
                      <a:srgbClr val="F2E8D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UNE ENTREPRISE MEMBRE D'UN GROUPE D'AFFAIRES</a:t>
            </a:r>
            <a:endParaRPr lang="en-US" sz="2400" dirty="0"/>
          </a:p>
        </p:txBody>
      </p:sp>
      <p:sp>
        <p:nvSpPr>
          <p:cNvPr id="4" name="pourquoi-0"/>
          <p:cNvSpPr/>
          <p:nvPr/>
        </p:nvSpPr>
        <p:spPr>
          <a:xfrm>
            <a:off x="457200"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5" name="rond-icone"/>
          <p:cNvSpPr/>
          <p:nvPr/>
        </p:nvSpPr>
        <p:spPr>
          <a:xfrm>
            <a:off x="731520" y="1554480"/>
            <a:ext cx="822960" cy="822960"/>
          </a:xfrm>
          <a:prstGeom prst="ellipse">
            <a:avLst/>
          </a:prstGeom>
          <a:solidFill>
            <a:srgbClr val="E37B05"/>
          </a:solidFill>
          <a:ln/>
        </p:spPr>
      </p:sp>
      <p:pic>
        <p:nvPicPr>
          <p:cNvPr id="26" name="icone" descr="ic-MdAccountBalanceWallet.png"/>
          <p:cNvPicPr>
            <a:picLocks noChangeAspect="1"/>
          </p:cNvPicPr>
          <p:nvPr/>
        </p:nvPicPr>
        <p:blipFill>
          <a:blip r:embed="rId6"/>
          <a:stretch>
            <a:fillRect/>
          </a:stretch>
        </p:blipFill>
        <p:spPr>
          <a:xfrm>
            <a:off x="896112" y="1719072"/>
            <a:ext cx="493776" cy="493776"/>
          </a:xfrm>
          <a:prstGeom prst="rect">
            <a:avLst/>
          </a:prstGeom>
        </p:spPr>
      </p:pic>
      <p:sp>
        <p:nvSpPr>
          <p:cNvPr id="7" name="Text 3"/>
          <p:cNvSpPr txBox="1"/>
          <p:nvPr/>
        </p:nvSpPr>
        <p:spPr>
          <a:xfrm>
            <a:off x="731520"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1 · NOTE AUTONOME</a:t>
            </a:r>
            <a:endParaRPr lang="en-US" sz="1800" dirty="0"/>
          </a:p>
        </p:txBody>
      </p:sp>
      <p:sp>
        <p:nvSpPr>
          <p:cNvPr id="8" name="Text 4"/>
          <p:cNvSpPr txBox="1"/>
          <p:nvPr/>
        </p:nvSpPr>
        <p:spPr>
          <a:xfrm>
            <a:off x="731520"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Toujours calculée et conservée</a:t>
            </a:r>
            <a:endParaRPr lang="en-US" sz="1500" dirty="0"/>
          </a:p>
          <a:p>
            <a:pPr marL="342900" indent="-342900">
              <a:spcAft>
                <a:spcPts val="800"/>
              </a:spcAft>
              <a:buSzPct val="100000"/>
              <a:buChar char="•"/>
            </a:pPr>
            <a:r>
              <a:rPr lang="en-US" sz="1500" dirty="0">
                <a:solidFill>
                  <a:srgbClr val="3D3D3B"/>
                </a:solidFill>
              </a:rPr>
              <a:t>Sur les comptes de l'entité elle-même</a:t>
            </a:r>
            <a:endParaRPr lang="en-US" sz="1500" dirty="0"/>
          </a:p>
          <a:p>
            <a:pPr marL="342900" indent="-342900">
              <a:spcAft>
                <a:spcPts val="800"/>
              </a:spcAft>
              <a:buSzPct val="100000"/>
              <a:buChar char="•"/>
            </a:pPr>
            <a:r>
              <a:rPr lang="en-US" sz="1500" dirty="0">
                <a:solidFill>
                  <a:srgbClr val="3D3D3B"/>
                </a:solidFill>
              </a:rPr>
              <a:t>Flux intragroupe et parties liées examinés</a:t>
            </a:r>
            <a:endParaRPr lang="en-US" sz="1500" dirty="0"/>
          </a:p>
        </p:txBody>
      </p:sp>
      <p:sp>
        <p:nvSpPr>
          <p:cNvPr id="9" name="pourquoi-1"/>
          <p:cNvSpPr/>
          <p:nvPr/>
        </p:nvSpPr>
        <p:spPr>
          <a:xfrm>
            <a:off x="4279392"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0" name="rond-icone"/>
          <p:cNvSpPr/>
          <p:nvPr/>
        </p:nvSpPr>
        <p:spPr>
          <a:xfrm>
            <a:off x="4553712" y="1554480"/>
            <a:ext cx="822960" cy="822960"/>
          </a:xfrm>
          <a:prstGeom prst="ellipse">
            <a:avLst/>
          </a:prstGeom>
          <a:solidFill>
            <a:srgbClr val="E37B05"/>
          </a:solidFill>
          <a:ln/>
        </p:spPr>
      </p:sp>
      <p:pic>
        <p:nvPicPr>
          <p:cNvPr id="27" name="icone" descr="ic-MdCallSplit.png"/>
          <p:cNvPicPr>
            <a:picLocks noChangeAspect="1"/>
          </p:cNvPicPr>
          <p:nvPr/>
        </p:nvPicPr>
        <p:blipFill>
          <a:blip r:embed="rId7"/>
          <a:stretch>
            <a:fillRect/>
          </a:stretch>
        </p:blipFill>
        <p:spPr>
          <a:xfrm>
            <a:off x="4718304" y="1719072"/>
            <a:ext cx="493776" cy="493776"/>
          </a:xfrm>
          <a:prstGeom prst="rect">
            <a:avLst/>
          </a:prstGeom>
        </p:spPr>
      </p:pic>
      <p:sp>
        <p:nvSpPr>
          <p:cNvPr id="12" name="Text 7"/>
          <p:cNvSpPr txBox="1"/>
          <p:nvPr/>
        </p:nvSpPr>
        <p:spPr>
          <a:xfrm>
            <a:off x="4553712"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2 · SOUTIEN DU GROUPE</a:t>
            </a:r>
            <a:endParaRPr lang="en-US" sz="1800" dirty="0"/>
          </a:p>
        </p:txBody>
      </p:sp>
      <p:sp>
        <p:nvSpPr>
          <p:cNvPr id="13" name="Text 8"/>
          <p:cNvSpPr txBox="1"/>
          <p:nvPr/>
        </p:nvSpPr>
        <p:spPr>
          <a:xfrm>
            <a:off x="4553712"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2 crans au plus, jamais au-dessus du groupe</a:t>
            </a:r>
            <a:endParaRPr lang="en-US" sz="1500" dirty="0"/>
          </a:p>
          <a:p>
            <a:pPr marL="342900" indent="-342900">
              <a:spcAft>
                <a:spcPts val="800"/>
              </a:spcAft>
              <a:buSzPct val="100000"/>
              <a:buChar char="•"/>
            </a:pPr>
            <a:r>
              <a:rPr lang="en-US" sz="1500" dirty="0">
                <a:solidFill>
                  <a:srgbClr val="3D3D3B"/>
                </a:solidFill>
              </a:rPr>
              <a:t>4 preuves : capacité, volonté, engagement, transfert</a:t>
            </a:r>
            <a:endParaRPr lang="en-US" sz="1500" dirty="0"/>
          </a:p>
          <a:p>
            <a:pPr marL="342900" indent="-342900">
              <a:spcAft>
                <a:spcPts val="800"/>
              </a:spcAft>
              <a:buSzPct val="100000"/>
              <a:buChar char="•"/>
            </a:pPr>
            <a:r>
              <a:rPr lang="en-US" sz="1500" dirty="0">
                <a:solidFill>
                  <a:srgbClr val="3D3D3B"/>
                </a:solidFill>
              </a:rPr>
              <a:t>Selon le statut du membre dans le groupe</a:t>
            </a:r>
            <a:endParaRPr lang="en-US" sz="1500" dirty="0"/>
          </a:p>
        </p:txBody>
      </p:sp>
      <p:sp>
        <p:nvSpPr>
          <p:cNvPr id="14" name="pourquoi-2"/>
          <p:cNvSpPr/>
          <p:nvPr/>
        </p:nvSpPr>
        <p:spPr>
          <a:xfrm>
            <a:off x="8101584"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5" name="rond-icone"/>
          <p:cNvSpPr/>
          <p:nvPr/>
        </p:nvSpPr>
        <p:spPr>
          <a:xfrm>
            <a:off x="8375904" y="1554480"/>
            <a:ext cx="822960" cy="822960"/>
          </a:xfrm>
          <a:prstGeom prst="ellipse">
            <a:avLst/>
          </a:prstGeom>
          <a:solidFill>
            <a:srgbClr val="E37B05"/>
          </a:solidFill>
          <a:ln/>
        </p:spPr>
      </p:sp>
      <p:pic>
        <p:nvPicPr>
          <p:cNvPr id="28" name="icone" descr="ic-MdTrendingDown.png"/>
          <p:cNvPicPr>
            <a:picLocks noChangeAspect="1"/>
          </p:cNvPicPr>
          <p:nvPr/>
        </p:nvPicPr>
        <p:blipFill>
          <a:blip r:embed="rId8"/>
          <a:stretch>
            <a:fillRect/>
          </a:stretch>
        </p:blipFill>
        <p:spPr>
          <a:xfrm>
            <a:off x="8540496" y="1719072"/>
            <a:ext cx="493776" cy="493776"/>
          </a:xfrm>
          <a:prstGeom prst="rect">
            <a:avLst/>
          </a:prstGeom>
        </p:spPr>
      </p:pic>
      <p:sp>
        <p:nvSpPr>
          <p:cNvPr id="17" name="Text 11"/>
          <p:cNvSpPr txBox="1"/>
          <p:nvPr/>
        </p:nvSpPr>
        <p:spPr>
          <a:xfrm>
            <a:off x="8375904"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3 · CONTAGION</a:t>
            </a:r>
            <a:endParaRPr lang="en-US" sz="1800" dirty="0"/>
          </a:p>
        </p:txBody>
      </p:sp>
      <p:sp>
        <p:nvSpPr>
          <p:cNvPr id="18" name="Text 12"/>
          <p:cNvSpPr txBox="1"/>
          <p:nvPr/>
        </p:nvSpPr>
        <p:spPr>
          <a:xfrm>
            <a:off x="8375904"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Au plus la note du groupe + 1 cran</a:t>
            </a:r>
            <a:endParaRPr lang="en-US" sz="1500" dirty="0"/>
          </a:p>
          <a:p>
            <a:pPr marL="342900" indent="-342900">
              <a:spcAft>
                <a:spcPts val="800"/>
              </a:spcAft>
              <a:buSzPct val="100000"/>
              <a:buChar char="•"/>
            </a:pPr>
            <a:r>
              <a:rPr lang="en-US" sz="1500" dirty="0">
                <a:solidFill>
                  <a:srgbClr val="3D3D3B"/>
                </a:solidFill>
              </a:rPr>
              <a:t>Dossier groupe incomplet : au mieux STD-P6</a:t>
            </a:r>
            <a:endParaRPr lang="en-US" sz="1500" dirty="0"/>
          </a:p>
          <a:p>
            <a:pPr marL="342900" indent="-342900">
              <a:spcAft>
                <a:spcPts val="800"/>
              </a:spcAft>
              <a:buSzPct val="100000"/>
              <a:buChar char="•"/>
            </a:pPr>
            <a:r>
              <a:rPr lang="en-US" sz="1500" dirty="0">
                <a:solidFill>
                  <a:srgbClr val="3D3D3B"/>
                </a:solidFill>
              </a:rPr>
              <a:t>Difficulté d'un membre : revue du groupe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NOTER LE GROUPE D'AFFAIRES</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Délimiter le groupe</a:t>
            </a:r>
            <a:endParaRPr lang="en-US" sz="1500" dirty="0"/>
          </a:p>
          <a:p>
            <a:pPr algn="ctr" indent="0" marL="0">
              <a:buNone/>
            </a:pPr>
            <a:r>
              <a:rPr lang="en-US" sz="1500" dirty="0">
                <a:solidFill>
                  <a:srgbClr val="8C5B52"/>
                </a:solidFill>
              </a:rPr>
              <a:t>contrôle, liens économiques</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Réunir les comptes</a:t>
            </a:r>
            <a:endParaRPr lang="en-US" sz="1500" dirty="0"/>
          </a:p>
          <a:p>
            <a:pPr algn="ctr" indent="0" marL="0">
              <a:buNone/>
            </a:pPr>
            <a:r>
              <a:rPr lang="en-US" sz="1500" dirty="0">
                <a:solidFill>
                  <a:srgbClr val="8C5B52"/>
                </a:solidFill>
              </a:rPr>
              <a:t>consolidés, sinon combinés</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Appliquer la grille</a:t>
            </a:r>
            <a:endParaRPr lang="en-US" sz="1500" dirty="0"/>
          </a:p>
          <a:p>
            <a:pPr algn="ctr" indent="0" marL="0">
              <a:buNone/>
            </a:pPr>
            <a:r>
              <a:rPr lang="en-US" sz="1500" dirty="0">
                <a:solidFill>
                  <a:srgbClr val="8C5B52"/>
                </a:solidFill>
              </a:rPr>
              <a:t>au périmètre du groupe</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Contrôler par le bas</a:t>
            </a:r>
            <a:endParaRPr lang="en-US" sz="1500" dirty="0"/>
          </a:p>
          <a:p>
            <a:pPr algn="ctr" indent="0" marL="0">
              <a:buNone/>
            </a:pPr>
            <a:r>
              <a:rPr lang="en-US" sz="1500" dirty="0">
                <a:solidFill>
                  <a:srgbClr val="8C5B52"/>
                </a:solidFill>
              </a:rPr>
              <a:t>tête de groupe, membres cœur</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Positionner les membres</a:t>
            </a:r>
            <a:endParaRPr lang="en-US" sz="1500" dirty="0"/>
          </a:p>
          <a:p>
            <a:pPr algn="ctr" indent="0" marL="0">
              <a:buNone/>
            </a:pPr>
            <a:r>
              <a:rPr lang="en-US" sz="1500" dirty="0">
                <a:solidFill>
                  <a:srgbClr val="8C5B52"/>
                </a:solidFill>
              </a:rPr>
              <a:t>statut, soutien, plafond</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
        <p:nvSpPr>
          <p:cNvPr id="26" name="encadre"/>
          <p:cNvSpPr/>
          <p:nvPr/>
        </p:nvSpPr>
        <p:spPr>
          <a:xfrm>
            <a:off x="457200" y="3611880"/>
            <a:ext cx="11274552" cy="224028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e"/>
          <p:cNvSpPr txBox="1"/>
          <p:nvPr/>
        </p:nvSpPr>
        <p:spPr>
          <a:xfrm>
            <a:off x="731520" y="3840480"/>
            <a:ext cx="10725912" cy="1783080"/>
          </a:xfrm>
          <a:prstGeom prst="rect">
            <a:avLst/>
          </a:prstGeom>
          <a:noFill/>
        </p:spPr>
        <p:txBody>
          <a:bodyPr wrap="square">
            <a:spAutoFit/>
          </a:bodyPr>
          <a:lstStyle/>
          <a:p>
            <a:pPr>
              <a:spcAft>
                <a:spcPts val="800"/>
              </a:spcAft>
            </a:pPr>
            <a:r>
              <a:rPr sz="1800" b="1">
                <a:solidFill>
                  <a:srgbClr val="462016"/>
                </a:solidFill>
                <a:latin typeface="Arial"/>
              </a:rPr>
              <a:t>Méthode proposée : deux voies selon l'information disponible</a:t>
            </a:r>
          </a:p>
          <a:p>
            <a:pPr>
              <a:spcAft>
                <a:spcPts val="900"/>
              </a:spcAft>
            </a:pPr>
            <a:r>
              <a:rPr sz="1400">
                <a:solidFill>
                  <a:srgbClr val="3D3D3B"/>
                </a:solidFill>
                <a:latin typeface="Arial"/>
              </a:rPr>
              <a:t>Comptes consolidés audités : la même grille s'applique au consolidé ; le segment suit le chiffre d'affaires du groupe, souvent GE.</a:t>
            </a:r>
          </a:p>
          <a:p>
            <a:pPr>
              <a:spcAft>
                <a:spcPts val="900"/>
              </a:spcAft>
            </a:pPr>
            <a:r>
              <a:rPr sz="1400">
                <a:solidFill>
                  <a:srgbClr val="3D3D3B"/>
                </a:solidFill>
                <a:latin typeface="Arial"/>
              </a:rPr>
              <a:t>Sans consolidé : comptes combinés des membres, flux et créances intragroupe éliminés. À défaut, moyenne des scores autonomes pondérée par les engagements, jamais meilleure que la tête de groupe.</a:t>
            </a:r>
          </a:p>
          <a:p>
            <a:pPr>
              <a:spcAft>
                <a:spcPts val="900"/>
              </a:spcAft>
            </a:pPr>
            <a:r>
              <a:rPr sz="1400">
                <a:solidFill>
                  <a:srgbClr val="3D3D3B"/>
                </a:solidFill>
                <a:latin typeface="Arial"/>
              </a:rPr>
              <a:t>Revue annuelle du groupe, et à chaque événement majeur sur l'un de ses membres.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POSITIONNER CHAQUE MEMBRE PAR RAPPORT AU GROUPE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relèvement suppose toujours les quatre preuves documentées. Sans elles, le membre garde sa note autonome.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950208"/>
        </p:xfrm>
        <a:graphic>
          <a:graphicData uri="http://schemas.openxmlformats.org/drawingml/2006/table">
            <a:tbl>
              <a:tblPr firstRow="0" bandRow="0"/>
              <a:tblGrid>
                <a:gridCol w="2286000"/>
                <a:gridCol w="4572000"/>
                <a:gridCol w="4416552"/>
              </a:tblGrid>
              <a:tr h="658368">
                <a:tc>
                  <a:txBody>
                    <a:bodyPr wrap="square"/>
                    <a:lstStyle/>
                    <a:p>
                      <a:pPr algn="l"/>
                      <a:r>
                        <a:rPr sz="1300" b="1">
                          <a:solidFill>
                            <a:srgbClr val="FFFFFF"/>
                          </a:solidFill>
                          <a:latin typeface="Arial"/>
                        </a:rPr>
                        <a:t>Statut du membre</a:t>
                      </a:r>
                    </a:p>
                  </a:txBody>
                  <a:tcPr marL="91440" marR="91440" marT="36576" marB="36576" anchor="ctr">
                    <a:solidFill>
                      <a:srgbClr val="E37B05"/>
                    </a:solidFill>
                  </a:tcPr>
                </a:tc>
                <a:tc>
                  <a:txBody>
                    <a:bodyPr wrap="square"/>
                    <a:lstStyle/>
                    <a:p>
                      <a:pPr algn="l"/>
                      <a:r>
                        <a:rPr sz="1300" b="1">
                          <a:solidFill>
                            <a:srgbClr val="FFFFFF"/>
                          </a:solidFill>
                          <a:latin typeface="Arial"/>
                        </a:rPr>
                        <a:t>Ce qui le caractérise</a:t>
                      </a:r>
                    </a:p>
                  </a:txBody>
                  <a:tcPr marL="91440" marR="91440" marT="36576" marB="36576" anchor="ctr">
                    <a:solidFill>
                      <a:srgbClr val="E37B05"/>
                    </a:solidFill>
                  </a:tcPr>
                </a:tc>
                <a:tc>
                  <a:txBody>
                    <a:bodyPr wrap="square"/>
                    <a:lstStyle/>
                    <a:p>
                      <a:pPr algn="l"/>
                      <a:r>
                        <a:rPr sz="1300" b="1">
                          <a:solidFill>
                            <a:srgbClr val="FFFFFF"/>
                          </a:solidFill>
                          <a:latin typeface="Arial"/>
                        </a:rPr>
                        <a:t>Règle de note</a:t>
                      </a:r>
                    </a:p>
                  </a:txBody>
                  <a:tcPr marL="91440" marR="91440" marT="36576" marB="36576" anchor="ctr">
                    <a:solidFill>
                      <a:srgbClr val="E37B05"/>
                    </a:solidFill>
                  </a:tcPr>
                </a:tc>
              </a:tr>
              <a:tr h="658368">
                <a:tc>
                  <a:txBody>
                    <a:bodyPr wrap="square"/>
                    <a:lstStyle/>
                    <a:p>
                      <a:pPr algn="l"/>
                      <a:r>
                        <a:rPr sz="1300" b="1">
                          <a:solidFill>
                            <a:srgbClr val="462016"/>
                          </a:solidFill>
                          <a:latin typeface="Arial"/>
                        </a:rPr>
                        <a:t>Cœur</a:t>
                      </a:r>
                    </a:p>
                  </a:txBody>
                  <a:tcPr marL="91440" marR="91440" marT="36576" marB="36576" anchor="ctr">
                    <a:solidFill>
                      <a:srgbClr val="F2E8DB"/>
                    </a:solidFill>
                  </a:tcPr>
                </a:tc>
                <a:tc>
                  <a:txBody>
                    <a:bodyPr wrap="square"/>
                    <a:lstStyle/>
                    <a:p>
                      <a:pPr algn="l"/>
                      <a:r>
                        <a:rPr sz="1300" b="0">
                          <a:solidFill>
                            <a:srgbClr val="3D3D3B"/>
                          </a:solidFill>
                          <a:latin typeface="Arial"/>
                        </a:rPr>
                        <a:t>Même métier, intégré, part majeure du groupe, soutien constant</a:t>
                      </a:r>
                    </a:p>
                  </a:txBody>
                  <a:tcPr marL="91440" marR="91440" marT="36576" marB="36576" anchor="ctr">
                    <a:solidFill>
                      <a:srgbClr val="F2E8DB"/>
                    </a:solidFill>
                  </a:tcPr>
                </a:tc>
                <a:tc>
                  <a:txBody>
                    <a:bodyPr wrap="square"/>
                    <a:lstStyle/>
                    <a:p>
                      <a:pPr algn="l"/>
                      <a:r>
                        <a:rPr sz="1300" b="0">
                          <a:solidFill>
                            <a:srgbClr val="3D3D3B"/>
                          </a:solidFill>
                          <a:latin typeface="Arial"/>
                        </a:rPr>
                        <a:t>Note autonome + 2 crans au plus, sans dépasser le groupe</a:t>
                      </a:r>
                    </a:p>
                  </a:txBody>
                  <a:tcPr marL="91440" marR="91440" marT="36576" marB="36576" anchor="ctr">
                    <a:solidFill>
                      <a:srgbClr val="F2E8DB"/>
                    </a:solidFill>
                  </a:tcPr>
                </a:tc>
              </a:tr>
              <a:tr h="658368">
                <a:tc>
                  <a:txBody>
                    <a:bodyPr wrap="square"/>
                    <a:lstStyle/>
                    <a:p>
                      <a:pPr algn="l"/>
                      <a:r>
                        <a:rPr sz="1300" b="1">
                          <a:solidFill>
                            <a:srgbClr val="462016"/>
                          </a:solidFill>
                          <a:latin typeface="Arial"/>
                        </a:rPr>
                        <a:t>Stratégique</a:t>
                      </a:r>
                    </a:p>
                  </a:txBody>
                  <a:tcPr marL="91440" marR="91440" marT="36576" marB="36576" anchor="ctr">
                    <a:solidFill>
                      <a:srgbClr val="FBF6F0"/>
                    </a:solidFill>
                  </a:tcPr>
                </a:tc>
                <a:tc>
                  <a:txBody>
                    <a:bodyPr wrap="square"/>
                    <a:lstStyle/>
                    <a:p>
                      <a:pPr algn="l"/>
                      <a:r>
                        <a:rPr sz="1300" b="0">
                          <a:solidFill>
                            <a:srgbClr val="3D3D3B"/>
                          </a:solidFill>
                          <a:latin typeface="Arial"/>
                        </a:rPr>
                        <a:t>Important pour la stratégie, cession improbable</a:t>
                      </a:r>
                    </a:p>
                  </a:txBody>
                  <a:tcPr marL="91440" marR="91440" marT="36576" marB="36576" anchor="ctr">
                    <a:solidFill>
                      <a:srgbClr val="FBF6F0"/>
                    </a:solidFill>
                  </a:tcPr>
                </a:tc>
                <a:tc>
                  <a:txBody>
                    <a:bodyPr wrap="square"/>
                    <a:lstStyle/>
                    <a:p>
                      <a:pPr algn="l"/>
                      <a:r>
                        <a:rPr sz="1300" b="0">
                          <a:solidFill>
                            <a:srgbClr val="3D3D3B"/>
                          </a:solidFill>
                          <a:latin typeface="Arial"/>
                        </a:rPr>
                        <a:t>Note autonome + 1 cran au plus, sans dépasser le groupe</a:t>
                      </a:r>
                    </a:p>
                  </a:txBody>
                  <a:tcPr marL="91440" marR="91440" marT="36576" marB="36576" anchor="ctr">
                    <a:solidFill>
                      <a:srgbClr val="FBF6F0"/>
                    </a:solidFill>
                  </a:tcPr>
                </a:tc>
              </a:tr>
              <a:tr h="658368">
                <a:tc>
                  <a:txBody>
                    <a:bodyPr wrap="square"/>
                    <a:lstStyle/>
                    <a:p>
                      <a:pPr algn="l"/>
                      <a:r>
                        <a:rPr sz="1300" b="1">
                          <a:solidFill>
                            <a:srgbClr val="462016"/>
                          </a:solidFill>
                          <a:latin typeface="Arial"/>
                        </a:rPr>
                        <a:t>Non stratégique</a:t>
                      </a:r>
                    </a:p>
                  </a:txBody>
                  <a:tcPr marL="91440" marR="91440" marT="36576" marB="36576" anchor="ctr">
                    <a:solidFill>
                      <a:srgbClr val="F2E8DB"/>
                    </a:solidFill>
                  </a:tcPr>
                </a:tc>
                <a:tc>
                  <a:txBody>
                    <a:bodyPr wrap="square"/>
                    <a:lstStyle/>
                    <a:p>
                      <a:pPr algn="l"/>
                      <a:r>
                        <a:rPr sz="1300" b="0">
                          <a:solidFill>
                            <a:srgbClr val="3D3D3B"/>
                          </a:solidFill>
                          <a:latin typeface="Arial"/>
                        </a:rPr>
                        <a:t>Participation financière, cession possible</a:t>
                      </a:r>
                    </a:p>
                  </a:txBody>
                  <a:tcPr marL="91440" marR="91440" marT="36576" marB="36576" anchor="ctr">
                    <a:solidFill>
                      <a:srgbClr val="F2E8DB"/>
                    </a:solidFill>
                  </a:tcPr>
                </a:tc>
                <a:tc>
                  <a:txBody>
                    <a:bodyPr wrap="square"/>
                    <a:lstStyle/>
                    <a:p>
                      <a:pPr algn="l"/>
                      <a:r>
                        <a:rPr sz="1300" b="0">
                          <a:solidFill>
                            <a:srgbClr val="3D3D3B"/>
                          </a:solidFill>
                          <a:latin typeface="Arial"/>
                        </a:rPr>
                        <a:t>Note autonome, sans relèvement</a:t>
                      </a:r>
                    </a:p>
                  </a:txBody>
                  <a:tcPr marL="91440" marR="91440" marT="36576" marB="36576" anchor="ctr">
                    <a:solidFill>
                      <a:srgbClr val="F2E8DB"/>
                    </a:solidFill>
                  </a:tcPr>
                </a:tc>
              </a:tr>
              <a:tr h="658368">
                <a:tc>
                  <a:txBody>
                    <a:bodyPr wrap="square"/>
                    <a:lstStyle/>
                    <a:p>
                      <a:pPr algn="l"/>
                      <a:r>
                        <a:rPr sz="1300" b="1">
                          <a:solidFill>
                            <a:srgbClr val="462016"/>
                          </a:solidFill>
                          <a:latin typeface="Arial"/>
                        </a:rPr>
                        <a:t>Cloisonné</a:t>
                      </a:r>
                    </a:p>
                  </a:txBody>
                  <a:tcPr marL="91440" marR="91440" marT="36576" marB="36576" anchor="ctr">
                    <a:solidFill>
                      <a:srgbClr val="FBF6F0"/>
                    </a:solidFill>
                  </a:tcPr>
                </a:tc>
                <a:tc>
                  <a:txBody>
                    <a:bodyPr wrap="square"/>
                    <a:lstStyle/>
                    <a:p>
                      <a:pPr algn="l"/>
                      <a:r>
                        <a:rPr sz="1300" b="0">
                          <a:solidFill>
                            <a:srgbClr val="3D3D3B"/>
                          </a:solidFill>
                          <a:latin typeface="Arial"/>
                        </a:rPr>
                        <a:t>Financement de projet, cloisonnement juridique et financier démontré</a:t>
                      </a:r>
                    </a:p>
                  </a:txBody>
                  <a:tcPr marL="91440" marR="91440" marT="36576" marB="36576" anchor="ctr">
                    <a:solidFill>
                      <a:srgbClr val="FBF6F0"/>
                    </a:solidFill>
                  </a:tcPr>
                </a:tc>
                <a:tc>
                  <a:txBody>
                    <a:bodyPr wrap="square"/>
                    <a:lstStyle/>
                    <a:p>
                      <a:pPr algn="l"/>
                      <a:r>
                        <a:rPr sz="1300" b="0">
                          <a:solidFill>
                            <a:srgbClr val="3D3D3B"/>
                          </a:solidFill>
                          <a:latin typeface="Arial"/>
                        </a:rPr>
                        <a:t>Note autonome, sans plafond de contagion</a:t>
                      </a:r>
                    </a:p>
                  </a:txBody>
                  <a:tcPr marL="91440" marR="91440" marT="36576" marB="36576" anchor="ctr">
                    <a:solidFill>
                      <a:srgbClr val="FBF6F0"/>
                    </a:solidFill>
                  </a:tcPr>
                </a:tc>
              </a:tr>
              <a:tr h="658368">
                <a:tc>
                  <a:txBody>
                    <a:bodyPr wrap="square"/>
                    <a:lstStyle/>
                    <a:p>
                      <a:pPr algn="l"/>
                      <a:r>
                        <a:rPr sz="1300" b="1">
                          <a:solidFill>
                            <a:srgbClr val="462016"/>
                          </a:solidFill>
                          <a:latin typeface="Arial"/>
                        </a:rPr>
                        <a:t>Tous les membres</a:t>
                      </a:r>
                    </a:p>
                  </a:txBody>
                  <a:tcPr marL="91440" marR="91440" marT="36576" marB="36576" anchor="ctr">
                    <a:solidFill>
                      <a:srgbClr val="F2E8DB"/>
                    </a:solidFill>
                  </a:tcPr>
                </a:tc>
                <a:tc>
                  <a:txBody>
                    <a:bodyPr wrap="square"/>
                    <a:lstStyle/>
                    <a:p>
                      <a:pPr algn="l"/>
                      <a:r>
                        <a:rPr sz="1300" b="0">
                          <a:solidFill>
                            <a:srgbClr val="3D3D3B"/>
                          </a:solidFill>
                          <a:latin typeface="Arial"/>
                        </a:rPr>
                        <a:t>Exposés aux difficultés du groupe</a:t>
                      </a:r>
                    </a:p>
                  </a:txBody>
                  <a:tcPr marL="91440" marR="91440" marT="36576" marB="36576" anchor="ctr">
                    <a:solidFill>
                      <a:srgbClr val="F2E8DB"/>
                    </a:solidFill>
                  </a:tcPr>
                </a:tc>
                <a:tc>
                  <a:txBody>
                    <a:bodyPr wrap="square"/>
                    <a:lstStyle/>
                    <a:p>
                      <a:pPr algn="l"/>
                      <a:r>
                        <a:rPr sz="1300" b="0">
                          <a:solidFill>
                            <a:srgbClr val="3D3D3B"/>
                          </a:solidFill>
                          <a:latin typeface="Arial"/>
                        </a:rPr>
                        <a:t>Au plus la note du groupe + 1 cran ; revue si le groupe se dégrade</a:t>
                      </a:r>
                    </a:p>
                  </a:txBody>
                  <a:tcPr marL="91440" marR="91440" marT="36576" marB="36576" anchor="ctr">
                    <a:solidFill>
                      <a:srgbClr val="F2E8DB"/>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NOTER UNE ENTRÉE EN RELATION</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Sans information sur les retards de paiement, aucune note n'est produite : on la cherche hors de la banque.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886200"/>
        </p:xfrm>
        <a:graphic>
          <a:graphicData uri="http://schemas.openxmlformats.org/drawingml/2006/table">
            <a:tbl>
              <a:tblPr firstRow="0" bandRow="0"/>
              <a:tblGrid>
                <a:gridCol w="2651760"/>
                <a:gridCol w="4754880"/>
                <a:gridCol w="3867912"/>
              </a:tblGrid>
              <a:tr h="777240">
                <a:tc>
                  <a:txBody>
                    <a:bodyPr wrap="square"/>
                    <a:lstStyle/>
                    <a:p>
                      <a:pPr algn="l"/>
                      <a:r>
                        <a:rPr sz="1300" b="1">
                          <a:solidFill>
                            <a:srgbClr val="FFFFFF"/>
                          </a:solidFill>
                          <a:latin typeface="Arial"/>
                        </a:rPr>
                        <a:t>Situation</a:t>
                      </a:r>
                    </a:p>
                  </a:txBody>
                  <a:tcPr marL="91440" marR="91440" marT="36576" marB="36576" anchor="ctr">
                    <a:solidFill>
                      <a:srgbClr val="E37B05"/>
                    </a:solidFill>
                  </a:tcPr>
                </a:tc>
                <a:tc>
                  <a:txBody>
                    <a:bodyPr wrap="square"/>
                    <a:lstStyle/>
                    <a:p>
                      <a:pPr algn="l"/>
                      <a:r>
                        <a:rPr sz="1300" b="1">
                          <a:solidFill>
                            <a:srgbClr val="FFFFFF"/>
                          </a:solidFill>
                          <a:latin typeface="Arial"/>
                        </a:rPr>
                        <a:t>D'où vient le comportement bancaire</a:t>
                      </a:r>
                    </a:p>
                  </a:txBody>
                  <a:tcPr marL="91440" marR="91440" marT="36576" marB="36576" anchor="ctr">
                    <a:solidFill>
                      <a:srgbClr val="E37B05"/>
                    </a:solidFill>
                  </a:tcPr>
                </a:tc>
                <a:tc>
                  <a:txBody>
                    <a:bodyPr wrap="square"/>
                    <a:lstStyle/>
                    <a:p>
                      <a:pPr algn="l"/>
                      <a:r>
                        <a:rPr sz="1300" b="1">
                          <a:solidFill>
                            <a:srgbClr val="FFFFFF"/>
                          </a:solidFill>
                          <a:latin typeface="Arial"/>
                        </a:rPr>
                        <a:t>Traitement</a:t>
                      </a:r>
                    </a:p>
                  </a:txBody>
                  <a:tcPr marL="91440" marR="91440" marT="36576" marB="36576" anchor="ctr">
                    <a:solidFill>
                      <a:srgbClr val="E37B05"/>
                    </a:solidFill>
                  </a:tcPr>
                </a:tc>
              </a:tr>
              <a:tr h="777240">
                <a:tc>
                  <a:txBody>
                    <a:bodyPr wrap="square"/>
                    <a:lstStyle/>
                    <a:p>
                      <a:pPr algn="l"/>
                      <a:r>
                        <a:rPr sz="1300" b="1">
                          <a:solidFill>
                            <a:srgbClr val="462016"/>
                          </a:solidFill>
                          <a:latin typeface="Arial"/>
                        </a:rPr>
                        <a:t>Entreprise de moins de 2 ans</a:t>
                      </a:r>
                    </a:p>
                  </a:txBody>
                  <a:tcPr marL="91440" marR="91440" marT="36576" marB="36576" anchor="ctr">
                    <a:solidFill>
                      <a:srgbClr val="F2E8DB"/>
                    </a:solidFill>
                  </a:tcPr>
                </a:tc>
                <a:tc>
                  <a:txBody>
                    <a:bodyPr wrap="square"/>
                    <a:lstStyle/>
                    <a:p>
                      <a:pPr algn="l"/>
                      <a:r>
                        <a:rPr sz="1300" b="0">
                          <a:solidFill>
                            <a:srgbClr val="3D3D3B"/>
                          </a:solidFill>
                          <a:latin typeface="Arial"/>
                        </a:rPr>
                        <a:t>Peu ou pas d'historique</a:t>
                      </a:r>
                    </a:p>
                  </a:txBody>
                  <a:tcPr marL="91440" marR="91440" marT="36576" marB="36576" anchor="ctr">
                    <a:solidFill>
                      <a:srgbClr val="F2E8DB"/>
                    </a:solidFill>
                  </a:tcPr>
                </a:tc>
                <a:tc>
                  <a:txBody>
                    <a:bodyPr wrap="square"/>
                    <a:lstStyle/>
                    <a:p>
                      <a:pPr algn="l"/>
                      <a:r>
                        <a:rPr sz="1300" b="0">
                          <a:solidFill>
                            <a:srgbClr val="3D3D3B"/>
                          </a:solidFill>
                          <a:latin typeface="Arial"/>
                        </a:rPr>
                        <a:t>Traitement jeune entreprise, hors grille, sauf soutien de groupe solide</a:t>
                      </a:r>
                    </a:p>
                  </a:txBody>
                  <a:tcPr marL="91440" marR="91440" marT="36576" marB="36576" anchor="ctr">
                    <a:solidFill>
                      <a:srgbClr val="F2E8DB"/>
                    </a:solidFill>
                  </a:tcPr>
                </a:tc>
              </a:tr>
              <a:tr h="777240">
                <a:tc>
                  <a:txBody>
                    <a:bodyPr wrap="square"/>
                    <a:lstStyle/>
                    <a:p>
                      <a:pPr algn="l"/>
                      <a:r>
                        <a:rPr sz="1300" b="1">
                          <a:solidFill>
                            <a:srgbClr val="462016"/>
                          </a:solidFill>
                          <a:latin typeface="Arial"/>
                        </a:rPr>
                        <a:t>Nouvelle relation, entreprise établie</a:t>
                      </a:r>
                    </a:p>
                  </a:txBody>
                  <a:tcPr marL="91440" marR="91440" marT="36576" marB="36576" anchor="ctr">
                    <a:solidFill>
                      <a:srgbClr val="FBF6F0"/>
                    </a:solidFill>
                  </a:tcPr>
                </a:tc>
                <a:tc>
                  <a:txBody>
                    <a:bodyPr wrap="square"/>
                    <a:lstStyle/>
                    <a:p>
                      <a:pPr algn="l"/>
                      <a:r>
                        <a:rPr sz="1300" b="0">
                          <a:solidFill>
                            <a:srgbClr val="3D3D3B"/>
                          </a:solidFill>
                          <a:latin typeface="Arial"/>
                        </a:rPr>
                        <a:t>Centrale des risques BAM et crédit bureau (retards, endettement), relevés 12 mois des autres banques, incidents de paiement</a:t>
                      </a:r>
                    </a:p>
                  </a:txBody>
                  <a:tcPr marL="91440" marR="91440" marT="36576" marB="36576" anchor="ctr">
                    <a:solidFill>
                      <a:srgbClr val="FBF6F0"/>
                    </a:solidFill>
                  </a:tcPr>
                </a:tc>
                <a:tc>
                  <a:txBody>
                    <a:bodyPr wrap="square"/>
                    <a:lstStyle/>
                    <a:p>
                      <a:pPr algn="l"/>
                      <a:r>
                        <a:rPr sz="1300" b="0">
                          <a:solidFill>
                            <a:srgbClr val="3D3D3B"/>
                          </a:solidFill>
                          <a:latin typeface="Arial"/>
                        </a:rPr>
                        <a:t>Note produite, confiance réduite ; revue obligatoire à 6 mois</a:t>
                      </a:r>
                    </a:p>
                  </a:txBody>
                  <a:tcPr marL="91440" marR="91440" marT="36576" marB="36576" anchor="ctr">
                    <a:solidFill>
                      <a:srgbClr val="FBF6F0"/>
                    </a:solidFill>
                  </a:tcPr>
                </a:tc>
              </a:tr>
              <a:tr h="777240">
                <a:tc>
                  <a:txBody>
                    <a:bodyPr wrap="square"/>
                    <a:lstStyle/>
                    <a:p>
                      <a:pPr algn="l"/>
                      <a:r>
                        <a:rPr sz="1300" b="1">
                          <a:solidFill>
                            <a:srgbClr val="462016"/>
                          </a:solidFill>
                          <a:latin typeface="Arial"/>
                        </a:rPr>
                        <a:t>Client sans crédit</a:t>
                      </a:r>
                    </a:p>
                  </a:txBody>
                  <a:tcPr marL="91440" marR="91440" marT="36576" marB="36576" anchor="ctr">
                    <a:solidFill>
                      <a:srgbClr val="F2E8DB"/>
                    </a:solidFill>
                  </a:tcPr>
                </a:tc>
                <a:tc>
                  <a:txBody>
                    <a:bodyPr wrap="square"/>
                    <a:lstStyle/>
                    <a:p>
                      <a:pPr algn="l"/>
                      <a:r>
                        <a:rPr sz="1300" b="0">
                          <a:solidFill>
                            <a:srgbClr val="3D3D3B"/>
                          </a:solidFill>
                          <a:latin typeface="Arial"/>
                        </a:rPr>
                        <a:t>Comptes tenus par la banque : flux, incidents, irrégularités</a:t>
                      </a:r>
                    </a:p>
                  </a:txBody>
                  <a:tcPr marL="91440" marR="91440" marT="36576" marB="36576" anchor="ctr">
                    <a:solidFill>
                      <a:srgbClr val="F2E8DB"/>
                    </a:solidFill>
                  </a:tcPr>
                </a:tc>
                <a:tc>
                  <a:txBody>
                    <a:bodyPr wrap="square"/>
                    <a:lstStyle/>
                    <a:p>
                      <a:pPr algn="l"/>
                      <a:r>
                        <a:rPr sz="1300" b="0">
                          <a:solidFill>
                            <a:srgbClr val="3D3D3B"/>
                          </a:solidFill>
                          <a:latin typeface="Arial"/>
                        </a:rPr>
                        <a:t>Note normale ; utilisation des lignes « sans objet » (à paramétrer)</a:t>
                      </a:r>
                    </a:p>
                  </a:txBody>
                  <a:tcPr marL="91440" marR="91440" marT="36576" marB="36576" anchor="ctr">
                    <a:solidFill>
                      <a:srgbClr val="F2E8DB"/>
                    </a:solidFill>
                  </a:tcPr>
                </a:tc>
              </a:tr>
              <a:tr h="777240">
                <a:tc>
                  <a:txBody>
                    <a:bodyPr wrap="square"/>
                    <a:lstStyle/>
                    <a:p>
                      <a:pPr algn="l"/>
                      <a:r>
                        <a:rPr sz="1300" b="1">
                          <a:solidFill>
                            <a:srgbClr val="462016"/>
                          </a:solidFill>
                          <a:latin typeface="Arial"/>
                        </a:rPr>
                        <a:t>Ancien client revenu</a:t>
                      </a:r>
                    </a:p>
                  </a:txBody>
                  <a:tcPr marL="91440" marR="91440" marT="36576" marB="36576" anchor="ctr">
                    <a:solidFill>
                      <a:srgbClr val="FBF6F0"/>
                    </a:solidFill>
                  </a:tcPr>
                </a:tc>
                <a:tc>
                  <a:txBody>
                    <a:bodyPr wrap="square"/>
                    <a:lstStyle/>
                    <a:p>
                      <a:pPr algn="l"/>
                      <a:r>
                        <a:rPr sz="1300" b="0">
                          <a:solidFill>
                            <a:srgbClr val="3D3D3B"/>
                          </a:solidFill>
                          <a:latin typeface="Arial"/>
                        </a:rPr>
                        <a:t>Historique interne (récidive sur 24 mois) et sources externes récentes</a:t>
                      </a:r>
                    </a:p>
                  </a:txBody>
                  <a:tcPr marL="91440" marR="91440" marT="36576" marB="36576" anchor="ctr">
                    <a:solidFill>
                      <a:srgbClr val="FBF6F0"/>
                    </a:solidFill>
                  </a:tcPr>
                </a:tc>
                <a:tc>
                  <a:txBody>
                    <a:bodyPr wrap="square"/>
                    <a:lstStyle/>
                    <a:p>
                      <a:pPr algn="l"/>
                      <a:r>
                        <a:rPr sz="1300" b="0">
                          <a:solidFill>
                            <a:srgbClr val="3D3D3B"/>
                          </a:solidFill>
                          <a:latin typeface="Arial"/>
                        </a:rPr>
                        <a:t>Note normale, incidents passés pris en compte</a:t>
                      </a:r>
                    </a:p>
                  </a:txBody>
                  <a:tcPr marL="91440" marR="91440" marT="36576" marB="36576" anchor="ctr">
                    <a:solidFill>
                      <a:srgbClr val="FBF6F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RENOTATION MENSUELLE DU PORTEFEUILLE</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Sélectionner</a:t>
            </a:r>
            <a:endParaRPr lang="en-US" sz="1500" dirty="0"/>
          </a:p>
          <a:p>
            <a:pPr algn="ctr" indent="0" marL="0">
              <a:buNone/>
            </a:pPr>
            <a:r>
              <a:rPr lang="en-US" sz="1500" dirty="0">
                <a:solidFill>
                  <a:srgbClr val="8C5B52"/>
                </a:solidFill>
              </a:rPr>
              <a:t>groupe, segment, secteur</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Rafraîchir</a:t>
            </a:r>
            <a:endParaRPr lang="en-US" sz="1500" dirty="0"/>
          </a:p>
          <a:p>
            <a:pPr algn="ctr" indent="0" marL="0">
              <a:buNone/>
            </a:pPr>
            <a:r>
              <a:rPr lang="en-US" sz="1500" dirty="0">
                <a:solidFill>
                  <a:srgbClr val="8C5B52"/>
                </a:solidFill>
              </a:rPr>
              <a:t>données de la DSI</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Renoter</a:t>
            </a:r>
            <a:endParaRPr lang="en-US" sz="1500" dirty="0"/>
          </a:p>
          <a:p>
            <a:pPr algn="ctr" indent="0" marL="0">
              <a:buNone/>
            </a:pPr>
            <a:r>
              <a:rPr lang="en-US" sz="1500" dirty="0">
                <a:solidFill>
                  <a:srgbClr val="8C5B52"/>
                </a:solidFill>
              </a:rPr>
              <a:t>dernier dossier validé</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Comparer</a:t>
            </a:r>
            <a:endParaRPr lang="en-US" sz="1500" dirty="0"/>
          </a:p>
          <a:p>
            <a:pPr algn="ctr" indent="0" marL="0">
              <a:buNone/>
            </a:pPr>
            <a:r>
              <a:rPr lang="en-US" sz="1500" dirty="0">
                <a:solidFill>
                  <a:srgbClr val="8C5B52"/>
                </a:solidFill>
              </a:rPr>
              <a:t>matrice de migration</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Revoir</a:t>
            </a:r>
            <a:endParaRPr lang="en-US" sz="1500" dirty="0"/>
          </a:p>
          <a:p>
            <a:pPr algn="ctr" indent="0" marL="0">
              <a:buNone/>
            </a:pPr>
            <a:r>
              <a:rPr lang="en-US" sz="1500" dirty="0">
                <a:solidFill>
                  <a:srgbClr val="8C5B52"/>
                </a:solidFill>
              </a:rPr>
              <a:t>dossier si ≥ 1 cran</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
        <p:nvSpPr>
          <p:cNvPr id="26" name="encadre"/>
          <p:cNvSpPr/>
          <p:nvPr/>
        </p:nvSpPr>
        <p:spPr>
          <a:xfrm>
            <a:off x="457200" y="3611880"/>
            <a:ext cx="11274552" cy="224028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e"/>
          <p:cNvSpPr txBox="1"/>
          <p:nvPr/>
        </p:nvSpPr>
        <p:spPr>
          <a:xfrm>
            <a:off x="731520" y="3840480"/>
            <a:ext cx="10725912" cy="1783080"/>
          </a:xfrm>
          <a:prstGeom prst="rect">
            <a:avLst/>
          </a:prstGeom>
          <a:noFill/>
        </p:spPr>
        <p:txBody>
          <a:bodyPr wrap="square">
            <a:spAutoFit/>
          </a:bodyPr>
          <a:lstStyle/>
          <a:p>
            <a:pPr>
              <a:spcAft>
                <a:spcPts val="800"/>
              </a:spcAft>
            </a:pPr>
            <a:r>
              <a:rPr sz="1800" b="1">
                <a:solidFill>
                  <a:srgbClr val="462016"/>
                </a:solidFill>
                <a:latin typeface="Arial"/>
              </a:rPr>
              <a:t>La note officielle ne change jamais seule</a:t>
            </a:r>
          </a:p>
          <a:p>
            <a:pPr>
              <a:spcAft>
                <a:spcPts val="900"/>
              </a:spcAft>
            </a:pPr>
            <a:r>
              <a:rPr sz="1400">
                <a:solidFill>
                  <a:srgbClr val="3D3D3B"/>
                </a:solidFill>
                <a:latin typeface="Arial"/>
              </a:rPr>
              <a:t>Le lot produit une note de surveillance. Une migration, une absence de note ou un défaut ouvre un dossier de revue, validé par une seconde personne.</a:t>
            </a:r>
          </a:p>
          <a:p>
            <a:pPr>
              <a:spcAft>
                <a:spcPts val="900"/>
              </a:spcAft>
            </a:pPr>
            <a:r>
              <a:rPr sz="1400">
                <a:solidFill>
                  <a:srgbClr val="3D3D3B"/>
                </a:solidFill>
                <a:latin typeface="Arial"/>
              </a:rPr>
              <a:t>Planifié chaque mois, trimestre, semestre ou année, à la fin du mois précédent. Le traitement reprend après une interruption, sans noter deux fois.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CE QUE LA RENOTATION APPORTE AU PILOTAGE</a:t>
            </a:r>
            <a:endParaRPr lang="en-US" sz="2400" dirty="0"/>
          </a:p>
        </p:txBody>
      </p:sp>
      <p:sp>
        <p:nvSpPr>
          <p:cNvPr id="4" name="controle-0"/>
          <p:cNvSpPr/>
          <p:nvPr/>
        </p:nvSpPr>
        <p:spPr>
          <a:xfrm>
            <a:off x="457200" y="1325880"/>
            <a:ext cx="5532120" cy="2240280"/>
          </a:xfrm>
          <a:prstGeom prst="roundRect">
            <a:avLst>
              <a:gd name="adj" fmla="val 4082"/>
            </a:avLst>
          </a:prstGeom>
          <a:solidFill>
            <a:srgbClr val="F2E8DB"/>
          </a:solidFill>
          <a:ln/>
        </p:spPr>
      </p:sp>
      <p:sp>
        <p:nvSpPr>
          <p:cNvPr id="5" name="rond-icone"/>
          <p:cNvSpPr/>
          <p:nvPr/>
        </p:nvSpPr>
        <p:spPr>
          <a:xfrm>
            <a:off x="777240" y="1691640"/>
            <a:ext cx="868680" cy="868680"/>
          </a:xfrm>
          <a:prstGeom prst="ellipse">
            <a:avLst/>
          </a:prstGeom>
          <a:solidFill>
            <a:srgbClr val="E37B05"/>
          </a:solidFill>
          <a:ln/>
        </p:spPr>
      </p:sp>
      <p:pic>
        <p:nvPicPr>
          <p:cNvPr id="26" name="icone" descr="ic-MdTimeline.png"/>
          <p:cNvPicPr>
            <a:picLocks noChangeAspect="1"/>
          </p:cNvPicPr>
          <p:nvPr/>
        </p:nvPicPr>
        <p:blipFill>
          <a:blip r:embed="rId7"/>
          <a:stretch>
            <a:fillRect/>
          </a:stretch>
        </p:blipFill>
        <p:spPr>
          <a:xfrm>
            <a:off x="950976" y="1865376"/>
            <a:ext cx="521208" cy="521208"/>
          </a:xfrm>
          <a:prstGeom prst="rect">
            <a:avLst/>
          </a:prstGeom>
        </p:spPr>
      </p:pic>
      <p:sp>
        <p:nvSpPr>
          <p:cNvPr id="7" name="Text 3"/>
          <p:cNvSpPr txBox="1"/>
          <p:nvPr/>
        </p:nvSpPr>
        <p:spPr>
          <a:xfrm>
            <a:off x="192024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SURVEILLANCE CONTINUE</a:t>
            </a:r>
            <a:endParaRPr lang="en-US" sz="1800" dirty="0"/>
          </a:p>
          <a:p>
            <a:pPr indent="0" marL="0">
              <a:spcAft>
                <a:spcPts val="600"/>
              </a:spcAft>
              <a:buNone/>
            </a:pPr>
            <a:r>
              <a:rPr lang="en-US" sz="1500" dirty="0">
                <a:solidFill>
                  <a:srgbClr val="3D3D3B"/>
                </a:solidFill>
              </a:rPr>
              <a:t>Retards, incidents et encours actualisés repassent chaque mois dans la grille : une dégradation n'attend plus la revue annuelle.</a:t>
            </a:r>
            <a:endParaRPr lang="en-US" sz="1800" dirty="0"/>
          </a:p>
        </p:txBody>
      </p:sp>
      <p:sp>
        <p:nvSpPr>
          <p:cNvPr id="8" name="controle-1"/>
          <p:cNvSpPr/>
          <p:nvPr/>
        </p:nvSpPr>
        <p:spPr>
          <a:xfrm>
            <a:off x="6217920" y="1325880"/>
            <a:ext cx="5532120" cy="2240280"/>
          </a:xfrm>
          <a:prstGeom prst="roundRect">
            <a:avLst>
              <a:gd name="adj" fmla="val 4082"/>
            </a:avLst>
          </a:prstGeom>
          <a:solidFill>
            <a:srgbClr val="FBF6F0"/>
          </a:solidFill>
          <a:ln/>
        </p:spPr>
      </p:sp>
      <p:sp>
        <p:nvSpPr>
          <p:cNvPr id="9" name="rond-icone"/>
          <p:cNvSpPr/>
          <p:nvPr/>
        </p:nvSpPr>
        <p:spPr>
          <a:xfrm>
            <a:off x="6537960" y="1691640"/>
            <a:ext cx="868680" cy="868680"/>
          </a:xfrm>
          <a:prstGeom prst="ellipse">
            <a:avLst/>
          </a:prstGeom>
          <a:solidFill>
            <a:srgbClr val="E37B05"/>
          </a:solidFill>
          <a:ln/>
        </p:spPr>
      </p:sp>
      <p:pic>
        <p:nvPicPr>
          <p:cNvPr id="27" name="icone" descr="ic-MdQueryStats.png"/>
          <p:cNvPicPr>
            <a:picLocks noChangeAspect="1"/>
          </p:cNvPicPr>
          <p:nvPr/>
        </p:nvPicPr>
        <p:blipFill>
          <a:blip r:embed="rId8"/>
          <a:stretch>
            <a:fillRect/>
          </a:stretch>
        </p:blipFill>
        <p:spPr>
          <a:xfrm>
            <a:off x="6711696" y="1865376"/>
            <a:ext cx="521208" cy="521208"/>
          </a:xfrm>
          <a:prstGeom prst="rect">
            <a:avLst/>
          </a:prstGeom>
        </p:spPr>
      </p:pic>
      <p:sp>
        <p:nvSpPr>
          <p:cNvPr id="11" name="Text 6"/>
          <p:cNvSpPr txBox="1"/>
          <p:nvPr/>
        </p:nvSpPr>
        <p:spPr>
          <a:xfrm>
            <a:off x="768096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MATRICE DE MIGRATION</a:t>
            </a:r>
            <a:endParaRPr lang="en-US" sz="1800" dirty="0"/>
          </a:p>
          <a:p>
            <a:pPr indent="0" marL="0">
              <a:spcAft>
                <a:spcPts val="600"/>
              </a:spcAft>
              <a:buNone/>
            </a:pPr>
            <a:r>
              <a:rPr lang="en-US" sz="1500" dirty="0">
                <a:solidFill>
                  <a:srgbClr val="3D3D3B"/>
                </a:solidFill>
              </a:rPr>
              <a:t>Ancienne note × nouvelle note, par lot : on voit d'un coup d'œil où le portefeuille bouge.</a:t>
            </a:r>
            <a:endParaRPr lang="en-US" sz="1800" dirty="0"/>
          </a:p>
        </p:txBody>
      </p:sp>
      <p:sp>
        <p:nvSpPr>
          <p:cNvPr id="12" name="controle-2"/>
          <p:cNvSpPr/>
          <p:nvPr/>
        </p:nvSpPr>
        <p:spPr>
          <a:xfrm>
            <a:off x="457200" y="3794760"/>
            <a:ext cx="5532120" cy="2240280"/>
          </a:xfrm>
          <a:prstGeom prst="roundRect">
            <a:avLst>
              <a:gd name="adj" fmla="val 4082"/>
            </a:avLst>
          </a:prstGeom>
          <a:solidFill>
            <a:srgbClr val="FBF6F0"/>
          </a:solidFill>
          <a:ln/>
        </p:spPr>
      </p:sp>
      <p:sp>
        <p:nvSpPr>
          <p:cNvPr id="13" name="rond-icone"/>
          <p:cNvSpPr/>
          <p:nvPr/>
        </p:nvSpPr>
        <p:spPr>
          <a:xfrm>
            <a:off x="777240" y="4160520"/>
            <a:ext cx="868680" cy="868680"/>
          </a:xfrm>
          <a:prstGeom prst="ellipse">
            <a:avLst/>
          </a:prstGeom>
          <a:solidFill>
            <a:srgbClr val="8C5B52"/>
          </a:solidFill>
          <a:ln/>
        </p:spPr>
      </p:sp>
      <p:pic>
        <p:nvPicPr>
          <p:cNvPr id="28" name="icone" descr="ic-MdCategory.png"/>
          <p:cNvPicPr>
            <a:picLocks noChangeAspect="1"/>
          </p:cNvPicPr>
          <p:nvPr/>
        </p:nvPicPr>
        <p:blipFill>
          <a:blip r:embed="rId9"/>
          <a:stretch>
            <a:fillRect/>
          </a:stretch>
        </p:blipFill>
        <p:spPr>
          <a:xfrm>
            <a:off x="950976" y="4334256"/>
            <a:ext cx="521208" cy="521208"/>
          </a:xfrm>
          <a:prstGeom prst="rect">
            <a:avLst/>
          </a:prstGeom>
        </p:spPr>
      </p:pic>
      <p:sp>
        <p:nvSpPr>
          <p:cNvPr id="15" name="Text 9"/>
          <p:cNvSpPr txBox="1"/>
          <p:nvPr/>
        </p:nvSpPr>
        <p:spPr>
          <a:xfrm>
            <a:off x="192024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CIBLAGE</a:t>
            </a:r>
            <a:endParaRPr lang="en-US" sz="1800" dirty="0"/>
          </a:p>
          <a:p>
            <a:pPr indent="0" marL="0">
              <a:spcAft>
                <a:spcPts val="600"/>
              </a:spcAft>
              <a:buNone/>
            </a:pPr>
            <a:r>
              <a:rPr lang="en-US" sz="1500" dirty="0">
                <a:solidFill>
                  <a:srgbClr val="3D3D3B"/>
                </a:solidFill>
              </a:rPr>
              <a:t>Un groupe après un événement, un secteur sous tension, un segment entier : le lot se cible en quelques clics.</a:t>
            </a:r>
            <a:endParaRPr lang="en-US" sz="1800" dirty="0"/>
          </a:p>
        </p:txBody>
      </p:sp>
      <p:sp>
        <p:nvSpPr>
          <p:cNvPr id="16" name="controle-3"/>
          <p:cNvSpPr/>
          <p:nvPr/>
        </p:nvSpPr>
        <p:spPr>
          <a:xfrm>
            <a:off x="6217920" y="3794760"/>
            <a:ext cx="5532120" cy="2240280"/>
          </a:xfrm>
          <a:prstGeom prst="roundRect">
            <a:avLst>
              <a:gd name="adj" fmla="val 4082"/>
            </a:avLst>
          </a:prstGeom>
          <a:solidFill>
            <a:srgbClr val="F2E8DB"/>
          </a:solidFill>
          <a:ln/>
        </p:spPr>
      </p:sp>
      <p:sp>
        <p:nvSpPr>
          <p:cNvPr id="17" name="rond-icone"/>
          <p:cNvSpPr/>
          <p:nvPr/>
        </p:nvSpPr>
        <p:spPr>
          <a:xfrm>
            <a:off x="6537960" y="4160520"/>
            <a:ext cx="868680" cy="868680"/>
          </a:xfrm>
          <a:prstGeom prst="ellipse">
            <a:avLst/>
          </a:prstGeom>
          <a:solidFill>
            <a:srgbClr val="8C5B52"/>
          </a:solidFill>
          <a:ln/>
        </p:spPr>
      </p:sp>
      <p:pic>
        <p:nvPicPr>
          <p:cNvPr id="29" name="icone" descr="ic-MdSecurity.png"/>
          <p:cNvPicPr>
            <a:picLocks noChangeAspect="1"/>
          </p:cNvPicPr>
          <p:nvPr/>
        </p:nvPicPr>
        <p:blipFill>
          <a:blip r:embed="rId10"/>
          <a:stretch>
            <a:fillRect/>
          </a:stretch>
        </p:blipFill>
        <p:spPr>
          <a:xfrm>
            <a:off x="6711696" y="4334256"/>
            <a:ext cx="521208" cy="521208"/>
          </a:xfrm>
          <a:prstGeom prst="rect">
            <a:avLst/>
          </a:prstGeom>
        </p:spPr>
      </p:pic>
      <p:sp>
        <p:nvSpPr>
          <p:cNvPr id="19" name="Text 12"/>
          <p:cNvSpPr txBox="1"/>
          <p:nvPr/>
        </p:nvSpPr>
        <p:spPr>
          <a:xfrm>
            <a:off x="768096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MAÎTRISE</a:t>
            </a:r>
            <a:endParaRPr lang="en-US" sz="1800" dirty="0"/>
          </a:p>
          <a:p>
            <a:pPr indent="0" marL="0">
              <a:spcAft>
                <a:spcPts val="600"/>
              </a:spcAft>
              <a:buNone/>
            </a:pPr>
            <a:r>
              <a:rPr lang="en-US" sz="1500" dirty="0">
                <a:solidFill>
                  <a:srgbClr val="3D3D3B"/>
                </a:solidFill>
              </a:rPr>
              <a:t>Périmètre de chaque banque ou filiale, journal d'audit, dossiers de revue dans le circuit de validation habituel.</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VERS UN MODÈLE STATISTIQUE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statistique garde la méthode : il remplace des choix d'experts par des mesures sur l'historique de la banque.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968496"/>
        </p:xfrm>
        <a:graphic>
          <a:graphicData uri="http://schemas.openxmlformats.org/drawingml/2006/table">
            <a:tbl>
              <a:tblPr firstRow="0" bandRow="0"/>
              <a:tblGrid>
                <a:gridCol w="2834640"/>
                <a:gridCol w="4206240"/>
                <a:gridCol w="4233672"/>
              </a:tblGrid>
              <a:tr h="566928">
                <a:tc>
                  <a:txBody>
                    <a:bodyPr wrap="square"/>
                    <a:lstStyle/>
                    <a:p>
                      <a:pPr algn="l"/>
                      <a:r>
                        <a:rPr sz="1300" b="1">
                          <a:solidFill>
                            <a:srgbClr val="FFFFFF"/>
                          </a:solidFill>
                          <a:latin typeface="Arial"/>
                        </a:rPr>
                        <a:t>Aspect</a:t>
                      </a:r>
                    </a:p>
                  </a:txBody>
                  <a:tcPr marL="91440" marR="91440" marT="36576" marB="36576" anchor="ctr">
                    <a:solidFill>
                      <a:srgbClr val="E37B05"/>
                    </a:solidFill>
                  </a:tcPr>
                </a:tc>
                <a:tc>
                  <a:txBody>
                    <a:bodyPr wrap="square"/>
                    <a:lstStyle/>
                    <a:p>
                      <a:pPr algn="l"/>
                      <a:r>
                        <a:rPr sz="1300" b="1">
                          <a:solidFill>
                            <a:srgbClr val="FFFFFF"/>
                          </a:solidFill>
                          <a:latin typeface="Arial"/>
                        </a:rPr>
                        <a:t>Modèle expert (actuel)</a:t>
                      </a:r>
                    </a:p>
                  </a:txBody>
                  <a:tcPr marL="91440" marR="91440" marT="36576" marB="36576" anchor="ctr">
                    <a:solidFill>
                      <a:srgbClr val="E37B05"/>
                    </a:solidFill>
                  </a:tcPr>
                </a:tc>
                <a:tc>
                  <a:txBody>
                    <a:bodyPr wrap="square"/>
                    <a:lstStyle/>
                    <a:p>
                      <a:pPr algn="l"/>
                      <a:r>
                        <a:rPr sz="1300" b="1">
                          <a:solidFill>
                            <a:srgbClr val="FFFFFF"/>
                          </a:solidFill>
                          <a:latin typeface="Arial"/>
                        </a:rPr>
                        <a:t>Modèle statistique (cible)</a:t>
                      </a:r>
                    </a:p>
                  </a:txBody>
                  <a:tcPr marL="91440" marR="91440" marT="36576" marB="36576" anchor="ctr">
                    <a:solidFill>
                      <a:srgbClr val="E37B05"/>
                    </a:solidFill>
                  </a:tcPr>
                </a:tc>
              </a:tr>
              <a:tr h="566928">
                <a:tc>
                  <a:txBody>
                    <a:bodyPr wrap="square"/>
                    <a:lstStyle/>
                    <a:p>
                      <a:pPr algn="l"/>
                      <a:r>
                        <a:rPr sz="1300" b="1">
                          <a:solidFill>
                            <a:srgbClr val="462016"/>
                          </a:solidFill>
                          <a:latin typeface="Arial"/>
                        </a:rPr>
                        <a:t>Poids et barèmes</a:t>
                      </a:r>
                    </a:p>
                  </a:txBody>
                  <a:tcPr marL="91440" marR="91440" marT="36576" marB="36576" anchor="ctr">
                    <a:solidFill>
                      <a:srgbClr val="F2E8DB"/>
                    </a:solidFill>
                  </a:tcPr>
                </a:tc>
                <a:tc>
                  <a:txBody>
                    <a:bodyPr wrap="square"/>
                    <a:lstStyle/>
                    <a:p>
                      <a:pPr algn="l"/>
                      <a:r>
                        <a:rPr sz="1300" b="0">
                          <a:solidFill>
                            <a:srgbClr val="3D3D3B"/>
                          </a:solidFill>
                          <a:latin typeface="Arial"/>
                        </a:rPr>
                        <a:t>Fixés par des experts</a:t>
                      </a:r>
                    </a:p>
                  </a:txBody>
                  <a:tcPr marL="91440" marR="91440" marT="36576" marB="36576" anchor="ctr">
                    <a:solidFill>
                      <a:srgbClr val="F2E8DB"/>
                    </a:solidFill>
                  </a:tcPr>
                </a:tc>
                <a:tc>
                  <a:txBody>
                    <a:bodyPr wrap="square"/>
                    <a:lstStyle/>
                    <a:p>
                      <a:pPr algn="l"/>
                      <a:r>
                        <a:rPr sz="1300" b="0">
                          <a:solidFill>
                            <a:srgbClr val="3D3D3B"/>
                          </a:solidFill>
                          <a:latin typeface="Arial"/>
                        </a:rPr>
                        <a:t>Estimés sur les défauts observés</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Probabilité de défaut</a:t>
                      </a:r>
                    </a:p>
                  </a:txBody>
                  <a:tcPr marL="91440" marR="91440" marT="36576" marB="36576" anchor="ctr">
                    <a:solidFill>
                      <a:srgbClr val="FBF6F0"/>
                    </a:solidFill>
                  </a:tcPr>
                </a:tc>
                <a:tc>
                  <a:txBody>
                    <a:bodyPr wrap="square"/>
                    <a:lstStyle/>
                    <a:p>
                      <a:pPr algn="l"/>
                      <a:r>
                        <a:rPr sz="1300" b="0">
                          <a:solidFill>
                            <a:srgbClr val="3D3D3B"/>
                          </a:solidFill>
                          <a:latin typeface="Arial"/>
                        </a:rPr>
                        <a:t>Non affichée (données simulées)</a:t>
                      </a:r>
                    </a:p>
                  </a:txBody>
                  <a:tcPr marL="91440" marR="91440" marT="36576" marB="36576" anchor="ctr">
                    <a:solidFill>
                      <a:srgbClr val="FBF6F0"/>
                    </a:solidFill>
                  </a:tcPr>
                </a:tc>
                <a:tc>
                  <a:txBody>
                    <a:bodyPr wrap="square"/>
                    <a:lstStyle/>
                    <a:p>
                      <a:pPr algn="l"/>
                      <a:r>
                        <a:rPr sz="1300" b="0">
                          <a:solidFill>
                            <a:srgbClr val="3D3D3B"/>
                          </a:solidFill>
                          <a:latin typeface="Arial"/>
                        </a:rPr>
                        <a:t>Calibrée sur la moyenne de long terme</a:t>
                      </a:r>
                    </a:p>
                  </a:txBody>
                  <a:tcPr marL="91440" marR="91440" marT="36576" marB="36576" anchor="ctr">
                    <a:solidFill>
                      <a:srgbClr val="FBF6F0"/>
                    </a:solidFill>
                  </a:tcPr>
                </a:tc>
              </a:tr>
              <a:tr h="566928">
                <a:tc>
                  <a:txBody>
                    <a:bodyPr wrap="square"/>
                    <a:lstStyle/>
                    <a:p>
                      <a:pPr algn="l"/>
                      <a:r>
                        <a:rPr sz="1300" b="1">
                          <a:solidFill>
                            <a:srgbClr val="462016"/>
                          </a:solidFill>
                          <a:latin typeface="Arial"/>
                        </a:rPr>
                        <a:t>Preuve de performance</a:t>
                      </a:r>
                    </a:p>
                  </a:txBody>
                  <a:tcPr marL="91440" marR="91440" marT="36576" marB="36576" anchor="ctr">
                    <a:solidFill>
                      <a:srgbClr val="F2E8DB"/>
                    </a:solidFill>
                  </a:tcPr>
                </a:tc>
                <a:tc>
                  <a:txBody>
                    <a:bodyPr wrap="square"/>
                    <a:lstStyle/>
                    <a:p>
                      <a:pPr algn="l"/>
                      <a:r>
                        <a:rPr sz="1300" b="0">
                          <a:solidFill>
                            <a:srgbClr val="3D3D3B"/>
                          </a:solidFill>
                          <a:latin typeface="Arial"/>
                        </a:rPr>
                        <a:t>Cohérence et tests de construction</a:t>
                      </a:r>
                    </a:p>
                  </a:txBody>
                  <a:tcPr marL="91440" marR="91440" marT="36576" marB="36576" anchor="ctr">
                    <a:solidFill>
                      <a:srgbClr val="F2E8DB"/>
                    </a:solidFill>
                  </a:tcPr>
                </a:tc>
                <a:tc>
                  <a:txBody>
                    <a:bodyPr wrap="square"/>
                    <a:lstStyle/>
                    <a:p>
                      <a:pPr algn="l"/>
                      <a:r>
                        <a:rPr sz="1300" b="0">
                          <a:solidFill>
                            <a:srgbClr val="3D3D3B"/>
                          </a:solidFill>
                          <a:latin typeface="Arial"/>
                        </a:rPr>
                        <a:t>Pouvoir discriminant mesuré, suivi annuel</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Critères qualitatifs</a:t>
                      </a:r>
                    </a:p>
                  </a:txBody>
                  <a:tcPr marL="91440" marR="91440" marT="36576" marB="36576" anchor="ctr">
                    <a:solidFill>
                      <a:srgbClr val="FBF6F0"/>
                    </a:solidFill>
                  </a:tcPr>
                </a:tc>
                <a:tc>
                  <a:txBody>
                    <a:bodyPr wrap="square"/>
                    <a:lstStyle/>
                    <a:p>
                      <a:pPr algn="l"/>
                      <a:r>
                        <a:rPr sz="1300" b="0">
                          <a:solidFill>
                            <a:srgbClr val="3D3D3B"/>
                          </a:solidFill>
                          <a:latin typeface="Arial"/>
                        </a:rPr>
                        <a:t>Repères écrits, poids d'expert</a:t>
                      </a:r>
                    </a:p>
                  </a:txBody>
                  <a:tcPr marL="91440" marR="91440" marT="36576" marB="36576" anchor="ctr">
                    <a:solidFill>
                      <a:srgbClr val="FBF6F0"/>
                    </a:solidFill>
                  </a:tcPr>
                </a:tc>
                <a:tc>
                  <a:txBody>
                    <a:bodyPr wrap="square"/>
                    <a:lstStyle/>
                    <a:p>
                      <a:pPr algn="l"/>
                      <a:r>
                        <a:rPr sz="1300" b="0">
                          <a:solidFill>
                            <a:srgbClr val="3D3D3B"/>
                          </a:solidFill>
                          <a:latin typeface="Arial"/>
                        </a:rPr>
                        <a:t>Gardés s'ils prédisent le défaut</a:t>
                      </a:r>
                    </a:p>
                  </a:txBody>
                  <a:tcPr marL="91440" marR="91440" marT="36576" marB="36576" anchor="ctr">
                    <a:solidFill>
                      <a:srgbClr val="FBF6F0"/>
                    </a:solidFill>
                  </a:tcPr>
                </a:tc>
              </a:tr>
              <a:tr h="566928">
                <a:tc>
                  <a:txBody>
                    <a:bodyPr wrap="square"/>
                    <a:lstStyle/>
                    <a:p>
                      <a:pPr algn="l"/>
                      <a:r>
                        <a:rPr sz="1300" b="1">
                          <a:solidFill>
                            <a:srgbClr val="462016"/>
                          </a:solidFill>
                          <a:latin typeface="Arial"/>
                        </a:rPr>
                        <a:t>Données nécessaires</a:t>
                      </a:r>
                    </a:p>
                  </a:txBody>
                  <a:tcPr marL="91440" marR="91440" marT="36576" marB="36576" anchor="ctr">
                    <a:solidFill>
                      <a:srgbClr val="F2E8DB"/>
                    </a:solidFill>
                  </a:tcPr>
                </a:tc>
                <a:tc>
                  <a:txBody>
                    <a:bodyPr wrap="square"/>
                    <a:lstStyle/>
                    <a:p>
                      <a:pPr algn="l"/>
                      <a:r>
                        <a:rPr sz="1300" b="0">
                          <a:solidFill>
                            <a:srgbClr val="3D3D3B"/>
                          </a:solidFill>
                          <a:latin typeface="Arial"/>
                        </a:rPr>
                        <a:t>Le dossier du jour</a:t>
                      </a:r>
                    </a:p>
                  </a:txBody>
                  <a:tcPr marL="91440" marR="91440" marT="36576" marB="36576" anchor="ctr">
                    <a:solidFill>
                      <a:srgbClr val="F2E8DB"/>
                    </a:solidFill>
                  </a:tcPr>
                </a:tc>
                <a:tc>
                  <a:txBody>
                    <a:bodyPr wrap="square"/>
                    <a:lstStyle/>
                    <a:p>
                      <a:pPr algn="l"/>
                      <a:r>
                        <a:rPr sz="1300" b="0">
                          <a:solidFill>
                            <a:srgbClr val="3D3D3B"/>
                          </a:solidFill>
                          <a:latin typeface="Arial"/>
                        </a:rPr>
                        <a:t>5 à 7 ans d'historique et de défauts</a:t>
                      </a:r>
                    </a:p>
                  </a:txBody>
                  <a:tcPr marL="91440" marR="91440" marT="36576" marB="36576" anchor="ctr">
                    <a:solidFill>
                      <a:srgbClr val="F2E8DB"/>
                    </a:solidFill>
                  </a:tcPr>
                </a:tc>
              </a:tr>
              <a:tr h="566928">
                <a:tc>
                  <a:txBody>
                    <a:bodyPr wrap="square"/>
                    <a:lstStyle/>
                    <a:p>
                      <a:pPr algn="l"/>
                      <a:r>
                        <a:rPr sz="1300" b="1">
                          <a:solidFill>
                            <a:srgbClr val="462016"/>
                          </a:solidFill>
                          <a:latin typeface="Arial"/>
                        </a:rPr>
                        <a:t>Usage possible</a:t>
                      </a:r>
                    </a:p>
                  </a:txBody>
                  <a:tcPr marL="91440" marR="91440" marT="36576" marB="36576" anchor="ctr">
                    <a:solidFill>
                      <a:srgbClr val="FBF6F0"/>
                    </a:solidFill>
                  </a:tcPr>
                </a:tc>
                <a:tc>
                  <a:txBody>
                    <a:bodyPr wrap="square"/>
                    <a:lstStyle/>
                    <a:p>
                      <a:pPr algn="l"/>
                      <a:r>
                        <a:rPr sz="1300" b="0">
                          <a:solidFill>
                            <a:srgbClr val="3D3D3B"/>
                          </a:solidFill>
                          <a:latin typeface="Arial"/>
                        </a:rPr>
                        <a:t>Pilote, aide au jugement</a:t>
                      </a:r>
                    </a:p>
                  </a:txBody>
                  <a:tcPr marL="91440" marR="91440" marT="36576" marB="36576" anchor="ctr">
                    <a:solidFill>
                      <a:srgbClr val="FBF6F0"/>
                    </a:solidFill>
                  </a:tcPr>
                </a:tc>
                <a:tc>
                  <a:txBody>
                    <a:bodyPr wrap="square"/>
                    <a:lstStyle/>
                    <a:p>
                      <a:pPr algn="l"/>
                      <a:r>
                        <a:rPr sz="1300" b="0">
                          <a:solidFill>
                            <a:srgbClr val="3D3D3B"/>
                          </a:solidFill>
                          <a:latin typeface="Arial"/>
                        </a:rPr>
                        <a:t>Octroi, tarification, IFRS 9 après validation</a:t>
                      </a:r>
                    </a:p>
                  </a:txBody>
                  <a:tcPr marL="91440" marR="91440" marT="36576" marB="36576" anchor="ctr">
                    <a:solidFill>
                      <a:srgbClr val="FBF6F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GRANDES ÉTAPES, SUR 18 MOIS ENVIRON</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Définir le défaut</a:t>
            </a:r>
            <a:endParaRPr lang="en-US" sz="1500" dirty="0"/>
          </a:p>
          <a:p>
            <a:pPr algn="ctr" indent="0" marL="0">
              <a:buNone/>
            </a:pPr>
            <a:r>
              <a:rPr lang="en-US" sz="1500" dirty="0">
                <a:solidFill>
                  <a:srgbClr val="8C5B52"/>
                </a:solidFill>
              </a:rPr>
              <a:t>Risques, Conformité</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Extraire l'historique</a:t>
            </a:r>
            <a:endParaRPr lang="en-US" sz="1500" dirty="0"/>
          </a:p>
          <a:p>
            <a:pPr algn="ctr" indent="0" marL="0">
              <a:buNone/>
            </a:pPr>
            <a:r>
              <a:rPr lang="en-US" sz="1500" dirty="0">
                <a:solidFill>
                  <a:srgbClr val="8C5B52"/>
                </a:solidFill>
              </a:rPr>
              <a:t>5 à 7 ans</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Qualifier les données</a:t>
            </a:r>
            <a:endParaRPr lang="en-US" sz="1500" dirty="0"/>
          </a:p>
          <a:p>
            <a:pPr algn="ctr" indent="0" marL="0">
              <a:buNone/>
            </a:pPr>
            <a:r>
              <a:rPr lang="en-US" sz="1500" dirty="0">
                <a:solidFill>
                  <a:srgbClr val="8C5B52"/>
                </a:solidFill>
              </a:rPr>
              <a:t>rapprochements, exclusions</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Construire les échantillons</a:t>
            </a:r>
            <a:endParaRPr lang="en-US" sz="1500" dirty="0"/>
          </a:p>
          <a:p>
            <a:pPr algn="ctr" indent="0" marL="0">
              <a:buNone/>
            </a:pPr>
            <a:r>
              <a:rPr lang="en-US" sz="1500" dirty="0">
                <a:solidFill>
                  <a:srgbClr val="8C5B52"/>
                </a:solidFill>
              </a:rPr>
              <a:t>développement, test, récent</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Analyser chaque critère</a:t>
            </a:r>
            <a:endParaRPr lang="en-US" sz="1500" dirty="0"/>
          </a:p>
          <a:p>
            <a:pPr algn="ctr" indent="0" marL="0">
              <a:buNone/>
            </a:pPr>
            <a:r>
              <a:rPr lang="en-US" sz="1500" dirty="0">
                <a:solidFill>
                  <a:srgbClr val="8C5B52"/>
                </a:solidFill>
              </a:rPr>
              <a:t>pouvoir, sens, classes</a:t>
            </a:r>
            <a:endParaRPr lang="en-US" sz="1500" dirty="0"/>
          </a:p>
        </p:txBody>
      </p:sp>
      <p:sp>
        <p:nvSpPr>
          <p:cNvPr id="19" name="etape-6"/>
          <p:cNvSpPr/>
          <p:nvPr/>
        </p:nvSpPr>
        <p:spPr>
          <a:xfrm>
            <a:off x="457200" y="3749040"/>
            <a:ext cx="2240280" cy="1051560"/>
          </a:xfrm>
          <a:prstGeom prst="chevron">
            <a:avLst/>
          </a:prstGeom>
          <a:solidFill>
            <a:srgbClr val="8C5B52"/>
          </a:solidFill>
          <a:ln/>
        </p:spPr>
      </p:sp>
      <p:sp>
        <p:nvSpPr>
          <p:cNvPr id="20" name="Text 17"/>
          <p:cNvSpPr txBox="1"/>
          <p:nvPr/>
        </p:nvSpPr>
        <p:spPr>
          <a:xfrm>
            <a:off x="868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6</a:t>
            </a:r>
            <a:endParaRPr lang="en-US" sz="2800" dirty="0"/>
          </a:p>
        </p:txBody>
      </p:sp>
      <p:sp>
        <p:nvSpPr>
          <p:cNvPr id="21" name="Text 18"/>
          <p:cNvSpPr txBox="1"/>
          <p:nvPr/>
        </p:nvSpPr>
        <p:spPr>
          <a:xfrm>
            <a:off x="548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Estimer le modèle</a:t>
            </a:r>
            <a:endParaRPr lang="en-US" sz="1500" dirty="0"/>
          </a:p>
          <a:p>
            <a:pPr algn="ctr" indent="0" marL="0">
              <a:buNone/>
            </a:pPr>
            <a:r>
              <a:rPr lang="en-US" sz="1500" dirty="0">
                <a:solidFill>
                  <a:srgbClr val="8C5B52"/>
                </a:solidFill>
              </a:rPr>
              <a:t>régression logistique</a:t>
            </a:r>
            <a:endParaRPr lang="en-US" sz="1500" dirty="0"/>
          </a:p>
        </p:txBody>
      </p:sp>
      <p:sp>
        <p:nvSpPr>
          <p:cNvPr id="22" name="etape-7"/>
          <p:cNvSpPr/>
          <p:nvPr/>
        </p:nvSpPr>
        <p:spPr>
          <a:xfrm>
            <a:off x="2743200" y="3749040"/>
            <a:ext cx="2240280" cy="1051560"/>
          </a:xfrm>
          <a:prstGeom prst="chevron">
            <a:avLst/>
          </a:prstGeom>
          <a:solidFill>
            <a:srgbClr val="8C5B52"/>
          </a:solidFill>
          <a:ln/>
        </p:spPr>
      </p:sp>
      <p:sp>
        <p:nvSpPr>
          <p:cNvPr id="23" name="Text 20"/>
          <p:cNvSpPr txBox="1"/>
          <p:nvPr/>
        </p:nvSpPr>
        <p:spPr>
          <a:xfrm>
            <a:off x="3154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7</a:t>
            </a:r>
            <a:endParaRPr lang="en-US" sz="2800" dirty="0"/>
          </a:p>
        </p:txBody>
      </p:sp>
      <p:sp>
        <p:nvSpPr>
          <p:cNvPr id="24" name="Text 21"/>
          <p:cNvSpPr txBox="1"/>
          <p:nvPr/>
        </p:nvSpPr>
        <p:spPr>
          <a:xfrm>
            <a:off x="2834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Intégrer le qualitatif</a:t>
            </a:r>
            <a:endParaRPr lang="en-US" sz="1500" dirty="0"/>
          </a:p>
          <a:p>
            <a:pPr algn="ctr" indent="0" marL="0">
              <a:buNone/>
            </a:pPr>
            <a:r>
              <a:rPr lang="en-US" sz="1500" dirty="0">
                <a:solidFill>
                  <a:srgbClr val="8C5B52"/>
                </a:solidFill>
              </a:rPr>
              <a:t>module distinct</a:t>
            </a:r>
            <a:endParaRPr lang="en-US" sz="1500" dirty="0"/>
          </a:p>
        </p:txBody>
      </p:sp>
      <p:sp>
        <p:nvSpPr>
          <p:cNvPr id="25" name="etape-8"/>
          <p:cNvSpPr/>
          <p:nvPr/>
        </p:nvSpPr>
        <p:spPr>
          <a:xfrm>
            <a:off x="5029200" y="3749040"/>
            <a:ext cx="2240280" cy="1051560"/>
          </a:xfrm>
          <a:prstGeom prst="chevron">
            <a:avLst/>
          </a:prstGeom>
          <a:solidFill>
            <a:srgbClr val="8C5B52"/>
          </a:solidFill>
          <a:ln/>
        </p:spPr>
      </p:sp>
      <p:sp>
        <p:nvSpPr>
          <p:cNvPr id="26" name="Text 23"/>
          <p:cNvSpPr txBox="1"/>
          <p:nvPr/>
        </p:nvSpPr>
        <p:spPr>
          <a:xfrm>
            <a:off x="5440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8</a:t>
            </a:r>
            <a:endParaRPr lang="en-US" sz="2800" dirty="0"/>
          </a:p>
        </p:txBody>
      </p:sp>
      <p:sp>
        <p:nvSpPr>
          <p:cNvPr id="27" name="Text 24"/>
          <p:cNvSpPr txBox="1"/>
          <p:nvPr/>
        </p:nvSpPr>
        <p:spPr>
          <a:xfrm>
            <a:off x="5120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Calibrer les PD</a:t>
            </a:r>
            <a:endParaRPr lang="en-US" sz="1500" dirty="0"/>
          </a:p>
          <a:p>
            <a:pPr algn="ctr" indent="0" marL="0">
              <a:buNone/>
            </a:pPr>
            <a:r>
              <a:rPr lang="en-US" sz="1500" dirty="0">
                <a:solidFill>
                  <a:srgbClr val="8C5B52"/>
                </a:solidFill>
              </a:rPr>
              <a:t>long terme + prudence</a:t>
            </a:r>
            <a:endParaRPr lang="en-US" sz="1500" dirty="0"/>
          </a:p>
        </p:txBody>
      </p:sp>
      <p:sp>
        <p:nvSpPr>
          <p:cNvPr id="28" name="etape-9"/>
          <p:cNvSpPr/>
          <p:nvPr/>
        </p:nvSpPr>
        <p:spPr>
          <a:xfrm>
            <a:off x="7315200" y="3749040"/>
            <a:ext cx="2240280" cy="1051560"/>
          </a:xfrm>
          <a:prstGeom prst="chevron">
            <a:avLst/>
          </a:prstGeom>
          <a:solidFill>
            <a:srgbClr val="8C5B52"/>
          </a:solidFill>
          <a:ln/>
        </p:spPr>
      </p:sp>
      <p:sp>
        <p:nvSpPr>
          <p:cNvPr id="29" name="Text 26"/>
          <p:cNvSpPr txBox="1"/>
          <p:nvPr/>
        </p:nvSpPr>
        <p:spPr>
          <a:xfrm>
            <a:off x="7726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9</a:t>
            </a:r>
            <a:endParaRPr lang="en-US" sz="2800" dirty="0"/>
          </a:p>
        </p:txBody>
      </p:sp>
      <p:sp>
        <p:nvSpPr>
          <p:cNvPr id="30" name="Text 27"/>
          <p:cNvSpPr txBox="1"/>
          <p:nvPr/>
        </p:nvSpPr>
        <p:spPr>
          <a:xfrm>
            <a:off x="7406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Valider</a:t>
            </a:r>
            <a:endParaRPr lang="en-US" sz="1500" dirty="0"/>
          </a:p>
          <a:p>
            <a:pPr algn="ctr" indent="0" marL="0">
              <a:buNone/>
            </a:pPr>
            <a:r>
              <a:rPr lang="en-US" sz="1500" dirty="0">
                <a:solidFill>
                  <a:srgbClr val="8C5B52"/>
                </a:solidFill>
              </a:rPr>
              <a:t>fonction indépendante</a:t>
            </a:r>
            <a:endParaRPr lang="en-US" sz="1500" dirty="0"/>
          </a:p>
        </p:txBody>
      </p:sp>
      <p:sp>
        <p:nvSpPr>
          <p:cNvPr id="31" name="etape-10"/>
          <p:cNvSpPr/>
          <p:nvPr/>
        </p:nvSpPr>
        <p:spPr>
          <a:xfrm>
            <a:off x="9601200" y="3749040"/>
            <a:ext cx="2240280" cy="1051560"/>
          </a:xfrm>
          <a:prstGeom prst="chevron">
            <a:avLst/>
          </a:prstGeom>
          <a:solidFill>
            <a:srgbClr val="8C5B52"/>
          </a:solidFill>
          <a:ln/>
        </p:spPr>
      </p:sp>
      <p:sp>
        <p:nvSpPr>
          <p:cNvPr id="32" name="Text 29"/>
          <p:cNvSpPr txBox="1"/>
          <p:nvPr/>
        </p:nvSpPr>
        <p:spPr>
          <a:xfrm>
            <a:off x="10012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10</a:t>
            </a:r>
            <a:endParaRPr lang="en-US" sz="2800" dirty="0"/>
          </a:p>
        </p:txBody>
      </p:sp>
      <p:sp>
        <p:nvSpPr>
          <p:cNvPr id="33" name="Text 30"/>
          <p:cNvSpPr txBox="1"/>
          <p:nvPr/>
        </p:nvSpPr>
        <p:spPr>
          <a:xfrm>
            <a:off x="9692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Mettre en production</a:t>
            </a:r>
            <a:endParaRPr lang="en-US" sz="1500" dirty="0"/>
          </a:p>
          <a:p>
            <a:pPr algn="ctr" indent="0" marL="0">
              <a:buNone/>
            </a:pPr>
            <a:r>
              <a:rPr lang="en-US" sz="1500" dirty="0">
                <a:solidFill>
                  <a:srgbClr val="8C5B52"/>
                </a:solidFill>
              </a:rPr>
              <a:t>en parallèle d'abord</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Prérequis : un défaut défini et stable, 5 à 7 ans d'historique, quelques centaines de défauts par segment, des données traçables.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ÉCARTS À ATTENDRE À LA BASCULE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Ordre de grandeur habituel : 50 à 70 % des notes à un cran près. La bascule se fait en parallèle, matrice de migration à l'appui.</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730752"/>
        </p:xfrm>
        <a:graphic>
          <a:graphicData uri="http://schemas.openxmlformats.org/drawingml/2006/table">
            <a:tbl>
              <a:tblPr firstRow="0" bandRow="0"/>
              <a:tblGrid>
                <a:gridCol w="3108960"/>
                <a:gridCol w="4572000"/>
                <a:gridCol w="3593592"/>
              </a:tblGrid>
              <a:tr h="621792">
                <a:tc>
                  <a:txBody>
                    <a:bodyPr wrap="square"/>
                    <a:lstStyle/>
                    <a:p>
                      <a:pPr algn="l"/>
                      <a:r>
                        <a:rPr sz="1300" b="1">
                          <a:solidFill>
                            <a:srgbClr val="FFFFFF"/>
                          </a:solidFill>
                          <a:latin typeface="Arial"/>
                        </a:rPr>
                        <a:t>Écart probable</a:t>
                      </a:r>
                    </a:p>
                  </a:txBody>
                  <a:tcPr marL="91440" marR="91440" marT="36576" marB="36576" anchor="ctr">
                    <a:solidFill>
                      <a:srgbClr val="E37B05"/>
                    </a:solidFill>
                  </a:tcPr>
                </a:tc>
                <a:tc>
                  <a:txBody>
                    <a:bodyPr wrap="square"/>
                    <a:lstStyle/>
                    <a:p>
                      <a:pPr algn="l"/>
                      <a:r>
                        <a:rPr sz="1300" b="1">
                          <a:solidFill>
                            <a:srgbClr val="FFFFFF"/>
                          </a:solidFill>
                          <a:latin typeface="Arial"/>
                        </a:rPr>
                        <a:t>Pourquoi</a:t>
                      </a:r>
                    </a:p>
                  </a:txBody>
                  <a:tcPr marL="91440" marR="91440" marT="36576" marB="36576" anchor="ctr">
                    <a:solidFill>
                      <a:srgbClr val="E37B05"/>
                    </a:solidFill>
                  </a:tcPr>
                </a:tc>
                <a:tc>
                  <a:txBody>
                    <a:bodyPr wrap="square"/>
                    <a:lstStyle/>
                    <a:p>
                      <a:pPr algn="l"/>
                      <a:r>
                        <a:rPr sz="1300" b="1">
                          <a:solidFill>
                            <a:srgbClr val="FFFFFF"/>
                          </a:solidFill>
                          <a:latin typeface="Arial"/>
                        </a:rPr>
                        <a:t>Effet sur les notes</a:t>
                      </a:r>
                    </a:p>
                  </a:txBody>
                  <a:tcPr marL="91440" marR="91440" marT="36576" marB="36576" anchor="ctr">
                    <a:solidFill>
                      <a:srgbClr val="E37B05"/>
                    </a:solidFill>
                  </a:tcPr>
                </a:tc>
              </a:tr>
              <a:tr h="621792">
                <a:tc>
                  <a:txBody>
                    <a:bodyPr wrap="square"/>
                    <a:lstStyle/>
                    <a:p>
                      <a:pPr algn="l"/>
                      <a:r>
                        <a:rPr sz="1300" b="1">
                          <a:solidFill>
                            <a:srgbClr val="462016"/>
                          </a:solidFill>
                          <a:latin typeface="Arial"/>
                        </a:rPr>
                        <a:t>Le compte pèsera plus</a:t>
                      </a:r>
                    </a:p>
                  </a:txBody>
                  <a:tcPr marL="91440" marR="91440" marT="36576" marB="36576" anchor="ctr">
                    <a:solidFill>
                      <a:srgbClr val="F2E8DB"/>
                    </a:solidFill>
                  </a:tcPr>
                </a:tc>
                <a:tc>
                  <a:txBody>
                    <a:bodyPr wrap="square"/>
                    <a:lstStyle/>
                    <a:p>
                      <a:pPr algn="l"/>
                      <a:r>
                        <a:rPr sz="1300" b="0">
                          <a:solidFill>
                            <a:srgbClr val="3D3D3B"/>
                          </a:solidFill>
                          <a:latin typeface="Arial"/>
                        </a:rPr>
                        <a:t>Retards, dépassements et flux sont souvent les meilleurs signaux en PME et TPE</a:t>
                      </a:r>
                    </a:p>
                  </a:txBody>
                  <a:tcPr marL="91440" marR="91440" marT="36576" marB="36576" anchor="ctr">
                    <a:solidFill>
                      <a:srgbClr val="F2E8DB"/>
                    </a:solidFill>
                  </a:tcPr>
                </a:tc>
                <a:tc>
                  <a:txBody>
                    <a:bodyPr wrap="square"/>
                    <a:lstStyle/>
                    <a:p>
                      <a:pPr algn="l"/>
                      <a:r>
                        <a:rPr sz="1300" b="0">
                          <a:solidFill>
                            <a:srgbClr val="3D3D3B"/>
                          </a:solidFill>
                          <a:latin typeface="Arial"/>
                        </a:rPr>
                        <a:t>Comptes bons, compte tendu : dégradation</a:t>
                      </a:r>
                    </a:p>
                  </a:txBody>
                  <a:tcPr marL="91440" marR="91440" marT="36576" marB="36576" anchor="ctr">
                    <a:solidFill>
                      <a:srgbClr val="F2E8DB"/>
                    </a:solidFill>
                  </a:tcPr>
                </a:tc>
              </a:tr>
              <a:tr h="621792">
                <a:tc>
                  <a:txBody>
                    <a:bodyPr wrap="square"/>
                    <a:lstStyle/>
                    <a:p>
                      <a:pPr algn="l"/>
                      <a:r>
                        <a:rPr sz="1300" b="1">
                          <a:solidFill>
                            <a:srgbClr val="462016"/>
                          </a:solidFill>
                          <a:latin typeface="Arial"/>
                        </a:rPr>
                        <a:t>L'absence d'information coûtera plus</a:t>
                      </a:r>
                    </a:p>
                  </a:txBody>
                  <a:tcPr marL="91440" marR="91440" marT="36576" marB="36576" anchor="ctr">
                    <a:solidFill>
                      <a:srgbClr val="FBF6F0"/>
                    </a:solidFill>
                  </a:tcPr>
                </a:tc>
                <a:tc>
                  <a:txBody>
                    <a:bodyPr wrap="square"/>
                    <a:lstStyle/>
                    <a:p>
                      <a:pPr algn="l"/>
                      <a:r>
                        <a:rPr sz="1300" b="0">
                          <a:solidFill>
                            <a:srgbClr val="3D3D3B"/>
                          </a:solidFill>
                          <a:latin typeface="Arial"/>
                        </a:rPr>
                        <a:t>Ne pas fournir ses comptes prédit le défaut</a:t>
                      </a:r>
                    </a:p>
                  </a:txBody>
                  <a:tcPr marL="91440" marR="91440" marT="36576" marB="36576" anchor="ctr">
                    <a:solidFill>
                      <a:srgbClr val="FBF6F0"/>
                    </a:solidFill>
                  </a:tcPr>
                </a:tc>
                <a:tc>
                  <a:txBody>
                    <a:bodyPr wrap="square"/>
                    <a:lstStyle/>
                    <a:p>
                      <a:pPr algn="l"/>
                      <a:r>
                        <a:rPr sz="1300" b="0">
                          <a:solidFill>
                            <a:srgbClr val="3D3D3B"/>
                          </a:solidFill>
                          <a:latin typeface="Arial"/>
                        </a:rPr>
                        <a:t>Dossiers incomplets : nettement dégradés</a:t>
                      </a:r>
                    </a:p>
                  </a:txBody>
                  <a:tcPr marL="91440" marR="91440" marT="36576" marB="36576" anchor="ctr">
                    <a:solidFill>
                      <a:srgbClr val="FBF6F0"/>
                    </a:solidFill>
                  </a:tcPr>
                </a:tc>
              </a:tr>
              <a:tr h="621792">
                <a:tc>
                  <a:txBody>
                    <a:bodyPr wrap="square"/>
                    <a:lstStyle/>
                    <a:p>
                      <a:pPr algn="l"/>
                      <a:r>
                        <a:rPr sz="1300" b="1">
                          <a:solidFill>
                            <a:srgbClr val="462016"/>
                          </a:solidFill>
                          <a:latin typeface="Arial"/>
                        </a:rPr>
                        <a:t>Le secteur entrera dans le score</a:t>
                      </a:r>
                    </a:p>
                  </a:txBody>
                  <a:tcPr marL="91440" marR="91440" marT="36576" marB="36576" anchor="ctr">
                    <a:solidFill>
                      <a:srgbClr val="F2E8DB"/>
                    </a:solidFill>
                  </a:tcPr>
                </a:tc>
                <a:tc>
                  <a:txBody>
                    <a:bodyPr wrap="square"/>
                    <a:lstStyle/>
                    <a:p>
                      <a:pPr algn="l"/>
                      <a:r>
                        <a:rPr sz="1300" b="0">
                          <a:solidFill>
                            <a:srgbClr val="3D3D3B"/>
                          </a:solidFill>
                          <a:latin typeface="Arial"/>
                        </a:rPr>
                        <a:t>Agriculture, BTP, tourisme, immobilier plus risqués</a:t>
                      </a:r>
                    </a:p>
                  </a:txBody>
                  <a:tcPr marL="91440" marR="91440" marT="36576" marB="36576" anchor="ctr">
                    <a:solidFill>
                      <a:srgbClr val="F2E8DB"/>
                    </a:solidFill>
                  </a:tcPr>
                </a:tc>
                <a:tc>
                  <a:txBody>
                    <a:bodyPr wrap="square"/>
                    <a:lstStyle/>
                    <a:p>
                      <a:pPr algn="l"/>
                      <a:r>
                        <a:rPr sz="1300" b="0">
                          <a:solidFill>
                            <a:srgbClr val="3D3D3B"/>
                          </a:solidFill>
                          <a:latin typeface="Arial"/>
                        </a:rPr>
                        <a:t>Secteurs cycliques : un à deux crans</a:t>
                      </a:r>
                    </a:p>
                  </a:txBody>
                  <a:tcPr marL="91440" marR="91440" marT="36576" marB="36576" anchor="ctr">
                    <a:solidFill>
                      <a:srgbClr val="F2E8DB"/>
                    </a:solidFill>
                  </a:tcPr>
                </a:tc>
              </a:tr>
              <a:tr h="621792">
                <a:tc>
                  <a:txBody>
                    <a:bodyPr wrap="square"/>
                    <a:lstStyle/>
                    <a:p>
                      <a:pPr algn="l"/>
                      <a:r>
                        <a:rPr sz="1300" b="1">
                          <a:solidFill>
                            <a:srgbClr val="462016"/>
                          </a:solidFill>
                          <a:latin typeface="Arial"/>
                        </a:rPr>
                        <a:t>Certains critères qualitatifs disparaîtront</a:t>
                      </a:r>
                    </a:p>
                  </a:txBody>
                  <a:tcPr marL="91440" marR="91440" marT="36576" marB="36576" anchor="ctr">
                    <a:solidFill>
                      <a:srgbClr val="FBF6F0"/>
                    </a:solidFill>
                  </a:tcPr>
                </a:tc>
                <a:tc>
                  <a:txBody>
                    <a:bodyPr wrap="square"/>
                    <a:lstStyle/>
                    <a:p>
                      <a:pPr algn="l"/>
                      <a:r>
                        <a:rPr sz="1300" b="0">
                          <a:solidFill>
                            <a:srgbClr val="3D3D3B"/>
                          </a:solidFill>
                          <a:latin typeface="Arial"/>
                        </a:rPr>
                        <a:t>Peu d'information au-delà des chiffres</a:t>
                      </a:r>
                    </a:p>
                  </a:txBody>
                  <a:tcPr marL="91440" marR="91440" marT="36576" marB="36576" anchor="ctr">
                    <a:solidFill>
                      <a:srgbClr val="FBF6F0"/>
                    </a:solidFill>
                  </a:tcPr>
                </a:tc>
                <a:tc>
                  <a:txBody>
                    <a:bodyPr wrap="square"/>
                    <a:lstStyle/>
                    <a:p>
                      <a:pPr algn="l"/>
                      <a:r>
                        <a:rPr sz="1300" b="0">
                          <a:solidFill>
                            <a:srgbClr val="3D3D3B"/>
                          </a:solidFill>
                          <a:latin typeface="Arial"/>
                        </a:rPr>
                        <a:t>Grille plus courte, plus stable</a:t>
                      </a:r>
                    </a:p>
                  </a:txBody>
                  <a:tcPr marL="91440" marR="91440" marT="36576" marB="36576" anchor="ctr">
                    <a:solidFill>
                      <a:srgbClr val="FBF6F0"/>
                    </a:solidFill>
                  </a:tcPr>
                </a:tc>
              </a:tr>
              <a:tr h="621792">
                <a:tc>
                  <a:txBody>
                    <a:bodyPr wrap="square"/>
                    <a:lstStyle/>
                    <a:p>
                      <a:pPr algn="l"/>
                      <a:r>
                        <a:rPr sz="1300" b="1">
                          <a:solidFill>
                            <a:srgbClr val="462016"/>
                          </a:solidFill>
                          <a:latin typeface="Arial"/>
                        </a:rPr>
                        <a:t>L'échelle sera recalée</a:t>
                      </a:r>
                    </a:p>
                  </a:txBody>
                  <a:tcPr marL="91440" marR="91440" marT="36576" marB="36576" anchor="ctr">
                    <a:solidFill>
                      <a:srgbClr val="F2E8DB"/>
                    </a:solidFill>
                  </a:tcPr>
                </a:tc>
                <a:tc>
                  <a:txBody>
                    <a:bodyPr wrap="square"/>
                    <a:lstStyle/>
                    <a:p>
                      <a:pPr algn="l"/>
                      <a:r>
                        <a:rPr sz="1300" b="0">
                          <a:solidFill>
                            <a:srgbClr val="3D3D3B"/>
                          </a:solidFill>
                          <a:latin typeface="Arial"/>
                        </a:rPr>
                        <a:t>Les grades experts sont souvent concentrés au centre</a:t>
                      </a:r>
                    </a:p>
                  </a:txBody>
                  <a:tcPr marL="91440" marR="91440" marT="36576" marB="36576" anchor="ctr">
                    <a:solidFill>
                      <a:srgbClr val="F2E8DB"/>
                    </a:solidFill>
                  </a:tcPr>
                </a:tc>
                <a:tc>
                  <a:txBody>
                    <a:bodyPr wrap="square"/>
                    <a:lstStyle/>
                    <a:p>
                      <a:pPr algn="l"/>
                      <a:r>
                        <a:rPr sz="1300" b="0">
                          <a:solidFill>
                            <a:srgbClr val="3D3D3B"/>
                          </a:solidFill>
                          <a:latin typeface="Arial"/>
                        </a:rPr>
                        <a:t>Plus de très bons et de très mauvais</a:t>
                      </a:r>
                    </a:p>
                  </a:txBody>
                  <a:tcPr marL="91440" marR="91440" marT="36576" marB="36576" anchor="ctr">
                    <a:solidFill>
                      <a:srgbClr val="F2E8DB"/>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DÉCISIONS ATTENDUES</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01</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Arrêter la définition du défaut et lancer l'extraction</a:t>
            </a:r>
            <a:r>
              <a:rPr lang="en-US" sz="1600" dirty="0">
                <a:solidFill>
                  <a:srgbClr val="3D3D3B"/>
                </a:solidFill>
              </a:rPr>
              <a:t>  —  5 à 7 ans de comptes, de comportement bancaire et de défauts.</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02</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Valider la méthode groupe</a:t>
            </a:r>
            <a:r>
              <a:rPr lang="en-US" sz="1600" dirty="0">
                <a:solidFill>
                  <a:srgbClr val="3D3D3B"/>
                </a:solidFill>
              </a:rPr>
              <a:t>  —  statuts des membres, plafond de contagion, notation du groupe.</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03</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Valider la méthode d'entrée en relation</a:t>
            </a:r>
            <a:r>
              <a:rPr lang="en-US" sz="1600" dirty="0">
                <a:solidFill>
                  <a:srgbClr val="3D3D3B"/>
                </a:solidFill>
              </a:rPr>
              <a:t>  —  accès à la centrale des risques et au crédit bureau, revue à 6 mois.</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04</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Organiser le flux mensuel de la DSI</a:t>
            </a:r>
            <a:r>
              <a:rPr lang="en-US" sz="1600" dirty="0">
                <a:solidFill>
                  <a:srgbClr val="3D3D3B"/>
                </a:solidFill>
              </a:rPr>
              <a:t>  —  retards, incidents et encours, au format du fichier de mise à jour.</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05</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Confirmer le pilote en mode fantôme</a:t>
            </a:r>
            <a:r>
              <a:rPr lang="en-US" sz="1600" dirty="0">
                <a:solidFill>
                  <a:srgbClr val="3D3D3B"/>
                </a:solidFill>
              </a:rPr>
              <a:t>  —  renotation mensuelle et collecte, avant tout usage décisionnel.</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MERCI</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Questions et échanges — simulateur Excel et guide utilisateur remis avec la présentation</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theme/theme1.xml><?xml version="1.0" encoding="utf-8"?>
<a:theme xmlns:a="http://schemas.openxmlformats.org/drawingml/2006/main" name="Groupe BCP">
  <a:themeElements>
    <a:clrScheme name="Groupe BCP">
      <a:dk1>
        <a:srgbClr val="3D3D3B"/>
      </a:dk1>
      <a:lt1>
        <a:srgbClr val="FFFFFF"/>
      </a:lt1>
      <a:dk2>
        <a:srgbClr val="462016"/>
      </a:dk2>
      <a:lt2>
        <a:srgbClr val="F2E8DB"/>
      </a:lt2>
      <a:accent1>
        <a:srgbClr val="E37B05"/>
      </a:accent1>
      <a:accent2>
        <a:srgbClr val="ED6D19"/>
      </a:accent2>
      <a:accent3>
        <a:srgbClr val="E12E16"/>
      </a:accent3>
      <a:accent4>
        <a:srgbClr val="8C5B52"/>
      </a:accent4>
      <a:accent5>
        <a:srgbClr val="C9560C"/>
      </a:accent5>
      <a:accent6>
        <a:srgbClr val="B3B2B2"/>
      </a:accent6>
      <a:hlink>
        <a:srgbClr val="C9560C"/>
      </a:hlink>
      <a:folHlink>
        <a:srgbClr val="8C5B52"/>
      </a:folHlink>
    </a:clrScheme>
    <a:fontScheme name="Groupe BC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SGES — Présentation au management</dc:title>
  <dc:subject>PptxGenJS Presentation</dc:subject>
  <dc:creator>Projet SGES</dc:creator>
  <cp:lastModifiedBy>Projet SGES</cp:lastModifiedBy>
  <cp:revision>1</cp:revision>
  <dcterms:created xsi:type="dcterms:W3CDTF">2026-10-26T16:52:09Z</dcterms:created>
  <dcterms:modified xsi:type="dcterms:W3CDTF">2026-10-26T16:52:09Z</dcterms:modified>
</cp:coreProperties>
</file>