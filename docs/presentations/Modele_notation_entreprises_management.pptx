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6"/>
    <p:sldId id="265" r:id="rId11"/>
    <p:sldId id="259" r:id="rId5"/>
    <p:sldId id="266" r:id="rId12"/>
    <p:sldId id="271" r:id="rId22"/>
    <p:sldId id="269" r:id="rId20"/>
    <p:sldId id="268" r:id="rId19"/>
    <p:sldId id="270" r:id="rId21"/>
    <p:sldId id="273" r:id="rId24"/>
    <p:sldId id="274" r:id="rId25"/>
    <p:sldId id="272" r:id="rId23"/>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84fd844-e2f6-0d4c-002e-945d5cbcf8e5}">
          <p14:sldIdLst>
            <p14:sldId id="256"/>
            <p14:sldId id="257"/>
          </p14:sldIdLst>
        </p14:section>
        <p14:section name="Enjeux" id="{6adef724-e0ee-596f-432a-8f5d98d973d9}">
          <p14:sldIdLst>
            <p14:sldId id="258"/>
          </p14:sldIdLst>
        </p14:section>
        <p14:section name="L'outil" id="{1edfa864-818c-8daf-1c7c-c97da56cb412}">
          <p14:sldIdLst>
            <p14:sldId id="259"/>
            <p14:sldId id="260"/>
          </p14:sldIdLst>
        </p14:section>
        <p14:section name="Pilotage" id="{d25cff36-180e-681e-dbc0-d44027c1fb15}">
          <p14:sldIdLst>
            <p14:sldId id="261"/>
            <p14:sldId id="262"/>
            <p14:sldId id="263"/>
            <p14:sldId id="264"/>
          </p14:sldIdLst>
        </p14:section>
        <p14:section name="Fiabilité et suite" id="{d172d8ed-f1cc-4767-6ac6-5daf44896569}">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6.xml"/><Relationship Id="rId6"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15.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0.xml"/><Relationship Id="rId20" Type="http://schemas.openxmlformats.org/officeDocument/2006/relationships/slide" Target="slides/slide9.xml"/><Relationship Id="rId21" Type="http://schemas.openxmlformats.org/officeDocument/2006/relationships/slide" Target="slides/slide11.xml"/><Relationship Id="rId22" Type="http://schemas.openxmlformats.org/officeDocument/2006/relationships/slide" Target="slides/slide8.xml"/><Relationship Id="rId23" Type="http://schemas.openxmlformats.org/officeDocument/2006/relationships/slide" Target="slides/slide14.xml"/><Relationship Id="rId24" Type="http://schemas.openxmlformats.org/officeDocument/2006/relationships/slide" Target="slides/slide12.xml"/><Relationship Id="rId25"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Présentation d'environ 25 minutes, centrée sur le modèle de notation lui-même : sa logique, son workflow, ses garde-fous, ses limites actuelles et les décisions attendues. L'outil informatique n'est pas présenté ici.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principal : la note n'est plus une appréciation individuelle mais le résultat d'une méthode commune. Deux modèles : le modèle standard (45 critères) pour les entreprises qui produisent des états financiers, et le modèle comportemental (24 critères) pour les TPE, fondé sur le fonctionnement du compte. Chaque modèle a sa propre échelle : 8 grades pour le standard, 6 pour le comportemental, plus 3 grades de défaut communs. Le calcul suit 13 étapes dans un ordre fixe, couvert par des tests automatisés.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Trois bénéfices. 1) Homogénéité : deux analystes face au même dossier doivent aboutir à la même note ; la grille, les poids et les définitions de ratios sont communs. 2) Maîtrise du risque : un défaut constaté impose toujours un grade de défaut ; quatre situations graves plafonnent le grade ; sans données suffisantes, le modèle refuse de produire un grade plutôt que d'en produire un faux. 3) Gouvernance : chaque notation est enregistrée avec ses entrées, la version du modèle et l'explication, ce qui permet de la rejouer à l'identique devant l'audit ou le régulateur.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cœur de la présentation. L'analyste n'attribue pas la note : il fournit des données qualifiées et des appréciations ancrées sur des repères écrits. Le moteur applique ensuite les étapes 3 à 9 toujours dans le même ordre, ce qui garantit qu'un même dossier donne toujours la même note. La dernière étape est humaine : revue et, si besoin, dérogation encadrée. Les deux diapositives suivantes détaillent chaque étape.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Seuils de segmentation actuels (provisoires, à confirmer sur les textes Bank Al-Maghrib) : TPE jusqu'à 10 M MAD de chiffre d'affaires, GE au-delà de 175 M MAD ; une TPE dont l'exposition globale dépasse 2 M MAD est traitée comme PME ; le chiffre d'affaires du groupe prime. Si un segment déclaré diffère du segment calculé, l'écart est signalé. Les deux échelles (STD et TPE-B) ne se comparent pas directement : sur données simulées, le meilleur grade comportemental porte une probabilité de défaut trois fois plus élevée que le meilleur grade standard.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note est accompagnée de droits d'usage explicites. Tant que le modèle n'est ni calibré ni validé de façon indépendante, il sert au pilote en mode fantôme (notation en parallèle du processus actuel) et à l'aide au jugement. Les quatre autres finalités (conformité, décision de crédit, classification Bank Al-Maghrib, IFRS 9) portent chacune leur propre statut : la note de risque ne les remplace pas.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garde-fous sont dans le moteur, testés automatiquement, et ne dépendent pas de la discipline des utilisateurs. Le dernier point est une limite connue (décision D-32 du journal) : une donnée absente vaut 25 sur 100 ; pour un critère qui vaudrait réellement 0, déclarer la donnée manquante améliore le score. La décision sur le niveau de ce score prudent revient à la banque, idéalement lors de la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grade traduit un score par des bornes fixes. Il est accompagné d'une classe de confiance (A, B, C) qui décrit la solidité de l'estimation mais ne modifie jamais le grade. La probabilité de défaut associée à chaque grade n'est pas affichée : la calibration actuelle repose sur des données simulées et ne vaut que pour vérifier la chaîne de calcul.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6 à 10. La porte de qualité évite de produire une note sur un dossier trop pauvre : 60 % du poids doit reposer sur des données observées pour le modèle standard (70 % pour le comportemental). À poids constant, une donnée absente n'est pas retirée du calcul : elle reçoit un score prudent. Les exceptions s'appliquent après le grade : elles plafonnent, elles ne modifient pas le score. Le support groupe exige capacité du garant, volonté démontrée, engagement juridique et transférabilité des fonds. Une dérogation ne réécrit jamais le résultat du moteur : elle est un objet distinct, à double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poids s'adaptent à ce qui est le plus prédictif selon la taille : pour une TPE, les états financiers sont moins fiables et le comportement du compte plus parlant ; pour une grande entreprise, la capacité à servir la dette et la résistance au stress dominent. Deux données sont critiques et bloquent la notation si elles manquent : fonds propres tangibles sur bilan et dette nette sur EBE, ainsi que les retards de paiement. Les ratios suivent une définition unique alignée sur le plan comptable marocain (CGNC).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Étapes 1 à 5. Point important : la date d'arrêté fait foi ; on ne corrige jamais une note passée, on en produit une nouvelle. La qualité de la donnée est explicite : une donnée estimée ou périmée n'est pas traitée comme une donnée observée. Les 18 signaux d'alerte (identité non vérifiable, fraude, procédure collective, retards, covenants rompus…) ne sont jamais moyennés avec le reste. Enfin, le défaut est un constat et non une estimation : il s'impose même si le dossier est incomplet.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slide est important pour un management : le modèle est robuste dans sa construction, mais ses paramètres sont des propositions d'experts. Il ne doit pas être présenté comme un modèle validé. Les trois chantiers sont la calibration sur données réelles, la confirmation des seuils réglementaires et l'alimentation du référentiel sectoriel. Tant qu'ils ne sont pas menés, l'usage reste le pilote en mode fantôme.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est déjà largement portable : ses grilles sont des ratios, sans montant en dirhams. Ce qui est marocain tient dans cinq référentiels : segmentation, plan comptable, secteurs, définition du défaut, identifiants. La proposition est de les isoler dans un paquet par pays ou zone. L'UEMOA partage un régulateur, une monnaie et le plan comptable SYSCOHADA : un seul paquet couvre huit pays. Nouveauté majeure à décider : un plafond pays, indispensable dans les pays à risque souverain élevé.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décisions pour avancer. Les deux premières conditionnent la crédibilité du pilote au Maroc. La troisième conditionne tout usage décisionnel futur : sans historique de défauts, pas de calibration. Les deux dernières préparent le déploiement dans les filiales africaines.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NTERCALAIRE-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FFFFFF"/>
        </a:solidFill>
      </p:bgPr>
    </p:bg>
    <p:spTree>
      <p:nvGrpSpPr>
        <p:cNvPr id="1" name=""/>
        <p:cNvGrpSpPr/>
        <p:nvPr/>
      </p:nvGrpSpPr>
      <p:grpSpPr>
        <a:xfrm>
          <a:off x="0" y="0"/>
          <a:ext cx="0" cy="0"/>
          <a:chOff x="0" y="0"/>
          <a:chExt cx="0" cy="0"/>
        </a:xfrm>
      </p:grpSpPr>
      <p:pic>
        <p:nvPicPr>
          <p:cNvPr id="2" name="Image 0" descr="/tmp/claude-0/pdfbcp/assets/fond.png">    </p:cNvPr>
          <p:cNvPicPr>
            <a:picLocks noChangeAspect="1"/>
          </p:cNvPicPr>
          <p:nvPr/>
        </p:nvPicPr>
        <p:blipFill>
          <a:blip r:embed="rId1"/>
          <a:stretch>
            <a:fillRect/>
          </a:stretch>
        </p:blipFill>
        <p:spPr>
          <a:xfrm>
            <a:off x="0" y="1417320"/>
            <a:ext cx="12191695" cy="5440680"/>
          </a:xfrm>
          <a:prstGeom prst="rect">
            <a:avLst/>
          </a:prstGeom>
        </p:spPr>
      </p:pic>
      <p:pic>
        <p:nvPicPr>
          <p:cNvPr id="3" name="Image 1" descr="/tmp/claude-0/pdfbcp/assets/logo.png">    </p:cNvPr>
          <p:cNvPicPr>
            <a:picLocks noChangeAspect="1"/>
          </p:cNvPicPr>
          <p:nvPr/>
        </p:nvPicPr>
        <p:blipFill>
          <a:blip r:embed="rId2"/>
          <a:stretch>
            <a:fillRect/>
          </a:stretch>
        </p:blipFill>
        <p:spPr>
          <a:xfrm>
            <a:off x="5074920" y="164592"/>
            <a:ext cx="2039112" cy="1060704"/>
          </a:xfrm>
          <a:prstGeom prst="rect">
            <a:avLst/>
          </a:prstGeom>
        </p:spPr>
      </p:pic>
      <p:pic>
        <p:nvPicPr>
          <p:cNvPr id="4" name="Image 2" descr="/tmp/claude-0/pdfbcp/assets/motif.png">    </p:cNvPr>
          <p:cNvPicPr>
            <a:picLocks noChangeAspect="1"/>
          </p:cNvPicPr>
          <p:nvPr/>
        </p:nvPicPr>
        <p:blipFill>
          <a:blip r:embed="rId3"/>
          <a:stretch>
            <a:fillRect/>
          </a:stretch>
        </p:blipFill>
        <p:spPr>
          <a:xfrm>
            <a:off x="9646920" y="1691640"/>
            <a:ext cx="1828800" cy="2706624"/>
          </a:xfrm>
          <a:prstGeom prst="rect">
            <a:avLst/>
          </a:prstGeom>
        </p:spPr>
      </p:pic>
      <p:pic>
        <p:nvPicPr>
          <p:cNvPr id="5" name="Image 3" descr="/tmp/claude-0/pdfbcp/assets/motif2.png">    </p:cNvPr>
          <p:cNvPicPr>
            <a:picLocks noChangeAspect="1"/>
          </p:cNvPicPr>
          <p:nvPr/>
        </p:nvPicPr>
        <p:blipFill>
          <a:blip r:embed="rId4"/>
          <a:stretch>
            <a:fillRect/>
          </a:stretch>
        </p:blipFill>
        <p:spPr>
          <a:xfrm>
            <a:off x="9646920" y="4526280"/>
            <a:ext cx="1828800" cy="2103120"/>
          </a:xfrm>
          <a:prstGeom prst="rect">
            <a:avLst/>
          </a:prstGeom>
        </p:spPr>
      </p:pic>
      <p:sp>
        <p:nvSpPr>
          <p:cNvPr id="6" name="Text 0"/>
          <p:cNvSpPr/>
          <p:nvPr>
            <p:ph idx="104" type="title" hasCustomPrompt="1"/>
          </p:nvPr>
        </p:nvSpPr>
        <p:spPr>
          <a:xfrm>
            <a:off x="731520" y="2240280"/>
            <a:ext cx="7863840" cy="20116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7" name="Text 0"/>
          <p:cNvSpPr/>
          <p:nvPr>
            <p:ph idx="105" type="body" hasCustomPrompt="1"/>
          </p:nvPr>
        </p:nvSpPr>
        <p:spPr>
          <a:xfrm>
            <a:off x="731520" y="4434840"/>
            <a:ext cx="7863840" cy="128016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pdfbcp/assets/logo_blanc.png">    </p:cNvPr>
          <p:cNvPicPr>
            <a:picLocks noChangeAspect="1"/>
          </p:cNvPicPr>
          <p:nvPr/>
        </p:nvPicPr>
        <p:blipFill>
          <a:blip r:embed="rId1"/>
          <a:stretch>
            <a:fillRect/>
          </a:stretch>
        </p:blipFill>
        <p:spPr>
          <a:xfrm>
            <a:off x="548640" y="411480"/>
            <a:ext cx="1371600" cy="713232"/>
          </a:xfrm>
          <a:prstGeom prst="rect">
            <a:avLst/>
          </a:prstGeom>
        </p:spPr>
      </p:pic>
      <p:pic>
        <p:nvPicPr>
          <p:cNvPr id="3" name="Image 1" descr="/tmp/claude-0/pdfbcp/assets/motif.png">    </p:cNvPr>
          <p:cNvPicPr>
            <a:picLocks noChangeAspect="1"/>
          </p:cNvPicPr>
          <p:nvPr/>
        </p:nvPicPr>
        <p:blipFill>
          <a:blip r:embed="rId2"/>
          <a:stretch>
            <a:fillRect/>
          </a:stretch>
        </p:blipFill>
        <p:spPr>
          <a:xfrm>
            <a:off x="9692640" y="502920"/>
            <a:ext cx="1920240" cy="2834640"/>
          </a:xfrm>
          <a:prstGeom prst="rect">
            <a:avLst/>
          </a:prstGeom>
        </p:spPr>
      </p:pic>
      <p:sp>
        <p:nvSpPr>
          <p:cNvPr id="4" name="Text 0"/>
          <p:cNvSpPr/>
          <p:nvPr>
            <p:ph idx="102" type="body" hasCustomPrompt="1"/>
          </p:nvPr>
        </p:nvSpPr>
        <p:spPr>
          <a:xfrm>
            <a:off x="731520" y="2103120"/>
            <a:ext cx="2743200" cy="109728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5" name="Text 0"/>
          <p:cNvSpPr/>
          <p:nvPr>
            <p:ph idx="103" type="title" hasCustomPrompt="1"/>
          </p:nvPr>
        </p:nvSpPr>
        <p:spPr>
          <a:xfrm>
            <a:off x="731520" y="3200400"/>
            <a:ext cx="8595360" cy="13716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6" name="Text 0"/>
          <p:cNvSpPr/>
          <p:nvPr>
            <p:ph idx="104" type="body" hasCustomPrompt="1"/>
          </p:nvPr>
        </p:nvSpPr>
        <p:spPr>
          <a:xfrm>
            <a:off x="731520" y="4617720"/>
            <a:ext cx="8595360" cy="109728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pic>
        <p:nvPicPr>
          <p:cNvPr id="2" name="Image 0" descr="/tmp/claude-0/pdfbcp/assets/bandeau.png">    </p:cNvPr>
          <p:cNvPicPr>
            <a:picLocks noChangeAspect="1"/>
          </p:cNvPicPr>
          <p:nvPr/>
        </p:nvPicPr>
        <p:blipFill>
          <a:blip r:embed="rId1"/>
          <a:stretch>
            <a:fillRect/>
          </a:stretch>
        </p:blipFill>
        <p:spPr>
          <a:xfrm>
            <a:off x="411480" y="274320"/>
            <a:ext cx="11365992" cy="713232"/>
          </a:xfrm>
          <a:prstGeom prst="rect">
            <a:avLst/>
          </a:prstGeom>
        </p:spPr>
      </p:pic>
      <p:pic>
        <p:nvPicPr>
          <p:cNvPr id="3" name="Image 1" descr="/tmp/claude-0/pdfbcp/assets/logo_blanc.png">    </p:cNvPr>
          <p:cNvPicPr>
            <a:picLocks noChangeAspect="1"/>
          </p:cNvPicPr>
          <p:nvPr/>
        </p:nvPicPr>
        <p:blipFill>
          <a:blip r:embed="rId2"/>
          <a:stretch>
            <a:fillRect/>
          </a:stretch>
        </p:blipFill>
        <p:spPr>
          <a:xfrm>
            <a:off x="10744200" y="329184"/>
            <a:ext cx="914400" cy="475488"/>
          </a:xfrm>
          <a:prstGeom prst="rect">
            <a:avLst/>
          </a:prstGeom>
        </p:spPr>
      </p:pic>
      <p:sp>
        <p:nvSpPr>
          <p:cNvPr id="4" name="Text 0"/>
          <p:cNvSpPr/>
          <p:nvPr>
            <p:ph idx="102" type="title" hasCustomPrompt="1"/>
          </p:nvPr>
        </p:nvSpPr>
        <p:spPr>
          <a:xfrm>
            <a:off x="594360" y="274320"/>
            <a:ext cx="9966960" cy="713232"/>
          </a:xfrm>
          <a:prstGeom prst="rect">
            <a:avLst/>
          </a:prstGeom>
          <a:noFill/>
          <a:ln/>
        </p:spPr>
        <p:txBody>
          <a:bodyPr wrap="square" rtlCol="0"/>
          <a:lstStyle>
            <a:lvl1pPr indent="0" marL="0">
              <a:buNone/>
              <a:defRPr lang="en-US" sz="2400" b="1" dirty="0">
                <a:solidFill>
                  <a:schemeClr val="bg1"/>
                </a:solidFill>
                <a:latin typeface="Arial" pitchFamily="34" charset="0"/>
                <a:ea typeface="Arial" pitchFamily="34" charset="-122"/>
                <a:cs typeface="Arial" pitchFamily="34" charset="-120"/>
              </a:defRPr>
            </a:lvl1pPr>
          </a:lstStyle>
          <a:p>
            <a:pPr indent="0" marL="0">
              <a:buNone/>
            </a:pPr>
            <a:endParaRPr lang="en-US" sz="2400" dirty="0"/>
          </a:p>
        </p:txBody>
      </p:sp>
      <p:sp>
        <p:nvSpPr>
          <p:cNvPr id="5" name="Text 0"/>
          <p:cNvSpPr/>
          <p:nvPr/>
        </p:nvSpPr>
        <p:spPr>
          <a:xfrm>
            <a:off x="411480" y="6446520"/>
            <a:ext cx="8229600" cy="274320"/>
          </a:xfrm>
          <a:prstGeom prst="rect">
            <a:avLst/>
          </a:prstGeom>
          <a:noFill/>
          <a:ln/>
        </p:spPr>
        <p:txBody>
          <a:bodyPr wrap="square" rtlCol="0" anchor="ctr"/>
          <a:lstStyle/>
          <a:p>
            <a:pPr indent="0" marL="0">
              <a:buNone/>
            </a:pPr>
            <a:r>
              <a:rPr lang="en-US" sz="1000" dirty="0">
                <a:solidFill>
                  <a:schemeClr val="accent4"/>
                </a:solidFill>
                <a:latin typeface="Arial" pitchFamily="34" charset="0"/>
                <a:ea typeface="Arial" pitchFamily="34" charset="-122"/>
                <a:cs typeface="Arial" pitchFamily="34" charset="-120"/>
              </a:rPr>
              <a:t>Modèle de notation interne des entreprises — TPE, PME et grandes entreprises</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5-3.png"/></Relationships>
</file>

<file path=ppt/slides/_rels/slide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image" Target="../media/image-3-1.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4" type="title" hasCustomPrompt="1"/>
          </p:nvPr>
        </p:nvSpPr>
        <p:spPr>
          <a:xfrm>
            <a:off x="731520" y="2240280"/>
            <a:ext cx="7863840" cy="2011680"/>
          </a:xfrm>
          <a:prstGeom prst="rect">
            <a:avLst/>
          </a:prstGeom>
          <a:noFill/>
          <a:ln/>
        </p:spPr>
        <p:txBody>
          <a:bodyPr wrap="square" rtlCol="0" anchor="b"/>
          <a:lstStyle/>
          <a:p>
            <a:pPr algn="l" indent="0" marL="0">
              <a:buNone/>
            </a:pPr>
            <a:r>
              <a:rPr lang="en-US" sz="5400" b="1" dirty="0">
                <a:solidFill>
                  <a:schemeClr val="bg1"/>
                </a:solidFill>
                <a:latin typeface="Arial" pitchFamily="34" charset="0"/>
                <a:ea typeface="Arial" pitchFamily="34" charset="-122"/>
                <a:cs typeface="Arial" pitchFamily="34" charset="-120"/>
              </a:rPr>
              <a:t>MODÈLE DE NOTATION</a:t>
            </a:r>
            <a:endParaRPr lang="en-US" sz="4000" dirty="0"/>
          </a:p>
          <a:p>
            <a:pPr algn="l" indent="0" marL="0">
              <a:buNone/>
            </a:pPr>
            <a:r>
              <a:rPr lang="en-US" sz="3000" b="1" dirty="0">
                <a:solidFill>
                  <a:schemeClr val="bg1"/>
                </a:solidFill>
                <a:latin typeface="Arial" pitchFamily="34" charset="0"/>
                <a:ea typeface="Arial" pitchFamily="34" charset="-122"/>
                <a:cs typeface="Arial" pitchFamily="34" charset="-120"/>
              </a:rPr>
              <a:t>PRÉSENTATION AU MANAGEMENT</a:t>
            </a:r>
            <a:endParaRPr lang="en-US" sz="4000" dirty="0"/>
          </a:p>
        </p:txBody>
      </p:sp>
      <p:sp>
        <p:nvSpPr>
          <p:cNvPr id="3" name="Text 0"/>
          <p:cNvSpPr/>
          <p:nvPr>
            <p:ph idx="105" type="body" hasCustomPrompt="1"/>
          </p:nvPr>
        </p:nvSpPr>
        <p:spPr>
          <a:xfrm>
            <a:off x="731520" y="4434840"/>
            <a:ext cx="7863840" cy="128016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Notation interne des entreprises — TPE, PME et grandes entreprises — modèle V3,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L'ESSENTIEL</a:t>
            </a:r>
            <a:endParaRPr lang="en-US" sz="2400" dirty="0"/>
          </a:p>
        </p:txBody>
      </p:sp>
      <p:sp>
        <p:nvSpPr>
          <p:cNvPr id="4" name="Text 1"/>
          <p:cNvSpPr txBox="1"/>
          <p:nvPr/>
        </p:nvSpPr>
        <p:spPr>
          <a:xfrm>
            <a:off x="457200" y="1188720"/>
            <a:ext cx="11320272" cy="731520"/>
          </a:xfrm>
          <a:prstGeom prst="rect">
            <a:avLst/>
          </a:prstGeom>
          <a:noFill/>
          <a:ln/>
        </p:spPr>
        <p:txBody>
          <a:bodyPr wrap="square" lIns="0" tIns="0" rIns="0" bIns="0" rtlCol="0" anchor="ctr"/>
          <a:lstStyle/>
          <a:p>
            <a:pPr indent="0" marL="0">
              <a:buNone/>
            </a:pPr>
            <a:r>
              <a:rPr lang="en-US" sz="2200" b="1" dirty="0">
                <a:solidFill>
                  <a:srgbClr val="462016"/>
                </a:solidFill>
              </a:rPr>
              <a:t>Chaque entreprise est notée selon une méthode unique, explicable et rejouable : le grade se justifie critère par critère.</a:t>
            </a:r>
            <a:endParaRPr lang="en-US" sz="2200" dirty="0"/>
          </a:p>
        </p:txBody>
      </p:sp>
      <p:sp>
        <p:nvSpPr>
          <p:cNvPr id="5" name="chiffre-0"/>
          <p:cNvSpPr/>
          <p:nvPr/>
        </p:nvSpPr>
        <p:spPr>
          <a:xfrm>
            <a:off x="457200" y="2194560"/>
            <a:ext cx="2670048" cy="3017520"/>
          </a:xfrm>
          <a:prstGeom prst="roundRect">
            <a:avLst>
              <a:gd name="adj" fmla="val 3425"/>
            </a:avLst>
          </a:prstGeom>
          <a:solidFill>
            <a:srgbClr val="F2E8DB"/>
          </a:solidFill>
          <a:ln/>
        </p:spPr>
      </p:sp>
      <p:sp>
        <p:nvSpPr>
          <p:cNvPr id="6" name="Text 3"/>
          <p:cNvSpPr txBox="1"/>
          <p:nvPr/>
        </p:nvSpPr>
        <p:spPr>
          <a:xfrm>
            <a:off x="685800"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2</a:t>
            </a:r>
            <a:endParaRPr lang="en-US" sz="6600" dirty="0"/>
          </a:p>
        </p:txBody>
      </p:sp>
      <p:sp>
        <p:nvSpPr>
          <p:cNvPr id="7" name="Text 4"/>
          <p:cNvSpPr txBox="1"/>
          <p:nvPr/>
        </p:nvSpPr>
        <p:spPr>
          <a:xfrm>
            <a:off x="685800"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MODÈLES</a:t>
            </a:r>
            <a:endParaRPr lang="en-US" sz="1800" dirty="0"/>
          </a:p>
        </p:txBody>
      </p:sp>
      <p:sp>
        <p:nvSpPr>
          <p:cNvPr id="8" name="Text 5"/>
          <p:cNvSpPr txBox="1"/>
          <p:nvPr/>
        </p:nvSpPr>
        <p:spPr>
          <a:xfrm>
            <a:off x="685800"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standard pour TPE, PME et GE sur états financiers ; comportemental pour les TPE, sur les flux du compte</a:t>
            </a:r>
            <a:endParaRPr lang="en-US" sz="1400" dirty="0"/>
          </a:p>
        </p:txBody>
      </p:sp>
      <p:sp>
        <p:nvSpPr>
          <p:cNvPr id="9" name="chiffre-1"/>
          <p:cNvSpPr/>
          <p:nvPr/>
        </p:nvSpPr>
        <p:spPr>
          <a:xfrm>
            <a:off x="3319272" y="2194560"/>
            <a:ext cx="2670048" cy="3017520"/>
          </a:xfrm>
          <a:prstGeom prst="roundRect">
            <a:avLst>
              <a:gd name="adj" fmla="val 3425"/>
            </a:avLst>
          </a:prstGeom>
          <a:solidFill>
            <a:srgbClr val="FBF6F0"/>
          </a:solidFill>
          <a:ln/>
        </p:spPr>
      </p:sp>
      <p:sp>
        <p:nvSpPr>
          <p:cNvPr id="10" name="Text 7"/>
          <p:cNvSpPr txBox="1"/>
          <p:nvPr/>
        </p:nvSpPr>
        <p:spPr>
          <a:xfrm>
            <a:off x="3547872"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45</a:t>
            </a:r>
            <a:endParaRPr lang="en-US" sz="6600" dirty="0"/>
          </a:p>
        </p:txBody>
      </p:sp>
      <p:sp>
        <p:nvSpPr>
          <p:cNvPr id="11" name="Text 8"/>
          <p:cNvSpPr txBox="1"/>
          <p:nvPr/>
        </p:nvSpPr>
        <p:spPr>
          <a:xfrm>
            <a:off x="3547872"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CRITÈRES</a:t>
            </a:r>
            <a:endParaRPr lang="en-US" sz="1800" dirty="0"/>
          </a:p>
        </p:txBody>
      </p:sp>
      <p:sp>
        <p:nvSpPr>
          <p:cNvPr id="12" name="Text 9"/>
          <p:cNvSpPr txBox="1"/>
          <p:nvPr/>
        </p:nvSpPr>
        <p:spPr>
          <a:xfrm>
            <a:off x="3547872"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répartis en 7 domaines, pondérés selon la taille de l'entreprise</a:t>
            </a:r>
            <a:endParaRPr lang="en-US" sz="1400" dirty="0"/>
          </a:p>
        </p:txBody>
      </p:sp>
      <p:sp>
        <p:nvSpPr>
          <p:cNvPr id="13" name="chiffre-2"/>
          <p:cNvSpPr/>
          <p:nvPr/>
        </p:nvSpPr>
        <p:spPr>
          <a:xfrm>
            <a:off x="6181344" y="2194560"/>
            <a:ext cx="2670048" cy="3017520"/>
          </a:xfrm>
          <a:prstGeom prst="roundRect">
            <a:avLst>
              <a:gd name="adj" fmla="val 3425"/>
            </a:avLst>
          </a:prstGeom>
          <a:solidFill>
            <a:srgbClr val="F2E8DB"/>
          </a:solidFill>
          <a:ln/>
        </p:spPr>
      </p:sp>
      <p:sp>
        <p:nvSpPr>
          <p:cNvPr id="14" name="Text 11"/>
          <p:cNvSpPr txBox="1"/>
          <p:nvPr/>
        </p:nvSpPr>
        <p:spPr>
          <a:xfrm>
            <a:off x="6409944"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8</a:t>
            </a:r>
            <a:endParaRPr lang="en-US" sz="6600" dirty="0"/>
          </a:p>
        </p:txBody>
      </p:sp>
      <p:sp>
        <p:nvSpPr>
          <p:cNvPr id="15" name="Text 12"/>
          <p:cNvSpPr txBox="1"/>
          <p:nvPr/>
        </p:nvSpPr>
        <p:spPr>
          <a:xfrm>
            <a:off x="6409944"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GRADES</a:t>
            </a:r>
            <a:endParaRPr lang="en-US" sz="1800" dirty="0"/>
          </a:p>
        </p:txBody>
      </p:sp>
      <p:sp>
        <p:nvSpPr>
          <p:cNvPr id="16" name="Text 13"/>
          <p:cNvSpPr txBox="1"/>
          <p:nvPr/>
        </p:nvSpPr>
        <p:spPr>
          <a:xfrm>
            <a:off x="6409944"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de STD-P1 (très solide) à STD-P8 (très faible), plus 3 grades de défaut constaté</a:t>
            </a:r>
            <a:endParaRPr lang="en-US" sz="1400" dirty="0"/>
          </a:p>
        </p:txBody>
      </p:sp>
      <p:sp>
        <p:nvSpPr>
          <p:cNvPr id="17" name="chiffre-3"/>
          <p:cNvSpPr/>
          <p:nvPr/>
        </p:nvSpPr>
        <p:spPr>
          <a:xfrm>
            <a:off x="9043416" y="2194560"/>
            <a:ext cx="2670048" cy="3017520"/>
          </a:xfrm>
          <a:prstGeom prst="roundRect">
            <a:avLst>
              <a:gd name="adj" fmla="val 3425"/>
            </a:avLst>
          </a:prstGeom>
          <a:solidFill>
            <a:srgbClr val="FBF6F0"/>
          </a:solidFill>
          <a:ln/>
        </p:spPr>
      </p:sp>
      <p:sp>
        <p:nvSpPr>
          <p:cNvPr id="18" name="Text 15"/>
          <p:cNvSpPr txBox="1"/>
          <p:nvPr/>
        </p:nvSpPr>
        <p:spPr>
          <a:xfrm>
            <a:off x="9272016" y="2377440"/>
            <a:ext cx="2194560" cy="1143000"/>
          </a:xfrm>
          <a:prstGeom prst="rect">
            <a:avLst/>
          </a:prstGeom>
          <a:noFill/>
          <a:ln/>
        </p:spPr>
        <p:txBody>
          <a:bodyPr wrap="square" lIns="0" tIns="0" rIns="0" bIns="0" rtlCol="0" anchor="ctr"/>
          <a:lstStyle/>
          <a:p>
            <a:pPr indent="0" marL="0">
              <a:buNone/>
            </a:pPr>
            <a:r>
              <a:rPr lang="en-US" sz="6600" b="1" dirty="0">
                <a:solidFill>
                  <a:srgbClr val="E37B05"/>
                </a:solidFill>
              </a:rPr>
              <a:t>13</a:t>
            </a:r>
            <a:endParaRPr lang="en-US" sz="6600" dirty="0"/>
          </a:p>
        </p:txBody>
      </p:sp>
      <p:sp>
        <p:nvSpPr>
          <p:cNvPr id="19" name="Text 16"/>
          <p:cNvSpPr txBox="1"/>
          <p:nvPr/>
        </p:nvSpPr>
        <p:spPr>
          <a:xfrm>
            <a:off x="9272016" y="3520440"/>
            <a:ext cx="2194560" cy="457200"/>
          </a:xfrm>
          <a:prstGeom prst="rect">
            <a:avLst/>
          </a:prstGeom>
          <a:noFill/>
          <a:ln/>
        </p:spPr>
        <p:txBody>
          <a:bodyPr wrap="square" lIns="0" tIns="0" rIns="0" bIns="0" rtlCol="0" anchor="ctr"/>
          <a:lstStyle/>
          <a:p>
            <a:pPr indent="0" marL="0">
              <a:buNone/>
            </a:pPr>
            <a:r>
              <a:rPr lang="en-US" sz="1800" b="1" dirty="0">
                <a:solidFill>
                  <a:srgbClr val="462016"/>
                </a:solidFill>
              </a:rPr>
              <a:t>ÉTAPES</a:t>
            </a:r>
            <a:endParaRPr lang="en-US" sz="1800" dirty="0"/>
          </a:p>
        </p:txBody>
      </p:sp>
      <p:sp>
        <p:nvSpPr>
          <p:cNvPr id="20" name="Text 17"/>
          <p:cNvSpPr txBox="1"/>
          <p:nvPr/>
        </p:nvSpPr>
        <p:spPr>
          <a:xfrm>
            <a:off x="9272016" y="4023360"/>
            <a:ext cx="2240280" cy="1554480"/>
          </a:xfrm>
          <a:prstGeom prst="rect">
            <a:avLst/>
          </a:prstGeom>
          <a:noFill/>
          <a:ln/>
        </p:spPr>
        <p:txBody>
          <a:bodyPr wrap="square" lIns="0" tIns="0" rIns="0" bIns="0" rtlCol="0" anchor="t"/>
          <a:lstStyle/>
          <a:p>
            <a:pPr indent="0" marL="0">
              <a:buNone/>
            </a:pPr>
            <a:r>
              <a:rPr lang="en-US" sz="1400" dirty="0">
                <a:solidFill>
                  <a:srgbClr val="3D3D3B"/>
                </a:solidFill>
              </a:rPr>
              <a:t>de calcul dans un ordre fixe et testé, de l'identification à l'enregistrement</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POURQUOI CE MODÈLE</a:t>
            </a:r>
            <a:endParaRPr lang="en-US" sz="2400" dirty="0"/>
          </a:p>
        </p:txBody>
      </p:sp>
      <p:sp>
        <p:nvSpPr>
          <p:cNvPr id="4" name="pourquoi-0"/>
          <p:cNvSpPr/>
          <p:nvPr/>
        </p:nvSpPr>
        <p:spPr>
          <a:xfrm>
            <a:off x="457200"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5" name="rond-icone"/>
          <p:cNvSpPr/>
          <p:nvPr/>
        </p:nvSpPr>
        <p:spPr>
          <a:xfrm>
            <a:off x="731520" y="1554480"/>
            <a:ext cx="822960" cy="822960"/>
          </a:xfrm>
          <a:prstGeom prst="ellipse">
            <a:avLst/>
          </a:prstGeom>
          <a:solidFill>
            <a:srgbClr val="E37B05"/>
          </a:solidFill>
          <a:ln/>
        </p:spPr>
      </p:sp>
      <p:pic>
        <p:nvPicPr>
          <p:cNvPr id="26" name="icone" descr="ic-MdBalance.png"/>
          <p:cNvPicPr>
            <a:picLocks noChangeAspect="1"/>
          </p:cNvPicPr>
          <p:nvPr/>
        </p:nvPicPr>
        <p:blipFill>
          <a:blip r:embed="rId6"/>
          <a:stretch>
            <a:fillRect/>
          </a:stretch>
        </p:blipFill>
        <p:spPr>
          <a:xfrm>
            <a:off x="896112" y="1719072"/>
            <a:ext cx="493776" cy="493776"/>
          </a:xfrm>
          <a:prstGeom prst="rect">
            <a:avLst/>
          </a:prstGeom>
        </p:spPr>
      </p:pic>
      <p:sp>
        <p:nvSpPr>
          <p:cNvPr id="7" name="Text 3"/>
          <p:cNvSpPr txBox="1"/>
          <p:nvPr/>
        </p:nvSpPr>
        <p:spPr>
          <a:xfrm>
            <a:off x="731520"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UNE NOTE HOMOGÈNE ET EXPLICABLE</a:t>
            </a:r>
            <a:endParaRPr lang="en-US" sz="1800" dirty="0"/>
          </a:p>
        </p:txBody>
      </p:sp>
      <p:sp>
        <p:nvSpPr>
          <p:cNvPr id="8" name="Text 4"/>
          <p:cNvSpPr txBox="1"/>
          <p:nvPr/>
        </p:nvSpPr>
        <p:spPr>
          <a:xfrm>
            <a:off x="731520"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Même grille et mêmes poids pour tous les analystes</a:t>
            </a:r>
            <a:endParaRPr lang="en-US" sz="1500" dirty="0"/>
          </a:p>
          <a:p>
            <a:pPr marL="342900" indent="-342900">
              <a:spcAft>
                <a:spcPts val="800"/>
              </a:spcAft>
              <a:buSzPct val="100000"/>
              <a:buChar char="•"/>
            </a:pPr>
            <a:r>
              <a:rPr lang="en-US" sz="1500" dirty="0">
                <a:solidFill>
                  <a:srgbClr val="3D3D3B"/>
                </a:solidFill>
              </a:rPr>
              <a:t>Chaque grade s'explique critère par critère</a:t>
            </a:r>
            <a:endParaRPr lang="en-US" sz="1500" dirty="0"/>
          </a:p>
          <a:p>
            <a:pPr marL="342900" indent="-342900">
              <a:spcAft>
                <a:spcPts val="800"/>
              </a:spcAft>
              <a:buSzPct val="100000"/>
              <a:buChar char="•"/>
            </a:pPr>
            <a:r>
              <a:rPr lang="en-US" sz="1500" dirty="0">
                <a:solidFill>
                  <a:srgbClr val="3D3D3B"/>
                </a:solidFill>
              </a:rPr>
              <a:t>Points forts et points faibles restitués</a:t>
            </a:r>
            <a:endParaRPr lang="en-US" sz="1500" dirty="0"/>
          </a:p>
        </p:txBody>
      </p:sp>
      <p:sp>
        <p:nvSpPr>
          <p:cNvPr id="9" name="pourquoi-1"/>
          <p:cNvSpPr/>
          <p:nvPr/>
        </p:nvSpPr>
        <p:spPr>
          <a:xfrm>
            <a:off x="4279392"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0" name="rond-icone"/>
          <p:cNvSpPr/>
          <p:nvPr/>
        </p:nvSpPr>
        <p:spPr>
          <a:xfrm>
            <a:off x="4553712" y="1554480"/>
            <a:ext cx="822960" cy="822960"/>
          </a:xfrm>
          <a:prstGeom prst="ellipse">
            <a:avLst/>
          </a:prstGeom>
          <a:solidFill>
            <a:srgbClr val="E37B05"/>
          </a:solidFill>
          <a:ln/>
        </p:spPr>
      </p:sp>
      <p:pic>
        <p:nvPicPr>
          <p:cNvPr id="27" name="icone" descr="ic-MdSecurity.png"/>
          <p:cNvPicPr>
            <a:picLocks noChangeAspect="1"/>
          </p:cNvPicPr>
          <p:nvPr/>
        </p:nvPicPr>
        <p:blipFill>
          <a:blip r:embed="rId7"/>
          <a:stretch>
            <a:fillRect/>
          </a:stretch>
        </p:blipFill>
        <p:spPr>
          <a:xfrm>
            <a:off x="4718304" y="1719072"/>
            <a:ext cx="493776" cy="493776"/>
          </a:xfrm>
          <a:prstGeom prst="rect">
            <a:avLst/>
          </a:prstGeom>
        </p:spPr>
      </p:pic>
      <p:sp>
        <p:nvSpPr>
          <p:cNvPr id="12" name="Text 7"/>
          <p:cNvSpPr txBox="1"/>
          <p:nvPr/>
        </p:nvSpPr>
        <p:spPr>
          <a:xfrm>
            <a:off x="4553712"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UNE MEILLEURE MAÎTRISE DU RISQUE</a:t>
            </a:r>
            <a:endParaRPr lang="en-US" sz="1800" dirty="0"/>
          </a:p>
        </p:txBody>
      </p:sp>
      <p:sp>
        <p:nvSpPr>
          <p:cNvPr id="13" name="Text 8"/>
          <p:cNvSpPr txBox="1"/>
          <p:nvPr/>
        </p:nvSpPr>
        <p:spPr>
          <a:xfrm>
            <a:off x="4553712"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Un défaut constaté n'est jamais masqué par un bon score</a:t>
            </a:r>
            <a:endParaRPr lang="en-US" sz="1500" dirty="0"/>
          </a:p>
          <a:p>
            <a:pPr marL="342900" indent="-342900">
              <a:spcAft>
                <a:spcPts val="800"/>
              </a:spcAft>
              <a:buSzPct val="100000"/>
              <a:buChar char="•"/>
            </a:pPr>
            <a:r>
              <a:rPr lang="en-US" sz="1500" dirty="0">
                <a:solidFill>
                  <a:srgbClr val="3D3D3B"/>
                </a:solidFill>
              </a:rPr>
              <a:t>Les signaux graves ne se diluent pas dans la moyenne</a:t>
            </a:r>
            <a:endParaRPr lang="en-US" sz="1500" dirty="0"/>
          </a:p>
          <a:p>
            <a:pPr marL="342900" indent="-342900">
              <a:spcAft>
                <a:spcPts val="800"/>
              </a:spcAft>
              <a:buSzPct val="100000"/>
              <a:buChar char="•"/>
            </a:pPr>
            <a:r>
              <a:rPr lang="en-US" sz="1500" dirty="0">
                <a:solidFill>
                  <a:srgbClr val="3D3D3B"/>
                </a:solidFill>
              </a:rPr>
              <a:t>Pas de grade sans données suffisantes</a:t>
            </a:r>
            <a:endParaRPr lang="en-US" sz="1500" dirty="0"/>
          </a:p>
        </p:txBody>
      </p:sp>
      <p:sp>
        <p:nvSpPr>
          <p:cNvPr id="14" name="pourquoi-2"/>
          <p:cNvSpPr/>
          <p:nvPr/>
        </p:nvSpPr>
        <p:spPr>
          <a:xfrm>
            <a:off x="8101584"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5" name="rond-icone"/>
          <p:cNvSpPr/>
          <p:nvPr/>
        </p:nvSpPr>
        <p:spPr>
          <a:xfrm>
            <a:off x="8375904" y="1554480"/>
            <a:ext cx="822960" cy="822960"/>
          </a:xfrm>
          <a:prstGeom prst="ellipse">
            <a:avLst/>
          </a:prstGeom>
          <a:solidFill>
            <a:srgbClr val="E37B05"/>
          </a:solidFill>
          <a:ln/>
        </p:spPr>
      </p:sp>
      <p:pic>
        <p:nvPicPr>
          <p:cNvPr id="28" name="icone" descr="image.png"/>
          <p:cNvPicPr>
            <a:picLocks noChangeAspect="1"/>
          </p:cNvPicPr>
          <p:nvPr/>
        </p:nvPicPr>
        <p:blipFill>
          <a:blip r:embed="rId8"/>
          <a:stretch>
            <a:fillRect/>
          </a:stretch>
        </p:blipFill>
        <p:spPr>
          <a:xfrm>
            <a:off x="8540496" y="1719072"/>
            <a:ext cx="493776" cy="493776"/>
          </a:xfrm>
          <a:prstGeom prst="rect">
            <a:avLst/>
          </a:prstGeom>
        </p:spPr>
      </p:pic>
      <p:sp>
        <p:nvSpPr>
          <p:cNvPr id="17" name="Text 11"/>
          <p:cNvSpPr txBox="1"/>
          <p:nvPr/>
        </p:nvSpPr>
        <p:spPr>
          <a:xfrm>
            <a:off x="8375904"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UNE GOUVERNANCE AUDITABLE</a:t>
            </a:r>
            <a:endParaRPr lang="en-US" sz="1800" dirty="0"/>
          </a:p>
        </p:txBody>
      </p:sp>
      <p:sp>
        <p:nvSpPr>
          <p:cNvPr id="18" name="Text 12"/>
          <p:cNvSpPr txBox="1"/>
          <p:nvPr/>
        </p:nvSpPr>
        <p:spPr>
          <a:xfrm>
            <a:off x="8375904"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Chaque notation est figée et rejouable</a:t>
            </a:r>
            <a:endParaRPr lang="en-US" sz="1500" dirty="0"/>
          </a:p>
          <a:p>
            <a:pPr marL="342900" indent="-342900">
              <a:spcAft>
                <a:spcPts val="800"/>
              </a:spcAft>
              <a:buSzPct val="100000"/>
              <a:buChar char="•"/>
            </a:pPr>
            <a:r>
              <a:rPr lang="en-US" sz="1500" dirty="0">
                <a:solidFill>
                  <a:srgbClr val="3D3D3B"/>
                </a:solidFill>
              </a:rPr>
              <a:t>Dérogations soumises à double validation</a:t>
            </a:r>
            <a:endParaRPr lang="en-US" sz="1500" dirty="0"/>
          </a:p>
          <a:p>
            <a:pPr marL="342900" indent="-342900">
              <a:spcAft>
                <a:spcPts val="800"/>
              </a:spcAft>
              <a:buSzPct val="100000"/>
              <a:buChar char="•"/>
            </a:pPr>
            <a:r>
              <a:rPr lang="en-US" sz="1500" dirty="0">
                <a:solidFill>
                  <a:srgbClr val="3D3D3B"/>
                </a:solidFill>
              </a:rPr>
              <a:t>Notation, conformité et IFRS 9 restent séparées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DEUX MODÈLES, UN AIGUILLAGE AUTOMATIQUE</a:t>
            </a:r>
            <a:endParaRPr lang="en-US" sz="2400" dirty="0"/>
          </a:p>
        </p:txBody>
      </p:sp>
      <p:sp>
        <p:nvSpPr>
          <p:cNvPr id="4" name="controle-0"/>
          <p:cNvSpPr/>
          <p:nvPr/>
        </p:nvSpPr>
        <p:spPr>
          <a:xfrm>
            <a:off x="457200" y="1325880"/>
            <a:ext cx="5532120" cy="2240280"/>
          </a:xfrm>
          <a:prstGeom prst="roundRect">
            <a:avLst>
              <a:gd name="adj" fmla="val 4082"/>
            </a:avLst>
          </a:prstGeom>
          <a:solidFill>
            <a:srgbClr val="F2E8DB"/>
          </a:solidFill>
          <a:ln/>
        </p:spPr>
      </p:sp>
      <p:sp>
        <p:nvSpPr>
          <p:cNvPr id="5" name="rond-icone"/>
          <p:cNvSpPr/>
          <p:nvPr/>
        </p:nvSpPr>
        <p:spPr>
          <a:xfrm>
            <a:off x="777240" y="1691640"/>
            <a:ext cx="868680" cy="868680"/>
          </a:xfrm>
          <a:prstGeom prst="ellipse">
            <a:avLst/>
          </a:prstGeom>
          <a:solidFill>
            <a:srgbClr val="E37B05"/>
          </a:solidFill>
          <a:ln/>
        </p:spPr>
      </p:sp>
      <p:pic>
        <p:nvPicPr>
          <p:cNvPr id="26" name="icone" descr="ic-MdCallSplit.png"/>
          <p:cNvPicPr>
            <a:picLocks noChangeAspect="1"/>
          </p:cNvPicPr>
          <p:nvPr/>
        </p:nvPicPr>
        <p:blipFill>
          <a:blip r:embed="rId7"/>
          <a:stretch>
            <a:fillRect/>
          </a:stretch>
        </p:blipFill>
        <p:spPr>
          <a:xfrm>
            <a:off x="950976" y="1865376"/>
            <a:ext cx="521208" cy="521208"/>
          </a:xfrm>
          <a:prstGeom prst="rect">
            <a:avLst/>
          </a:prstGeom>
        </p:spPr>
      </p:pic>
      <p:sp>
        <p:nvSpPr>
          <p:cNvPr id="7" name="Text 3"/>
          <p:cNvSpPr txBox="1"/>
          <p:nvPr/>
        </p:nvSpPr>
        <p:spPr>
          <a:xfrm>
            <a:off x="192024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SEGMENTATION</a:t>
            </a:r>
            <a:endParaRPr lang="en-US" sz="1800" dirty="0"/>
          </a:p>
          <a:p>
            <a:pPr indent="0" marL="0">
              <a:spcAft>
                <a:spcPts val="600"/>
              </a:spcAft>
              <a:buNone/>
            </a:pPr>
            <a:r>
              <a:rPr lang="en-US" sz="1500" dirty="0">
                <a:solidFill>
                  <a:srgbClr val="3D3D3B"/>
                </a:solidFill>
              </a:rPr>
              <a:t>Le segment (TPE, PME, GE) est calculé à partir du chiffre d'affaires et de l'exposition. Il désigne la grille : l'analyste ne choisit pas son modèle.</a:t>
            </a:r>
            <a:endParaRPr lang="en-US" sz="1800" dirty="0"/>
          </a:p>
        </p:txBody>
      </p:sp>
      <p:sp>
        <p:nvSpPr>
          <p:cNvPr id="8" name="controle-1"/>
          <p:cNvSpPr/>
          <p:nvPr/>
        </p:nvSpPr>
        <p:spPr>
          <a:xfrm>
            <a:off x="6217920" y="1325880"/>
            <a:ext cx="5532120" cy="2240280"/>
          </a:xfrm>
          <a:prstGeom prst="roundRect">
            <a:avLst>
              <a:gd name="adj" fmla="val 4082"/>
            </a:avLst>
          </a:prstGeom>
          <a:solidFill>
            <a:srgbClr val="FBF6F0"/>
          </a:solidFill>
          <a:ln/>
        </p:spPr>
      </p:sp>
      <p:sp>
        <p:nvSpPr>
          <p:cNvPr id="9" name="rond-icone"/>
          <p:cNvSpPr/>
          <p:nvPr/>
        </p:nvSpPr>
        <p:spPr>
          <a:xfrm>
            <a:off x="6537960" y="1691640"/>
            <a:ext cx="868680" cy="868680"/>
          </a:xfrm>
          <a:prstGeom prst="ellipse">
            <a:avLst/>
          </a:prstGeom>
          <a:solidFill>
            <a:srgbClr val="E37B05"/>
          </a:solidFill>
          <a:ln/>
        </p:spPr>
      </p:sp>
      <p:pic>
        <p:nvPicPr>
          <p:cNvPr id="27" name="icone" descr="ic-MdInsertChart.png"/>
          <p:cNvPicPr>
            <a:picLocks noChangeAspect="1"/>
          </p:cNvPicPr>
          <p:nvPr/>
        </p:nvPicPr>
        <p:blipFill>
          <a:blip r:embed="rId8"/>
          <a:stretch>
            <a:fillRect/>
          </a:stretch>
        </p:blipFill>
        <p:spPr>
          <a:xfrm>
            <a:off x="6711696" y="1865376"/>
            <a:ext cx="521208" cy="521208"/>
          </a:xfrm>
          <a:prstGeom prst="rect">
            <a:avLst/>
          </a:prstGeom>
        </p:spPr>
      </p:pic>
      <p:sp>
        <p:nvSpPr>
          <p:cNvPr id="11" name="Text 6"/>
          <p:cNvSpPr txBox="1"/>
          <p:nvPr/>
        </p:nvSpPr>
        <p:spPr>
          <a:xfrm>
            <a:off x="768096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MODÈLE STANDARD</a:t>
            </a:r>
            <a:endParaRPr lang="en-US" sz="1800" dirty="0"/>
          </a:p>
          <a:p>
            <a:pPr indent="0" marL="0">
              <a:spcAft>
                <a:spcPts val="600"/>
              </a:spcAft>
              <a:buNone/>
            </a:pPr>
            <a:r>
              <a:rPr lang="en-US" sz="1500" dirty="0">
                <a:solidFill>
                  <a:srgbClr val="3D3D3B"/>
                </a:solidFill>
              </a:rPr>
              <a:t>Entreprises disposant d'états financiers : 45 critères sur 7 domaines, échelle STD-P1 à STD-P8.</a:t>
            </a:r>
            <a:endParaRPr lang="en-US" sz="1800" dirty="0"/>
          </a:p>
        </p:txBody>
      </p:sp>
      <p:sp>
        <p:nvSpPr>
          <p:cNvPr id="12" name="controle-2"/>
          <p:cNvSpPr/>
          <p:nvPr/>
        </p:nvSpPr>
        <p:spPr>
          <a:xfrm>
            <a:off x="457200" y="3794760"/>
            <a:ext cx="5532120" cy="2240280"/>
          </a:xfrm>
          <a:prstGeom prst="roundRect">
            <a:avLst>
              <a:gd name="adj" fmla="val 4082"/>
            </a:avLst>
          </a:prstGeom>
          <a:solidFill>
            <a:srgbClr val="FBF6F0"/>
          </a:solidFill>
          <a:ln/>
        </p:spPr>
      </p:sp>
      <p:sp>
        <p:nvSpPr>
          <p:cNvPr id="13" name="rond-icone"/>
          <p:cNvSpPr/>
          <p:nvPr/>
        </p:nvSpPr>
        <p:spPr>
          <a:xfrm>
            <a:off x="777240" y="4160520"/>
            <a:ext cx="868680" cy="868680"/>
          </a:xfrm>
          <a:prstGeom prst="ellipse">
            <a:avLst/>
          </a:prstGeom>
          <a:solidFill>
            <a:srgbClr val="8C5B52"/>
          </a:solidFill>
          <a:ln/>
        </p:spPr>
      </p:sp>
      <p:pic>
        <p:nvPicPr>
          <p:cNvPr id="28" name="icone" descr="ic-MdAccountBalanceWallet.png"/>
          <p:cNvPicPr>
            <a:picLocks noChangeAspect="1"/>
          </p:cNvPicPr>
          <p:nvPr/>
        </p:nvPicPr>
        <p:blipFill>
          <a:blip r:embed="rId9"/>
          <a:stretch>
            <a:fillRect/>
          </a:stretch>
        </p:blipFill>
        <p:spPr>
          <a:xfrm>
            <a:off x="950976" y="4334256"/>
            <a:ext cx="521208" cy="521208"/>
          </a:xfrm>
          <a:prstGeom prst="rect">
            <a:avLst/>
          </a:prstGeom>
        </p:spPr>
      </p:pic>
      <p:sp>
        <p:nvSpPr>
          <p:cNvPr id="15" name="Text 9"/>
          <p:cNvSpPr txBox="1"/>
          <p:nvPr/>
        </p:nvSpPr>
        <p:spPr>
          <a:xfrm>
            <a:off x="192024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MODÈLE COMPORTEMENTAL TPE</a:t>
            </a:r>
            <a:endParaRPr lang="en-US" sz="1800" dirty="0"/>
          </a:p>
          <a:p>
            <a:pPr indent="0" marL="0">
              <a:spcAft>
                <a:spcPts val="600"/>
              </a:spcAft>
              <a:buNone/>
            </a:pPr>
            <a:r>
              <a:rPr lang="en-US" sz="1500" dirty="0">
                <a:solidFill>
                  <a:srgbClr val="3D3D3B"/>
                </a:solidFill>
              </a:rPr>
              <a:t>TPE sans états financiers fiables : 24 critères, surtout les flux et le fonctionnement du compte. Échelle TPE-B1 à TPE-B6.</a:t>
            </a:r>
            <a:endParaRPr lang="en-US" sz="1800" dirty="0"/>
          </a:p>
        </p:txBody>
      </p:sp>
      <p:sp>
        <p:nvSpPr>
          <p:cNvPr id="16" name="controle-3"/>
          <p:cNvSpPr/>
          <p:nvPr/>
        </p:nvSpPr>
        <p:spPr>
          <a:xfrm>
            <a:off x="6217920" y="3794760"/>
            <a:ext cx="5532120" cy="2240280"/>
          </a:xfrm>
          <a:prstGeom prst="roundRect">
            <a:avLst>
              <a:gd name="adj" fmla="val 4082"/>
            </a:avLst>
          </a:prstGeom>
          <a:solidFill>
            <a:srgbClr val="F2E8DB"/>
          </a:solidFill>
          <a:ln/>
        </p:spPr>
      </p:sp>
      <p:sp>
        <p:nvSpPr>
          <p:cNvPr id="17" name="rond-icone"/>
          <p:cNvSpPr/>
          <p:nvPr/>
        </p:nvSpPr>
        <p:spPr>
          <a:xfrm>
            <a:off x="6537960" y="4160520"/>
            <a:ext cx="868680" cy="868680"/>
          </a:xfrm>
          <a:prstGeom prst="ellipse">
            <a:avLst/>
          </a:prstGeom>
          <a:solidFill>
            <a:srgbClr val="8C5B52"/>
          </a:solidFill>
          <a:ln/>
        </p:spPr>
      </p:sp>
      <p:pic>
        <p:nvPicPr>
          <p:cNvPr id="29" name="icone" descr="ic-MdRocketLaunch.png"/>
          <p:cNvPicPr>
            <a:picLocks noChangeAspect="1"/>
          </p:cNvPicPr>
          <p:nvPr/>
        </p:nvPicPr>
        <p:blipFill>
          <a:blip r:embed="rId10"/>
          <a:stretch>
            <a:fillRect/>
          </a:stretch>
        </p:blipFill>
        <p:spPr>
          <a:xfrm>
            <a:off x="6711696" y="4334256"/>
            <a:ext cx="521208" cy="521208"/>
          </a:xfrm>
          <a:prstGeom prst="rect">
            <a:avLst/>
          </a:prstGeom>
        </p:spPr>
      </p:pic>
      <p:sp>
        <p:nvSpPr>
          <p:cNvPr id="19" name="Text 12"/>
          <p:cNvSpPr txBox="1"/>
          <p:nvPr/>
        </p:nvSpPr>
        <p:spPr>
          <a:xfrm>
            <a:off x="768096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JEUNES ENTREPRISES</a:t>
            </a:r>
            <a:endParaRPr lang="en-US" sz="1800" dirty="0"/>
          </a:p>
          <a:p>
            <a:pPr indent="0" marL="0">
              <a:spcAft>
                <a:spcPts val="600"/>
              </a:spcAft>
              <a:buNone/>
            </a:pPr>
            <a:r>
              <a:rPr lang="en-US" sz="1500" dirty="0">
                <a:solidFill>
                  <a:srgbClr val="3D3D3B"/>
                </a:solidFill>
              </a:rPr>
              <a:t>Moins de 2 ans sans support de groupe solide : traitement dédié, plutôt qu'une note sur des grilles qui supposent un historique.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SEPT DOMAINES, PONDÉRÉS SELON LA TAILLE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Le comportement bancaire pèse plus pour une TPE ; la capacité de remboursement et le stress pèsent plus pour une grande entreprise.</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11274552" cy="3950208"/>
        </p:xfrm>
        <a:graphic>
          <a:graphicData uri="http://schemas.openxmlformats.org/drawingml/2006/table">
            <a:tbl>
              <a:tblPr firstRow="0" bandRow="0"/>
              <a:tblGrid>
                <a:gridCol w="3017520"/>
                <a:gridCol w="5788152"/>
                <a:gridCol w="822960"/>
                <a:gridCol w="822960"/>
                <a:gridCol w="822960"/>
              </a:tblGrid>
              <a:tr h="493776">
                <a:tc>
                  <a:txBody>
                    <a:bodyPr wrap="square"/>
                    <a:lstStyle/>
                    <a:p>
                      <a:pPr algn="l"/>
                      <a:r>
                        <a:rPr sz="1300" b="1">
                          <a:solidFill>
                            <a:srgbClr val="FFFFFF"/>
                          </a:solidFill>
                          <a:latin typeface="Arial"/>
                        </a:rPr>
                        <a:t>Domaine</a:t>
                      </a:r>
                    </a:p>
                  </a:txBody>
                  <a:tcPr marL="91440" marR="91440" marT="36576" marB="36576" anchor="ctr">
                    <a:solidFill>
                      <a:srgbClr val="E37B05"/>
                    </a:solidFill>
                  </a:tcPr>
                </a:tc>
                <a:tc>
                  <a:txBody>
                    <a:bodyPr wrap="square"/>
                    <a:lstStyle/>
                    <a:p>
                      <a:pPr algn="l"/>
                      <a:r>
                        <a:rPr sz="1300" b="1">
                          <a:solidFill>
                            <a:srgbClr val="FFFFFF"/>
                          </a:solidFill>
                          <a:latin typeface="Arial"/>
                        </a:rPr>
                        <a:t>Ce qui est mesuré</a:t>
                      </a:r>
                    </a:p>
                  </a:txBody>
                  <a:tcPr marL="91440" marR="91440" marT="36576" marB="36576" anchor="ctr">
                    <a:solidFill>
                      <a:srgbClr val="E37B05"/>
                    </a:solidFill>
                  </a:tcPr>
                </a:tc>
                <a:tc>
                  <a:txBody>
                    <a:bodyPr wrap="square"/>
                    <a:lstStyle/>
                    <a:p>
                      <a:pPr algn="ctr"/>
                      <a:r>
                        <a:rPr sz="1300" b="1">
                          <a:solidFill>
                            <a:srgbClr val="FFFFFF"/>
                          </a:solidFill>
                          <a:latin typeface="Arial"/>
                        </a:rPr>
                        <a:t>TPE</a:t>
                      </a:r>
                    </a:p>
                  </a:txBody>
                  <a:tcPr marL="91440" marR="91440" marT="36576" marB="36576" anchor="ctr">
                    <a:solidFill>
                      <a:srgbClr val="E37B05"/>
                    </a:solidFill>
                  </a:tcPr>
                </a:tc>
                <a:tc>
                  <a:txBody>
                    <a:bodyPr wrap="square"/>
                    <a:lstStyle/>
                    <a:p>
                      <a:pPr algn="ctr"/>
                      <a:r>
                        <a:rPr sz="1300" b="1">
                          <a:solidFill>
                            <a:srgbClr val="FFFFFF"/>
                          </a:solidFill>
                          <a:latin typeface="Arial"/>
                        </a:rPr>
                        <a:t>PME</a:t>
                      </a:r>
                    </a:p>
                  </a:txBody>
                  <a:tcPr marL="91440" marR="91440" marT="36576" marB="36576" anchor="ctr">
                    <a:solidFill>
                      <a:srgbClr val="E37B05"/>
                    </a:solidFill>
                  </a:tcPr>
                </a:tc>
                <a:tc>
                  <a:txBody>
                    <a:bodyPr wrap="square"/>
                    <a:lstStyle/>
                    <a:p>
                      <a:pPr algn="ctr"/>
                      <a:r>
                        <a:rPr sz="1300" b="1">
                          <a:solidFill>
                            <a:srgbClr val="FFFFFF"/>
                          </a:solidFill>
                          <a:latin typeface="Arial"/>
                        </a:rPr>
                        <a:t>GE</a:t>
                      </a:r>
                    </a:p>
                  </a:txBody>
                  <a:tcPr marL="91440" marR="91440" marT="36576" marB="36576" anchor="ctr">
                    <a:solidFill>
                      <a:srgbClr val="E37B05"/>
                    </a:solidFill>
                  </a:tcPr>
                </a:tc>
              </a:tr>
              <a:tr h="493776">
                <a:tc>
                  <a:txBody>
                    <a:bodyPr wrap="square"/>
                    <a:lstStyle/>
                    <a:p>
                      <a:pPr algn="l"/>
                      <a:r>
                        <a:rPr sz="1300" b="1">
                          <a:solidFill>
                            <a:srgbClr val="462016"/>
                          </a:solidFill>
                          <a:latin typeface="Arial"/>
                        </a:rPr>
                        <a:t>Performance financière et bilan</a:t>
                      </a:r>
                    </a:p>
                  </a:txBody>
                  <a:tcPr marL="91440" marR="91440" marT="36576" marB="36576" anchor="ctr">
                    <a:solidFill>
                      <a:srgbClr val="F2E8DB"/>
                    </a:solidFill>
                  </a:tcPr>
                </a:tc>
                <a:tc>
                  <a:txBody>
                    <a:bodyPr wrap="square"/>
                    <a:lstStyle/>
                    <a:p>
                      <a:pPr algn="l"/>
                      <a:r>
                        <a:rPr sz="1300" b="0">
                          <a:solidFill>
                            <a:srgbClr val="3D3D3B"/>
                          </a:solidFill>
                          <a:latin typeface="Arial"/>
                        </a:rPr>
                        <a:t>Croissance, marges, fonds propres, endettement, liquidité</a:t>
                      </a:r>
                    </a:p>
                  </a:txBody>
                  <a:tcPr marL="91440" marR="91440" marT="36576" marB="36576" anchor="ctr">
                    <a:solidFill>
                      <a:srgbClr val="F2E8DB"/>
                    </a:solidFill>
                  </a:tcPr>
                </a:tc>
                <a:tc>
                  <a:txBody>
                    <a:bodyPr wrap="square"/>
                    <a:lstStyle/>
                    <a:p>
                      <a:pPr algn="ctr"/>
                      <a:r>
                        <a:rPr sz="1300" b="0">
                          <a:solidFill>
                            <a:srgbClr val="3D3D3B"/>
                          </a:solidFill>
                          <a:latin typeface="Arial"/>
                        </a:rPr>
                        <a:t>25 %</a:t>
                      </a:r>
                    </a:p>
                  </a:txBody>
                  <a:tcPr marL="91440" marR="91440" marT="36576" marB="36576" anchor="ctr">
                    <a:solidFill>
                      <a:srgbClr val="F2E8DB"/>
                    </a:solidFill>
                  </a:tcPr>
                </a:tc>
                <a:tc>
                  <a:txBody>
                    <a:bodyPr wrap="square"/>
                    <a:lstStyle/>
                    <a:p>
                      <a:pPr algn="ctr"/>
                      <a:r>
                        <a:rPr sz="1300" b="0">
                          <a:solidFill>
                            <a:srgbClr val="3D3D3B"/>
                          </a:solidFill>
                          <a:latin typeface="Arial"/>
                        </a:rPr>
                        <a:t>30 %</a:t>
                      </a:r>
                    </a:p>
                  </a:txBody>
                  <a:tcPr marL="91440" marR="91440" marT="36576" marB="36576" anchor="ctr">
                    <a:solidFill>
                      <a:srgbClr val="F2E8DB"/>
                    </a:solidFill>
                  </a:tcPr>
                </a:tc>
                <a:tc>
                  <a:txBody>
                    <a:bodyPr wrap="square"/>
                    <a:lstStyle/>
                    <a:p>
                      <a:pPr algn="ctr"/>
                      <a:r>
                        <a:rPr sz="1300" b="0">
                          <a:solidFill>
                            <a:srgbClr val="3D3D3B"/>
                          </a:solidFill>
                          <a:latin typeface="Arial"/>
                        </a:rPr>
                        <a:t>30 %</a:t>
                      </a:r>
                    </a:p>
                  </a:txBody>
                  <a:tcPr marL="91440" marR="91440" marT="36576" marB="36576" anchor="ctr">
                    <a:solidFill>
                      <a:srgbClr val="F2E8DB"/>
                    </a:solidFill>
                  </a:tcPr>
                </a:tc>
              </a:tr>
              <a:tr h="493776">
                <a:tc>
                  <a:txBody>
                    <a:bodyPr wrap="square"/>
                    <a:lstStyle/>
                    <a:p>
                      <a:pPr algn="l"/>
                      <a:r>
                        <a:rPr sz="1300" b="1">
                          <a:solidFill>
                            <a:srgbClr val="462016"/>
                          </a:solidFill>
                          <a:latin typeface="Arial"/>
                        </a:rPr>
                        <a:t>Capacité de remboursement</a:t>
                      </a:r>
                    </a:p>
                  </a:txBody>
                  <a:tcPr marL="91440" marR="91440" marT="36576" marB="36576" anchor="ctr">
                    <a:solidFill>
                      <a:srgbClr val="FBF6F0"/>
                    </a:solidFill>
                  </a:tcPr>
                </a:tc>
                <a:tc>
                  <a:txBody>
                    <a:bodyPr wrap="square"/>
                    <a:lstStyle/>
                    <a:p>
                      <a:pPr algn="l"/>
                      <a:r>
                        <a:rPr sz="1300" b="0">
                          <a:solidFill>
                            <a:srgbClr val="3D3D3B"/>
                          </a:solidFill>
                          <a:latin typeface="Arial"/>
                        </a:rPr>
                        <a:t>Couverture du service de la dette, résistance à un scénario de stress</a:t>
                      </a:r>
                    </a:p>
                  </a:txBody>
                  <a:tcPr marL="91440" marR="91440" marT="36576" marB="36576" anchor="ctr">
                    <a:solidFill>
                      <a:srgbClr val="FBF6F0"/>
                    </a:solidFill>
                  </a:tcPr>
                </a:tc>
                <a:tc>
                  <a:txBody>
                    <a:bodyPr wrap="square"/>
                    <a:lstStyle/>
                    <a:p>
                      <a:pPr algn="ctr"/>
                      <a:r>
                        <a:rPr sz="1300" b="0">
                          <a:solidFill>
                            <a:srgbClr val="3D3D3B"/>
                          </a:solidFill>
                          <a:latin typeface="Arial"/>
                        </a:rPr>
                        <a:t>10 %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20 %</a:t>
                      </a:r>
                    </a:p>
                  </a:txBody>
                  <a:tcPr marL="91440" marR="91440" marT="36576" marB="36576" anchor="ctr">
                    <a:solidFill>
                      <a:srgbClr val="FBF6F0"/>
                    </a:solidFill>
                  </a:tcPr>
                </a:tc>
              </a:tr>
              <a:tr h="493776">
                <a:tc>
                  <a:txBody>
                    <a:bodyPr wrap="square"/>
                    <a:lstStyle/>
                    <a:p>
                      <a:pPr algn="l"/>
                      <a:r>
                        <a:rPr sz="1300" b="1">
                          <a:solidFill>
                            <a:srgbClr val="462016"/>
                          </a:solidFill>
                          <a:latin typeface="Arial"/>
                        </a:rPr>
                        <a:t>Comportement bancaire</a:t>
                      </a:r>
                    </a:p>
                  </a:txBody>
                  <a:tcPr marL="91440" marR="91440" marT="36576" marB="36576" anchor="ctr">
                    <a:solidFill>
                      <a:srgbClr val="F2E8DB"/>
                    </a:solidFill>
                  </a:tcPr>
                </a:tc>
                <a:tc>
                  <a:txBody>
                    <a:bodyPr wrap="square"/>
                    <a:lstStyle/>
                    <a:p>
                      <a:pPr algn="l"/>
                      <a:r>
                        <a:rPr sz="1300" b="0">
                          <a:solidFill>
                            <a:srgbClr val="3D3D3B"/>
                          </a:solidFill>
                          <a:latin typeface="Arial"/>
                        </a:rPr>
                        <a:t>Retards de paiement, incidents, utilisation des lignes, flux confiés</a:t>
                      </a:r>
                    </a:p>
                  </a:txBody>
                  <a:tcPr marL="91440" marR="91440" marT="36576" marB="36576" anchor="ctr">
                    <a:solidFill>
                      <a:srgbClr val="F2E8DB"/>
                    </a:solidFill>
                  </a:tcPr>
                </a:tc>
                <a:tc>
                  <a:txBody>
                    <a:bodyPr wrap="square"/>
                    <a:lstStyle/>
                    <a:p>
                      <a:pPr algn="ctr"/>
                      <a:r>
                        <a:rPr sz="1300" b="0">
                          <a:solidFill>
                            <a:srgbClr val="3D3D3B"/>
                          </a:solidFill>
                          <a:latin typeface="Arial"/>
                        </a:rPr>
                        <a:t>25 %</a:t>
                      </a:r>
                    </a:p>
                  </a:txBody>
                  <a:tcPr marL="91440" marR="91440" marT="36576" marB="36576" anchor="ctr">
                    <a:solidFill>
                      <a:srgbClr val="F2E8DB"/>
                    </a:solidFill>
                  </a:tcPr>
                </a:tc>
                <a:tc>
                  <a:txBody>
                    <a:bodyPr wrap="square"/>
                    <a:lstStyle/>
                    <a:p>
                      <a:pPr algn="ctr"/>
                      <a:r>
                        <a:rPr sz="1300" b="0">
                          <a:solidFill>
                            <a:srgbClr val="3D3D3B"/>
                          </a:solidFill>
                          <a:latin typeface="Arial"/>
                        </a:rPr>
                        <a:t>20 %</a:t>
                      </a:r>
                    </a:p>
                  </a:txBody>
                  <a:tcPr marL="91440" marR="91440" marT="36576" marB="36576" anchor="ctr">
                    <a:solidFill>
                      <a:srgbClr val="F2E8DB"/>
                    </a:solidFill>
                  </a:tcPr>
                </a:tc>
                <a:tc>
                  <a:txBody>
                    <a:bodyPr wrap="square"/>
                    <a:lstStyle/>
                    <a:p>
                      <a:pPr algn="ctr"/>
                      <a:r>
                        <a:rPr sz="1300" b="0">
                          <a:solidFill>
                            <a:srgbClr val="3D3D3B"/>
                          </a:solidFill>
                          <a:latin typeface="Arial"/>
                        </a:rPr>
                        <a:t>10 %</a:t>
                      </a:r>
                    </a:p>
                  </a:txBody>
                  <a:tcPr marL="91440" marR="91440" marT="36576" marB="36576" anchor="ctr">
                    <a:solidFill>
                      <a:srgbClr val="F2E8DB"/>
                    </a:solidFill>
                  </a:tcPr>
                </a:tc>
              </a:tr>
              <a:tr h="493776">
                <a:tc>
                  <a:txBody>
                    <a:bodyPr wrap="square"/>
                    <a:lstStyle/>
                    <a:p>
                      <a:pPr algn="l"/>
                      <a:r>
                        <a:rPr sz="1300" b="1">
                          <a:solidFill>
                            <a:srgbClr val="462016"/>
                          </a:solidFill>
                          <a:latin typeface="Arial"/>
                        </a:rPr>
                        <a:t>Activité et secteur</a:t>
                      </a:r>
                    </a:p>
                  </a:txBody>
                  <a:tcPr marL="91440" marR="91440" marT="36576" marB="36576" anchor="ctr">
                    <a:solidFill>
                      <a:srgbClr val="FBF6F0"/>
                    </a:solidFill>
                  </a:tcPr>
                </a:tc>
                <a:tc>
                  <a:txBody>
                    <a:bodyPr wrap="square"/>
                    <a:lstStyle/>
                    <a:p>
                      <a:pPr algn="l"/>
                      <a:r>
                        <a:rPr sz="1300" b="0">
                          <a:solidFill>
                            <a:srgbClr val="3D3D3B"/>
                          </a:solidFill>
                          <a:latin typeface="Arial"/>
                        </a:rPr>
                        <a:t>Risque sectoriel, concentration clients et fournisseurs, carnet de commandes</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c>
                  <a:txBody>
                    <a:bodyPr wrap="square"/>
                    <a:lstStyle/>
                    <a:p>
                      <a:pPr algn="ctr"/>
                      <a:r>
                        <a:rPr sz="1300" b="0">
                          <a:solidFill>
                            <a:srgbClr val="3D3D3B"/>
                          </a:solidFill>
                          <a:latin typeface="Arial"/>
                        </a:rPr>
                        <a:t>15 %</a:t>
                      </a:r>
                    </a:p>
                  </a:txBody>
                  <a:tcPr marL="91440" marR="91440" marT="36576" marB="36576" anchor="ctr">
                    <a:solidFill>
                      <a:srgbClr val="FBF6F0"/>
                    </a:solidFill>
                  </a:tcPr>
                </a:tc>
              </a:tr>
              <a:tr h="493776">
                <a:tc>
                  <a:txBody>
                    <a:bodyPr wrap="square"/>
                    <a:lstStyle/>
                    <a:p>
                      <a:pPr algn="l"/>
                      <a:r>
                        <a:rPr sz="1300" b="1">
                          <a:solidFill>
                            <a:srgbClr val="462016"/>
                          </a:solidFill>
                          <a:latin typeface="Arial"/>
                        </a:rPr>
                        <a:t>Management et groupe</a:t>
                      </a:r>
                    </a:p>
                  </a:txBody>
                  <a:tcPr marL="91440" marR="91440" marT="36576" marB="36576" anchor="ctr">
                    <a:solidFill>
                      <a:srgbClr val="F2E8DB"/>
                    </a:solidFill>
                  </a:tcPr>
                </a:tc>
                <a:tc>
                  <a:txBody>
                    <a:bodyPr wrap="square"/>
                    <a:lstStyle/>
                    <a:p>
                      <a:pPr algn="l"/>
                      <a:r>
                        <a:rPr sz="1300" b="0">
                          <a:solidFill>
                            <a:srgbClr val="3D3D3B"/>
                          </a:solidFill>
                          <a:latin typeface="Arial"/>
                        </a:rPr>
                        <a:t>Expérience, succession, contrôle interne, actionnariat</a:t>
                      </a:r>
                    </a:p>
                  </a:txBody>
                  <a:tcPr marL="91440" marR="91440" marT="36576" marB="36576" anchor="ctr">
                    <a:solidFill>
                      <a:srgbClr val="F2E8DB"/>
                    </a:solidFill>
                  </a:tcPr>
                </a:tc>
                <a:tc>
                  <a:txBody>
                    <a:bodyPr wrap="square"/>
                    <a:lstStyle/>
                    <a:p>
                      <a:pPr algn="ctr"/>
                      <a:r>
                        <a:rPr sz="1300" b="0">
                          <a:solidFill>
                            <a:srgbClr val="3D3D3B"/>
                          </a:solidFill>
                          <a:latin typeface="Arial"/>
                        </a:rPr>
                        <a:t>15 %</a:t>
                      </a:r>
                    </a:p>
                  </a:txBody>
                  <a:tcPr marL="91440" marR="91440" marT="36576" marB="36576" anchor="ctr">
                    <a:solidFill>
                      <a:srgbClr val="F2E8DB"/>
                    </a:solidFill>
                  </a:tcPr>
                </a:tc>
                <a:tc>
                  <a:txBody>
                    <a:bodyPr wrap="square"/>
                    <a:lstStyle/>
                    <a:p>
                      <a:pPr algn="ctr"/>
                      <a:r>
                        <a:rPr sz="1300" b="0">
                          <a:solidFill>
                            <a:srgbClr val="3D3D3B"/>
                          </a:solidFill>
                          <a:latin typeface="Arial"/>
                        </a:rPr>
                        <a:t>12 %</a:t>
                      </a:r>
                    </a:p>
                  </a:txBody>
                  <a:tcPr marL="91440" marR="91440" marT="36576" marB="36576" anchor="ctr">
                    <a:solidFill>
                      <a:srgbClr val="F2E8DB"/>
                    </a:solidFill>
                  </a:tcPr>
                </a:tc>
                <a:tc>
                  <a:txBody>
                    <a:bodyPr wrap="square"/>
                    <a:lstStyle/>
                    <a:p>
                      <a:pPr algn="ctr"/>
                      <a:r>
                        <a:rPr sz="1300" b="0">
                          <a:solidFill>
                            <a:srgbClr val="3D3D3B"/>
                          </a:solidFill>
                          <a:latin typeface="Arial"/>
                        </a:rPr>
                        <a:t>15 %</a:t>
                      </a:r>
                    </a:p>
                  </a:txBody>
                  <a:tcPr marL="91440" marR="91440" marT="36576" marB="36576" anchor="ctr">
                    <a:solidFill>
                      <a:srgbClr val="F2E8DB"/>
                    </a:solidFill>
                  </a:tcPr>
                </a:tc>
              </a:tr>
              <a:tr h="493776">
                <a:tc>
                  <a:txBody>
                    <a:bodyPr wrap="square"/>
                    <a:lstStyle/>
                    <a:p>
                      <a:pPr algn="l"/>
                      <a:r>
                        <a:rPr sz="1300" b="1">
                          <a:solidFill>
                            <a:srgbClr val="462016"/>
                          </a:solidFill>
                          <a:latin typeface="Arial"/>
                        </a:rPr>
                        <a:t>Transparence et conformité</a:t>
                      </a:r>
                    </a:p>
                  </a:txBody>
                  <a:tcPr marL="91440" marR="91440" marT="36576" marB="36576" anchor="ctr">
                    <a:solidFill>
                      <a:srgbClr val="FBF6F0"/>
                    </a:solidFill>
                  </a:tcPr>
                </a:tc>
                <a:tc>
                  <a:txBody>
                    <a:bodyPr wrap="square"/>
                    <a:lstStyle/>
                    <a:p>
                      <a:pPr algn="l"/>
                      <a:r>
                        <a:rPr sz="1300" b="0">
                          <a:solidFill>
                            <a:srgbClr val="3D3D3B"/>
                          </a:solidFill>
                          <a:latin typeface="Arial"/>
                        </a:rPr>
                        <a:t>Qualité et délai de l'information financière, situation fiscale et sociale</a:t>
                      </a:r>
                    </a:p>
                  </a:txBody>
                  <a:tcPr marL="91440" marR="91440" marT="36576" marB="36576" anchor="ctr">
                    <a:solidFill>
                      <a:srgbClr val="FBF6F0"/>
                    </a:solidFill>
                  </a:tcPr>
                </a:tc>
                <a:tc>
                  <a:txBody>
                    <a:bodyPr wrap="square"/>
                    <a:lstStyle/>
                    <a:p>
                      <a:pPr algn="ctr"/>
                      <a:r>
                        <a:rPr sz="1300" b="0">
                          <a:solidFill>
                            <a:srgbClr val="3D3D3B"/>
                          </a:solidFill>
                          <a:latin typeface="Arial"/>
                        </a:rPr>
                        <a:t>7 %</a:t>
                      </a:r>
                    </a:p>
                  </a:txBody>
                  <a:tcPr marL="91440" marR="91440" marT="36576" marB="36576" anchor="ctr">
                    <a:solidFill>
                      <a:srgbClr val="FBF6F0"/>
                    </a:solidFill>
                  </a:tcPr>
                </a:tc>
                <a:tc>
                  <a:txBody>
                    <a:bodyPr wrap="square"/>
                    <a:lstStyle/>
                    <a:p>
                      <a:pPr algn="ctr"/>
                      <a:r>
                        <a:rPr sz="1300" b="0">
                          <a:solidFill>
                            <a:srgbClr val="3D3D3B"/>
                          </a:solidFill>
                          <a:latin typeface="Arial"/>
                        </a:rPr>
                        <a:t>5 %</a:t>
                      </a:r>
                    </a:p>
                  </a:txBody>
                  <a:tcPr marL="91440" marR="91440" marT="36576" marB="36576" anchor="ctr">
                    <a:solidFill>
                      <a:srgbClr val="FBF6F0"/>
                    </a:solidFill>
                  </a:tcPr>
                </a:tc>
                <a:tc>
                  <a:txBody>
                    <a:bodyPr wrap="square"/>
                    <a:lstStyle/>
                    <a:p>
                      <a:pPr algn="ctr"/>
                      <a:r>
                        <a:rPr sz="1300" b="0">
                          <a:solidFill>
                            <a:srgbClr val="3D3D3B"/>
                          </a:solidFill>
                          <a:latin typeface="Arial"/>
                        </a:rPr>
                        <a:t>5 %</a:t>
                      </a:r>
                    </a:p>
                  </a:txBody>
                  <a:tcPr marL="91440" marR="91440" marT="36576" marB="36576" anchor="ctr">
                    <a:solidFill>
                      <a:srgbClr val="FBF6F0"/>
                    </a:solidFill>
                  </a:tcPr>
                </a:tc>
              </a:tr>
              <a:tr h="493776">
                <a:tc>
                  <a:txBody>
                    <a:bodyPr wrap="square"/>
                    <a:lstStyle/>
                    <a:p>
                      <a:pPr algn="l"/>
                      <a:r>
                        <a:rPr sz="1300" b="1">
                          <a:solidFill>
                            <a:srgbClr val="462016"/>
                          </a:solidFill>
                          <a:latin typeface="Arial"/>
                        </a:rPr>
                        <a:t>ESG et climat</a:t>
                      </a:r>
                    </a:p>
                  </a:txBody>
                  <a:tcPr marL="91440" marR="91440" marT="36576" marB="36576" anchor="ctr">
                    <a:solidFill>
                      <a:srgbClr val="F2E8DB"/>
                    </a:solidFill>
                  </a:tcPr>
                </a:tc>
                <a:tc>
                  <a:txBody>
                    <a:bodyPr wrap="square"/>
                    <a:lstStyle/>
                    <a:p>
                      <a:pPr algn="l"/>
                      <a:r>
                        <a:rPr sz="1300" b="0">
                          <a:solidFill>
                            <a:srgbClr val="3D3D3B"/>
                          </a:solidFill>
                          <a:latin typeface="Arial"/>
                        </a:rPr>
                        <a:t>Risque climatique physique, transition, conformité environnementale</a:t>
                      </a:r>
                    </a:p>
                  </a:txBody>
                  <a:tcPr marL="91440" marR="91440" marT="36576" marB="36576" anchor="ctr">
                    <a:solidFill>
                      <a:srgbClr val="F2E8DB"/>
                    </a:solidFill>
                  </a:tcPr>
                </a:tc>
                <a:tc>
                  <a:txBody>
                    <a:bodyPr wrap="square"/>
                    <a:lstStyle/>
                    <a:p>
                      <a:pPr algn="ctr"/>
                      <a:r>
                        <a:rPr sz="1300" b="0">
                          <a:solidFill>
                            <a:srgbClr val="3D3D3B"/>
                          </a:solidFill>
                          <a:latin typeface="Arial"/>
                        </a:rPr>
                        <a:t>3 %</a:t>
                      </a:r>
                    </a:p>
                  </a:txBody>
                  <a:tcPr marL="91440" marR="91440" marT="36576" marB="36576" anchor="ctr">
                    <a:solidFill>
                      <a:srgbClr val="F2E8DB"/>
                    </a:solidFill>
                  </a:tcPr>
                </a:tc>
                <a:tc>
                  <a:txBody>
                    <a:bodyPr wrap="square"/>
                    <a:lstStyle/>
                    <a:p>
                      <a:pPr algn="ctr"/>
                      <a:r>
                        <a:rPr sz="1300" b="0">
                          <a:solidFill>
                            <a:srgbClr val="3D3D3B"/>
                          </a:solidFill>
                          <a:latin typeface="Arial"/>
                        </a:rPr>
                        <a:t>3 %</a:t>
                      </a:r>
                    </a:p>
                  </a:txBody>
                  <a:tcPr marL="91440" marR="91440" marT="36576" marB="36576" anchor="ctr">
                    <a:solidFill>
                      <a:srgbClr val="F2E8DB"/>
                    </a:solidFill>
                  </a:tcPr>
                </a:tc>
                <a:tc>
                  <a:txBody>
                    <a:bodyPr wrap="square"/>
                    <a:lstStyle/>
                    <a:p>
                      <a:pPr algn="ctr"/>
                      <a:r>
                        <a:rPr sz="1300" b="0">
                          <a:solidFill>
                            <a:srgbClr val="3D3D3B"/>
                          </a:solidFill>
                          <a:latin typeface="Arial"/>
                        </a:rPr>
                        <a:t>5 %</a:t>
                      </a:r>
                    </a:p>
                  </a:txBody>
                  <a:tcPr marL="91440" marR="91440" marT="36576" marB="36576" anchor="ctr">
                    <a:solidFill>
                      <a:srgbClr val="F2E8D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 WORKFLOW DE NOTATION</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Contrepartie et date d'arrêté</a:t>
            </a:r>
            <a:endParaRPr lang="en-US" sz="1500" dirty="0"/>
          </a:p>
          <a:p>
            <a:pPr algn="ctr" indent="0" marL="0">
              <a:buNone/>
            </a:pPr>
            <a:r>
              <a:rPr lang="en-US" sz="1500" dirty="0">
                <a:solidFill>
                  <a:srgbClr val="8C5B52"/>
                </a:solidFill>
              </a:rPr>
              <a:t>Analyste</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Collecte des données</a:t>
            </a:r>
            <a:endParaRPr lang="en-US" sz="1500" dirty="0"/>
          </a:p>
          <a:p>
            <a:pPr algn="ctr" indent="0" marL="0">
              <a:buNone/>
            </a:pPr>
            <a:r>
              <a:rPr lang="en-US" sz="1500" dirty="0">
                <a:solidFill>
                  <a:srgbClr val="8C5B52"/>
                </a:solidFill>
              </a:rPr>
              <a:t>Analyste</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Segment et modèle</a:t>
            </a:r>
            <a:endParaRPr lang="en-US" sz="1500" dirty="0"/>
          </a:p>
          <a:p>
            <a:pPr algn="ctr" indent="0" marL="0">
              <a:buNone/>
            </a:pPr>
            <a:r>
              <a:rPr lang="en-US" sz="1500" dirty="0">
                <a:solidFill>
                  <a:srgbClr val="8C5B52"/>
                </a:solidFill>
              </a:rPr>
              <a:t>Moteur</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Conformité et alertes</a:t>
            </a:r>
            <a:endParaRPr lang="en-US" sz="1500" dirty="0"/>
          </a:p>
          <a:p>
            <a:pPr algn="ctr" indent="0" marL="0">
              <a:buNone/>
            </a:pPr>
            <a:r>
              <a:rPr lang="en-US" sz="1500" dirty="0">
                <a:solidFill>
                  <a:srgbClr val="8C5B52"/>
                </a:solidFill>
              </a:rPr>
              <a:t>Moteur</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Défaut constaté ?</a:t>
            </a:r>
            <a:endParaRPr lang="en-US" sz="1500" dirty="0"/>
          </a:p>
          <a:p>
            <a:pPr algn="ctr" indent="0" marL="0">
              <a:buNone/>
            </a:pPr>
            <a:r>
              <a:rPr lang="en-US" sz="1500" dirty="0">
                <a:solidFill>
                  <a:srgbClr val="8C5B52"/>
                </a:solidFill>
              </a:rPr>
              <a:t>Moteur</a:t>
            </a:r>
            <a:endParaRPr lang="en-US" sz="1500" dirty="0"/>
          </a:p>
        </p:txBody>
      </p:sp>
      <p:sp>
        <p:nvSpPr>
          <p:cNvPr id="19" name="etape-6"/>
          <p:cNvSpPr/>
          <p:nvPr/>
        </p:nvSpPr>
        <p:spPr>
          <a:xfrm>
            <a:off x="457200" y="3749040"/>
            <a:ext cx="2240280" cy="1051560"/>
          </a:xfrm>
          <a:prstGeom prst="chevron">
            <a:avLst/>
          </a:prstGeom>
          <a:solidFill>
            <a:srgbClr val="8C5B52"/>
          </a:solidFill>
          <a:ln/>
        </p:spPr>
      </p:sp>
      <p:sp>
        <p:nvSpPr>
          <p:cNvPr id="20" name="Text 17"/>
          <p:cNvSpPr txBox="1"/>
          <p:nvPr/>
        </p:nvSpPr>
        <p:spPr>
          <a:xfrm>
            <a:off x="868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6</a:t>
            </a:r>
            <a:endParaRPr lang="en-US" sz="2800" dirty="0"/>
          </a:p>
        </p:txBody>
      </p:sp>
      <p:sp>
        <p:nvSpPr>
          <p:cNvPr id="21" name="Text 18"/>
          <p:cNvSpPr txBox="1"/>
          <p:nvPr/>
        </p:nvSpPr>
        <p:spPr>
          <a:xfrm>
            <a:off x="548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Qualité des données</a:t>
            </a:r>
            <a:endParaRPr lang="en-US" sz="1500" dirty="0"/>
          </a:p>
          <a:p>
            <a:pPr algn="ctr" indent="0" marL="0">
              <a:buNone/>
            </a:pPr>
            <a:r>
              <a:rPr lang="en-US" sz="1500" dirty="0">
                <a:solidFill>
                  <a:srgbClr val="8C5B52"/>
                </a:solidFill>
              </a:rPr>
              <a:t>Moteur</a:t>
            </a:r>
            <a:endParaRPr lang="en-US" sz="1500" dirty="0"/>
          </a:p>
        </p:txBody>
      </p:sp>
      <p:sp>
        <p:nvSpPr>
          <p:cNvPr id="22" name="etape-7"/>
          <p:cNvSpPr/>
          <p:nvPr/>
        </p:nvSpPr>
        <p:spPr>
          <a:xfrm>
            <a:off x="2743200" y="3749040"/>
            <a:ext cx="2240280" cy="1051560"/>
          </a:xfrm>
          <a:prstGeom prst="chevron">
            <a:avLst/>
          </a:prstGeom>
          <a:solidFill>
            <a:srgbClr val="8C5B52"/>
          </a:solidFill>
          <a:ln/>
        </p:spPr>
      </p:sp>
      <p:sp>
        <p:nvSpPr>
          <p:cNvPr id="23" name="Text 20"/>
          <p:cNvSpPr txBox="1"/>
          <p:nvPr/>
        </p:nvSpPr>
        <p:spPr>
          <a:xfrm>
            <a:off x="3154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7</a:t>
            </a:r>
            <a:endParaRPr lang="en-US" sz="2800" dirty="0"/>
          </a:p>
        </p:txBody>
      </p:sp>
      <p:sp>
        <p:nvSpPr>
          <p:cNvPr id="24" name="Text 21"/>
          <p:cNvSpPr txBox="1"/>
          <p:nvPr/>
        </p:nvSpPr>
        <p:spPr>
          <a:xfrm>
            <a:off x="2834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Score par critère</a:t>
            </a:r>
            <a:endParaRPr lang="en-US" sz="1500" dirty="0"/>
          </a:p>
          <a:p>
            <a:pPr algn="ctr" indent="0" marL="0">
              <a:buNone/>
            </a:pPr>
            <a:r>
              <a:rPr lang="en-US" sz="1500" dirty="0">
                <a:solidFill>
                  <a:srgbClr val="8C5B52"/>
                </a:solidFill>
              </a:rPr>
              <a:t>Moteur</a:t>
            </a:r>
            <a:endParaRPr lang="en-US" sz="1500" dirty="0"/>
          </a:p>
        </p:txBody>
      </p:sp>
      <p:sp>
        <p:nvSpPr>
          <p:cNvPr id="25" name="etape-8"/>
          <p:cNvSpPr/>
          <p:nvPr/>
        </p:nvSpPr>
        <p:spPr>
          <a:xfrm>
            <a:off x="5029200" y="3749040"/>
            <a:ext cx="2240280" cy="1051560"/>
          </a:xfrm>
          <a:prstGeom prst="chevron">
            <a:avLst/>
          </a:prstGeom>
          <a:solidFill>
            <a:srgbClr val="8C5B52"/>
          </a:solidFill>
          <a:ln/>
        </p:spPr>
      </p:sp>
      <p:sp>
        <p:nvSpPr>
          <p:cNvPr id="26" name="Text 23"/>
          <p:cNvSpPr txBox="1"/>
          <p:nvPr/>
        </p:nvSpPr>
        <p:spPr>
          <a:xfrm>
            <a:off x="5440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8</a:t>
            </a:r>
            <a:endParaRPr lang="en-US" sz="2800" dirty="0"/>
          </a:p>
        </p:txBody>
      </p:sp>
      <p:sp>
        <p:nvSpPr>
          <p:cNvPr id="27" name="Text 24"/>
          <p:cNvSpPr txBox="1"/>
          <p:nvPr/>
        </p:nvSpPr>
        <p:spPr>
          <a:xfrm>
            <a:off x="5120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Grade et exceptions</a:t>
            </a:r>
            <a:endParaRPr lang="en-US" sz="1500" dirty="0"/>
          </a:p>
          <a:p>
            <a:pPr algn="ctr" indent="0" marL="0">
              <a:buNone/>
            </a:pPr>
            <a:r>
              <a:rPr lang="en-US" sz="1500" dirty="0">
                <a:solidFill>
                  <a:srgbClr val="8C5B52"/>
                </a:solidFill>
              </a:rPr>
              <a:t>Moteur</a:t>
            </a:r>
            <a:endParaRPr lang="en-US" sz="1500" dirty="0"/>
          </a:p>
        </p:txBody>
      </p:sp>
      <p:sp>
        <p:nvSpPr>
          <p:cNvPr id="28" name="etape-9"/>
          <p:cNvSpPr/>
          <p:nvPr/>
        </p:nvSpPr>
        <p:spPr>
          <a:xfrm>
            <a:off x="7315200" y="3749040"/>
            <a:ext cx="2240280" cy="1051560"/>
          </a:xfrm>
          <a:prstGeom prst="chevron">
            <a:avLst/>
          </a:prstGeom>
          <a:solidFill>
            <a:srgbClr val="8C5B52"/>
          </a:solidFill>
          <a:ln/>
        </p:spPr>
      </p:sp>
      <p:sp>
        <p:nvSpPr>
          <p:cNvPr id="29" name="Text 26"/>
          <p:cNvSpPr txBox="1"/>
          <p:nvPr/>
        </p:nvSpPr>
        <p:spPr>
          <a:xfrm>
            <a:off x="7726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9</a:t>
            </a:r>
            <a:endParaRPr lang="en-US" sz="2800" dirty="0"/>
          </a:p>
        </p:txBody>
      </p:sp>
      <p:sp>
        <p:nvSpPr>
          <p:cNvPr id="30" name="Text 27"/>
          <p:cNvSpPr txBox="1"/>
          <p:nvPr/>
        </p:nvSpPr>
        <p:spPr>
          <a:xfrm>
            <a:off x="7406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Support groupe</a:t>
            </a:r>
            <a:endParaRPr lang="en-US" sz="1500" dirty="0"/>
          </a:p>
          <a:p>
            <a:pPr algn="ctr" indent="0" marL="0">
              <a:buNone/>
            </a:pPr>
            <a:r>
              <a:rPr lang="en-US" sz="1500" dirty="0">
                <a:solidFill>
                  <a:srgbClr val="8C5B52"/>
                </a:solidFill>
              </a:rPr>
              <a:t>Moteur</a:t>
            </a:r>
            <a:endParaRPr lang="en-US" sz="1500" dirty="0"/>
          </a:p>
        </p:txBody>
      </p:sp>
      <p:sp>
        <p:nvSpPr>
          <p:cNvPr id="31" name="etape-10"/>
          <p:cNvSpPr/>
          <p:nvPr/>
        </p:nvSpPr>
        <p:spPr>
          <a:xfrm>
            <a:off x="9601200" y="3749040"/>
            <a:ext cx="2240280" cy="1051560"/>
          </a:xfrm>
          <a:prstGeom prst="chevron">
            <a:avLst/>
          </a:prstGeom>
          <a:solidFill>
            <a:srgbClr val="8C5B52"/>
          </a:solidFill>
          <a:ln/>
        </p:spPr>
      </p:sp>
      <p:sp>
        <p:nvSpPr>
          <p:cNvPr id="32" name="Text 29"/>
          <p:cNvSpPr txBox="1"/>
          <p:nvPr/>
        </p:nvSpPr>
        <p:spPr>
          <a:xfrm>
            <a:off x="10012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10</a:t>
            </a:r>
            <a:endParaRPr lang="en-US" sz="2800" dirty="0"/>
          </a:p>
        </p:txBody>
      </p:sp>
      <p:sp>
        <p:nvSpPr>
          <p:cNvPr id="33" name="Text 30"/>
          <p:cNvSpPr txBox="1"/>
          <p:nvPr/>
        </p:nvSpPr>
        <p:spPr>
          <a:xfrm>
            <a:off x="9692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Revue et dérogation</a:t>
            </a:r>
            <a:endParaRPr lang="en-US" sz="1500" dirty="0"/>
          </a:p>
          <a:p>
            <a:pPr algn="ctr" indent="0" marL="0">
              <a:buNone/>
            </a:pPr>
            <a:r>
              <a:rPr lang="en-US" sz="1500" dirty="0">
                <a:solidFill>
                  <a:srgbClr val="8C5B52"/>
                </a:solidFill>
              </a:rPr>
              <a:t>Risk manager</a:t>
            </a:r>
            <a:endParaRPr lang="en-US" sz="1500" dirty="0"/>
          </a:p>
        </p:txBody>
      </p:sp>
      <p:sp>
        <p:nvSpPr>
          <p:cNvPr id="34" name="Text 31"/>
          <p:cNvSpPr txBox="1"/>
          <p:nvPr/>
        </p:nvSpPr>
        <p:spPr>
          <a:xfrm>
            <a:off x="457200" y="5989320"/>
            <a:ext cx="11320272" cy="365760"/>
          </a:xfrm>
          <a:prstGeom prst="rect">
            <a:avLst/>
          </a:prstGeom>
          <a:noFill/>
          <a:ln/>
        </p:spPr>
        <p:txBody>
          <a:bodyPr wrap="square" lIns="0" tIns="0" rIns="0" bIns="0" rtlCol="0" anchor="ctr"/>
          <a:lstStyle/>
          <a:p>
            <a:pPr indent="0" marL="0">
              <a:buNone/>
            </a:pPr>
            <a:r>
              <a:rPr lang="en-US" sz="1400" i="1" dirty="0">
                <a:solidFill>
                  <a:srgbClr val="8C5B52"/>
                </a:solidFill>
              </a:rPr>
              <a:t>L'analyste saisit et justifie (1-2), le moteur calcule dans un ordre fixe (3-9), le risque revoit et peut déroger sous double validation (10).</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WORKFLOW (1/2) : AVANT LE CALCUL</a:t>
            </a:r>
            <a:endParaRPr lang="en-US" sz="2400" dirty="0"/>
          </a:p>
        </p:txBody>
      </p:sp>
      <p:sp>
        <p:nvSpPr>
          <p:cNvPr id="4" name="decision-1"/>
          <p:cNvSpPr/>
          <p:nvPr/>
        </p:nvSpPr>
        <p:spPr>
          <a:xfrm>
            <a:off x="457200" y="1280160"/>
            <a:ext cx="11320272" cy="841248"/>
          </a:xfrm>
          <a:prstGeom prst="roundRect">
            <a:avLst>
              <a:gd name="adj" fmla="val 8696"/>
            </a:avLst>
          </a:prstGeom>
          <a:solidFill>
            <a:srgbClr val="F2E8DB"/>
          </a:solidFill>
          <a:ln/>
        </p:spPr>
      </p:sp>
      <p:sp>
        <p:nvSpPr>
          <p:cNvPr id="5" name="Text 2"/>
          <p:cNvSpPr txBox="1"/>
          <p:nvPr/>
        </p:nvSpPr>
        <p:spPr>
          <a:xfrm>
            <a:off x="685800" y="1280160"/>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01</a:t>
            </a:r>
            <a:endParaRPr lang="en-US" sz="2800" dirty="0"/>
          </a:p>
        </p:txBody>
      </p:sp>
      <p:sp>
        <p:nvSpPr>
          <p:cNvPr id="6" name="Text 3"/>
          <p:cNvSpPr txBox="1"/>
          <p:nvPr/>
        </p:nvSpPr>
        <p:spPr>
          <a:xfrm>
            <a:off x="1554480" y="1280160"/>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Contrepartie et date d'arrêté</a:t>
            </a:r>
            <a:r>
              <a:rPr lang="en-US" sz="1600" dirty="0">
                <a:solidFill>
                  <a:srgbClr val="3D3D3B"/>
                </a:solidFill>
              </a:rPr>
              <a:t>  —  Identité, groupe et date d'arrêté sont fixés. Un événement ultérieur donne lieu à une nouvelle notation, jamais à une réécriture.</a:t>
            </a:r>
            <a:endParaRPr lang="en-US" sz="1600" dirty="0"/>
          </a:p>
        </p:txBody>
      </p:sp>
      <p:sp>
        <p:nvSpPr>
          <p:cNvPr id="7" name="decision-2"/>
          <p:cNvSpPr/>
          <p:nvPr/>
        </p:nvSpPr>
        <p:spPr>
          <a:xfrm>
            <a:off x="457200" y="2267712"/>
            <a:ext cx="11320272" cy="841248"/>
          </a:xfrm>
          <a:prstGeom prst="roundRect">
            <a:avLst>
              <a:gd name="adj" fmla="val 8696"/>
            </a:avLst>
          </a:prstGeom>
          <a:solidFill>
            <a:srgbClr val="FBF6F0"/>
          </a:solidFill>
          <a:ln/>
        </p:spPr>
      </p:sp>
      <p:sp>
        <p:nvSpPr>
          <p:cNvPr id="8" name="Text 5"/>
          <p:cNvSpPr txBox="1"/>
          <p:nvPr/>
        </p:nvSpPr>
        <p:spPr>
          <a:xfrm>
            <a:off x="685800" y="2267712"/>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02</a:t>
            </a:r>
            <a:endParaRPr lang="en-US" sz="2800" dirty="0"/>
          </a:p>
        </p:txBody>
      </p:sp>
      <p:sp>
        <p:nvSpPr>
          <p:cNvPr id="9" name="Text 6"/>
          <p:cNvSpPr txBox="1"/>
          <p:nvPr/>
        </p:nvSpPr>
        <p:spPr>
          <a:xfrm>
            <a:off x="1554480" y="2267712"/>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Collecte des données</a:t>
            </a:r>
            <a:r>
              <a:rPr lang="en-US" sz="1600" dirty="0">
                <a:solidFill>
                  <a:srgbClr val="3D3D3B"/>
                </a:solidFill>
              </a:rPr>
              <a:t>  —  Ratios retraités selon une définition unique. Chaque donnée porte un statut : disponible, estimée, manquante ou périmée.</a:t>
            </a:r>
            <a:endParaRPr lang="en-US" sz="1600" dirty="0"/>
          </a:p>
        </p:txBody>
      </p:sp>
      <p:sp>
        <p:nvSpPr>
          <p:cNvPr id="10" name="decision-3"/>
          <p:cNvSpPr/>
          <p:nvPr/>
        </p:nvSpPr>
        <p:spPr>
          <a:xfrm>
            <a:off x="457200" y="3255264"/>
            <a:ext cx="11320272" cy="841248"/>
          </a:xfrm>
          <a:prstGeom prst="roundRect">
            <a:avLst>
              <a:gd name="adj" fmla="val 8696"/>
            </a:avLst>
          </a:prstGeom>
          <a:solidFill>
            <a:srgbClr val="F2E8DB"/>
          </a:solidFill>
          <a:ln/>
        </p:spPr>
      </p:sp>
      <p:sp>
        <p:nvSpPr>
          <p:cNvPr id="11" name="Text 8"/>
          <p:cNvSpPr txBox="1"/>
          <p:nvPr/>
        </p:nvSpPr>
        <p:spPr>
          <a:xfrm>
            <a:off x="685800" y="3255264"/>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03</a:t>
            </a:r>
            <a:endParaRPr lang="en-US" sz="2800" dirty="0"/>
          </a:p>
        </p:txBody>
      </p:sp>
      <p:sp>
        <p:nvSpPr>
          <p:cNvPr id="12" name="Text 9"/>
          <p:cNvSpPr txBox="1"/>
          <p:nvPr/>
        </p:nvSpPr>
        <p:spPr>
          <a:xfrm>
            <a:off x="1554480" y="3255264"/>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Segment et modèle</a:t>
            </a:r>
            <a:r>
              <a:rPr lang="en-US" sz="1600" dirty="0">
                <a:solidFill>
                  <a:srgbClr val="3D3D3B"/>
                </a:solidFill>
              </a:rPr>
              <a:t>  —  Le segment est calculé et désigne la grille. Un écart avec le segment déclaré est signalé.</a:t>
            </a:r>
            <a:endParaRPr lang="en-US" sz="1600" dirty="0"/>
          </a:p>
        </p:txBody>
      </p:sp>
      <p:sp>
        <p:nvSpPr>
          <p:cNvPr id="13" name="decision-4"/>
          <p:cNvSpPr/>
          <p:nvPr/>
        </p:nvSpPr>
        <p:spPr>
          <a:xfrm>
            <a:off x="457200" y="4242816"/>
            <a:ext cx="11320272" cy="841248"/>
          </a:xfrm>
          <a:prstGeom prst="roundRect">
            <a:avLst>
              <a:gd name="adj" fmla="val 8696"/>
            </a:avLst>
          </a:prstGeom>
          <a:solidFill>
            <a:srgbClr val="FBF6F0"/>
          </a:solidFill>
          <a:ln/>
        </p:spPr>
      </p:sp>
      <p:sp>
        <p:nvSpPr>
          <p:cNvPr id="14" name="Text 11"/>
          <p:cNvSpPr txBox="1"/>
          <p:nvPr/>
        </p:nvSpPr>
        <p:spPr>
          <a:xfrm>
            <a:off x="685800" y="4242816"/>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04</a:t>
            </a:r>
            <a:endParaRPr lang="en-US" sz="2800" dirty="0"/>
          </a:p>
        </p:txBody>
      </p:sp>
      <p:sp>
        <p:nvSpPr>
          <p:cNvPr id="15" name="Text 12"/>
          <p:cNvSpPr txBox="1"/>
          <p:nvPr/>
        </p:nvSpPr>
        <p:spPr>
          <a:xfrm>
            <a:off x="1554480" y="4242816"/>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Conformité et alertes</a:t>
            </a:r>
            <a:r>
              <a:rPr lang="en-US" sz="1600" dirty="0">
                <a:solidFill>
                  <a:srgbClr val="3D3D3B"/>
                </a:solidFill>
              </a:rPr>
              <a:t>  —  18 signaux contrôlés. Un blocage conformité restreint l'usage de la note sans la diluer dans le score.</a:t>
            </a:r>
            <a:endParaRPr lang="en-US" sz="1600" dirty="0"/>
          </a:p>
        </p:txBody>
      </p:sp>
      <p:sp>
        <p:nvSpPr>
          <p:cNvPr id="16" name="decision-5"/>
          <p:cNvSpPr/>
          <p:nvPr/>
        </p:nvSpPr>
        <p:spPr>
          <a:xfrm>
            <a:off x="457200" y="5230368"/>
            <a:ext cx="11320272" cy="841248"/>
          </a:xfrm>
          <a:prstGeom prst="roundRect">
            <a:avLst>
              <a:gd name="adj" fmla="val 8696"/>
            </a:avLst>
          </a:prstGeom>
          <a:solidFill>
            <a:srgbClr val="F2E8DB"/>
          </a:solidFill>
          <a:ln/>
        </p:spPr>
      </p:sp>
      <p:sp>
        <p:nvSpPr>
          <p:cNvPr id="17" name="Text 14"/>
          <p:cNvSpPr txBox="1"/>
          <p:nvPr/>
        </p:nvSpPr>
        <p:spPr>
          <a:xfrm>
            <a:off x="685800" y="5230368"/>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05</a:t>
            </a:r>
            <a:endParaRPr lang="en-US" sz="2800" dirty="0"/>
          </a:p>
        </p:txBody>
      </p:sp>
      <p:sp>
        <p:nvSpPr>
          <p:cNvPr id="18" name="Text 15"/>
          <p:cNvSpPr txBox="1"/>
          <p:nvPr/>
        </p:nvSpPr>
        <p:spPr>
          <a:xfrm>
            <a:off x="1554480" y="5230368"/>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Défaut constaté ?</a:t>
            </a:r>
            <a:r>
              <a:rPr lang="en-US" sz="1600" dirty="0">
                <a:solidFill>
                  <a:srgbClr val="3D3D3B"/>
                </a:solidFill>
              </a:rPr>
              <a:t>  —  Si le défaut est avéré (retard, restructuration, procédure), le grade DEF1 à DEF3 s'impose, quel que soit le score.</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WORKFLOW (2/2) : CALCUL ET VALIDATION</a:t>
            </a:r>
            <a:endParaRPr lang="en-US" sz="2400" dirty="0"/>
          </a:p>
        </p:txBody>
      </p:sp>
      <p:sp>
        <p:nvSpPr>
          <p:cNvPr id="4" name="decision-1"/>
          <p:cNvSpPr/>
          <p:nvPr/>
        </p:nvSpPr>
        <p:spPr>
          <a:xfrm>
            <a:off x="457200" y="1280160"/>
            <a:ext cx="11320272" cy="841248"/>
          </a:xfrm>
          <a:prstGeom prst="roundRect">
            <a:avLst>
              <a:gd name="adj" fmla="val 8696"/>
            </a:avLst>
          </a:prstGeom>
          <a:solidFill>
            <a:srgbClr val="F2E8DB"/>
          </a:solidFill>
          <a:ln/>
        </p:spPr>
      </p:sp>
      <p:sp>
        <p:nvSpPr>
          <p:cNvPr id="5" name="Text 2"/>
          <p:cNvSpPr txBox="1"/>
          <p:nvPr/>
        </p:nvSpPr>
        <p:spPr>
          <a:xfrm>
            <a:off x="685800" y="1280160"/>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06</a:t>
            </a:r>
            <a:endParaRPr lang="en-US" sz="2800" dirty="0"/>
          </a:p>
        </p:txBody>
      </p:sp>
      <p:sp>
        <p:nvSpPr>
          <p:cNvPr id="6" name="Text 3"/>
          <p:cNvSpPr txBox="1"/>
          <p:nvPr/>
        </p:nvSpPr>
        <p:spPr>
          <a:xfrm>
            <a:off x="1554480" y="1280160"/>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Qualité des données</a:t>
            </a:r>
            <a:r>
              <a:rPr lang="en-US" sz="1600" dirty="0">
                <a:solidFill>
                  <a:srgbClr val="3D3D3B"/>
                </a:solidFill>
              </a:rPr>
              <a:t>  —  Au moins 60 % du poids doit reposer sur des données observées (30 % par domaine), sinon aucun grade : le dossier est à compléter.</a:t>
            </a:r>
            <a:endParaRPr lang="en-US" sz="1600" dirty="0"/>
          </a:p>
        </p:txBody>
      </p:sp>
      <p:sp>
        <p:nvSpPr>
          <p:cNvPr id="7" name="decision-2"/>
          <p:cNvSpPr/>
          <p:nvPr/>
        </p:nvSpPr>
        <p:spPr>
          <a:xfrm>
            <a:off x="457200" y="2267712"/>
            <a:ext cx="11320272" cy="841248"/>
          </a:xfrm>
          <a:prstGeom prst="roundRect">
            <a:avLst>
              <a:gd name="adj" fmla="val 8696"/>
            </a:avLst>
          </a:prstGeom>
          <a:solidFill>
            <a:srgbClr val="FBF6F0"/>
          </a:solidFill>
          <a:ln/>
        </p:spPr>
      </p:sp>
      <p:sp>
        <p:nvSpPr>
          <p:cNvPr id="8" name="Text 5"/>
          <p:cNvSpPr txBox="1"/>
          <p:nvPr/>
        </p:nvSpPr>
        <p:spPr>
          <a:xfrm>
            <a:off x="685800" y="2267712"/>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07</a:t>
            </a:r>
            <a:endParaRPr lang="en-US" sz="2800" dirty="0"/>
          </a:p>
        </p:txBody>
      </p:sp>
      <p:sp>
        <p:nvSpPr>
          <p:cNvPr id="9" name="Text 6"/>
          <p:cNvSpPr txBox="1"/>
          <p:nvPr/>
        </p:nvSpPr>
        <p:spPr>
          <a:xfrm>
            <a:off x="1554480" y="2267712"/>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Score par critère</a:t>
            </a:r>
            <a:r>
              <a:rPr lang="en-US" sz="1600" dirty="0">
                <a:solidFill>
                  <a:srgbClr val="3D3D3B"/>
                </a:solidFill>
              </a:rPr>
              <a:t>  —  Chaque critère est noté de 0 à 100 sur un barème ou des repères écrits, puis agrégé à poids constant.</a:t>
            </a:r>
            <a:endParaRPr lang="en-US" sz="1600" dirty="0"/>
          </a:p>
        </p:txBody>
      </p:sp>
      <p:sp>
        <p:nvSpPr>
          <p:cNvPr id="10" name="decision-3"/>
          <p:cNvSpPr/>
          <p:nvPr/>
        </p:nvSpPr>
        <p:spPr>
          <a:xfrm>
            <a:off x="457200" y="3255264"/>
            <a:ext cx="11320272" cy="841248"/>
          </a:xfrm>
          <a:prstGeom prst="roundRect">
            <a:avLst>
              <a:gd name="adj" fmla="val 8696"/>
            </a:avLst>
          </a:prstGeom>
          <a:solidFill>
            <a:srgbClr val="F2E8DB"/>
          </a:solidFill>
          <a:ln/>
        </p:spPr>
      </p:sp>
      <p:sp>
        <p:nvSpPr>
          <p:cNvPr id="11" name="Text 8"/>
          <p:cNvSpPr txBox="1"/>
          <p:nvPr/>
        </p:nvSpPr>
        <p:spPr>
          <a:xfrm>
            <a:off x="685800" y="3255264"/>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08</a:t>
            </a:r>
            <a:endParaRPr lang="en-US" sz="2800" dirty="0"/>
          </a:p>
        </p:txBody>
      </p:sp>
      <p:sp>
        <p:nvSpPr>
          <p:cNvPr id="12" name="Text 9"/>
          <p:cNvSpPr txBox="1"/>
          <p:nvPr/>
        </p:nvSpPr>
        <p:spPr>
          <a:xfrm>
            <a:off x="1554480" y="3255264"/>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Grade et exceptions</a:t>
            </a:r>
            <a:r>
              <a:rPr lang="en-US" sz="1600" dirty="0">
                <a:solidFill>
                  <a:srgbClr val="3D3D3B"/>
                </a:solidFill>
              </a:rPr>
              <a:t>  —  Le score donne le grade. Quatre situations graves le plafonnent ensuite, sans toucher au score (ex. DSCR &lt; 1 : au mieux STD-P7).</a:t>
            </a:r>
            <a:endParaRPr lang="en-US" sz="1600" dirty="0"/>
          </a:p>
        </p:txBody>
      </p:sp>
      <p:sp>
        <p:nvSpPr>
          <p:cNvPr id="13" name="decision-4"/>
          <p:cNvSpPr/>
          <p:nvPr/>
        </p:nvSpPr>
        <p:spPr>
          <a:xfrm>
            <a:off x="457200" y="4242816"/>
            <a:ext cx="11320272" cy="841248"/>
          </a:xfrm>
          <a:prstGeom prst="roundRect">
            <a:avLst>
              <a:gd name="adj" fmla="val 8696"/>
            </a:avLst>
          </a:prstGeom>
          <a:solidFill>
            <a:srgbClr val="FBF6F0"/>
          </a:solidFill>
          <a:ln/>
        </p:spPr>
      </p:sp>
      <p:sp>
        <p:nvSpPr>
          <p:cNvPr id="14" name="Text 11"/>
          <p:cNvSpPr txBox="1"/>
          <p:nvPr/>
        </p:nvSpPr>
        <p:spPr>
          <a:xfrm>
            <a:off x="685800" y="4242816"/>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09</a:t>
            </a:r>
            <a:endParaRPr lang="en-US" sz="2800" dirty="0"/>
          </a:p>
        </p:txBody>
      </p:sp>
      <p:sp>
        <p:nvSpPr>
          <p:cNvPr id="15" name="Text 12"/>
          <p:cNvSpPr txBox="1"/>
          <p:nvPr/>
        </p:nvSpPr>
        <p:spPr>
          <a:xfrm>
            <a:off x="1554480" y="4242816"/>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Support groupe</a:t>
            </a:r>
            <a:r>
              <a:rPr lang="en-US" sz="1600" dirty="0">
                <a:solidFill>
                  <a:srgbClr val="3D3D3B"/>
                </a:solidFill>
              </a:rPr>
              <a:t>  —  La note autonome est conservée. Relèvement de 2 crans au plus, seulement si les 4 conditions sont documentées.</a:t>
            </a:r>
            <a:endParaRPr lang="en-US" sz="1600" dirty="0"/>
          </a:p>
        </p:txBody>
      </p:sp>
      <p:sp>
        <p:nvSpPr>
          <p:cNvPr id="16" name="decision-5"/>
          <p:cNvSpPr/>
          <p:nvPr/>
        </p:nvSpPr>
        <p:spPr>
          <a:xfrm>
            <a:off x="457200" y="5230368"/>
            <a:ext cx="11320272" cy="841248"/>
          </a:xfrm>
          <a:prstGeom prst="roundRect">
            <a:avLst>
              <a:gd name="adj" fmla="val 8696"/>
            </a:avLst>
          </a:prstGeom>
          <a:solidFill>
            <a:srgbClr val="F2E8DB"/>
          </a:solidFill>
          <a:ln/>
        </p:spPr>
      </p:sp>
      <p:sp>
        <p:nvSpPr>
          <p:cNvPr id="17" name="Text 14"/>
          <p:cNvSpPr txBox="1"/>
          <p:nvPr/>
        </p:nvSpPr>
        <p:spPr>
          <a:xfrm>
            <a:off x="685800" y="5230368"/>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10</a:t>
            </a:r>
            <a:endParaRPr lang="en-US" sz="2800" dirty="0"/>
          </a:p>
        </p:txBody>
      </p:sp>
      <p:sp>
        <p:nvSpPr>
          <p:cNvPr id="18" name="Text 15"/>
          <p:cNvSpPr txBox="1"/>
          <p:nvPr/>
        </p:nvSpPr>
        <p:spPr>
          <a:xfrm>
            <a:off x="1554480" y="5230368"/>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Revue et dérogation</a:t>
            </a:r>
            <a:r>
              <a:rPr lang="en-US" sz="1600" dirty="0">
                <a:solidFill>
                  <a:srgbClr val="3D3D3B"/>
                </a:solidFill>
              </a:rPr>
              <a:t>  —  Le résultat est figé et rejouable. Une dérogation de ±2 crans au plus exige un motif et une seconde validation.</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DU SCORE AU GRADE</a:t>
            </a:r>
            <a:endParaRPr lang="en-US" sz="2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Le grade de défaut (DEF1 à DEF3) ne vient jamais du score : c'est un constat.</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graphicFrame>
        <p:nvGraphicFramePr>
          <p:cNvPr id="26" name="tableau"/>
          <p:cNvGraphicFramePr>
            <a:graphicFrameLocks noGrp="1"/>
          </p:cNvGraphicFramePr>
          <p:nvPr/>
        </p:nvGraphicFramePr>
        <p:xfrm>
          <a:off x="457200" y="1280160"/>
          <a:ext cx="5120640" cy="4114800"/>
        </p:xfrm>
        <a:graphic>
          <a:graphicData uri="http://schemas.openxmlformats.org/drawingml/2006/table">
            <a:tbl>
              <a:tblPr firstRow="0" bandRow="0"/>
              <a:tblGrid>
                <a:gridCol w="1463040"/>
                <a:gridCol w="1737360"/>
                <a:gridCol w="1920240"/>
              </a:tblGrid>
              <a:tr h="457200">
                <a:tc>
                  <a:txBody>
                    <a:bodyPr wrap="square"/>
                    <a:lstStyle/>
                    <a:p>
                      <a:pPr algn="l"/>
                      <a:r>
                        <a:rPr sz="1300" b="1">
                          <a:solidFill>
                            <a:srgbClr val="FFFFFF"/>
                          </a:solidFill>
                          <a:latin typeface="Arial"/>
                        </a:rPr>
                        <a:t>Grade</a:t>
                      </a:r>
                    </a:p>
                  </a:txBody>
                  <a:tcPr marL="91440" marR="91440" marT="36576" marB="36576" anchor="ctr">
                    <a:solidFill>
                      <a:srgbClr val="E37B05"/>
                    </a:solidFill>
                  </a:tcPr>
                </a:tc>
                <a:tc>
                  <a:txBody>
                    <a:bodyPr wrap="square"/>
                    <a:lstStyle/>
                    <a:p>
                      <a:pPr algn="ctr"/>
                      <a:r>
                        <a:rPr sz="1300" b="1">
                          <a:solidFill>
                            <a:srgbClr val="FFFFFF"/>
                          </a:solidFill>
                          <a:latin typeface="Arial"/>
                        </a:rPr>
                        <a:t>Score brut</a:t>
                      </a:r>
                    </a:p>
                  </a:txBody>
                  <a:tcPr marL="91440" marR="91440" marT="36576" marB="36576" anchor="ctr">
                    <a:solidFill>
                      <a:srgbClr val="E37B05"/>
                    </a:solidFill>
                  </a:tcPr>
                </a:tc>
                <a:tc>
                  <a:txBody>
                    <a:bodyPr wrap="square"/>
                    <a:lstStyle/>
                    <a:p>
                      <a:pPr algn="l"/>
                      <a:r>
                        <a:rPr sz="1300" b="1">
                          <a:solidFill>
                            <a:srgbClr val="FFFFFF"/>
                          </a:solidFill>
                          <a:latin typeface="Arial"/>
                        </a:rPr>
                        <a:t>Lecture</a:t>
                      </a:r>
                    </a:p>
                  </a:txBody>
                  <a:tcPr marL="91440" marR="91440" marT="36576" marB="36576" anchor="ctr">
                    <a:solidFill>
                      <a:srgbClr val="E37B05"/>
                    </a:solidFill>
                  </a:tcPr>
                </a:tc>
              </a:tr>
              <a:tr h="457200">
                <a:tc>
                  <a:txBody>
                    <a:bodyPr wrap="square"/>
                    <a:lstStyle/>
                    <a:p>
                      <a:pPr algn="l"/>
                      <a:r>
                        <a:rPr sz="1300" b="1">
                          <a:solidFill>
                            <a:srgbClr val="462016"/>
                          </a:solidFill>
                          <a:latin typeface="Arial"/>
                        </a:rPr>
                        <a:t>STD-P1</a:t>
                      </a:r>
                    </a:p>
                  </a:txBody>
                  <a:tcPr marL="91440" marR="91440" marT="36576" marB="36576" anchor="ctr">
                    <a:solidFill>
                      <a:srgbClr val="F2E8DB"/>
                    </a:solidFill>
                  </a:tcPr>
                </a:tc>
                <a:tc>
                  <a:txBody>
                    <a:bodyPr wrap="square"/>
                    <a:lstStyle/>
                    <a:p>
                      <a:pPr algn="ctr"/>
                      <a:r>
                        <a:rPr sz="1300" b="0">
                          <a:solidFill>
                            <a:srgbClr val="3D3D3B"/>
                          </a:solidFill>
                          <a:latin typeface="Arial"/>
                        </a:rPr>
                        <a:t>88 et plus</a:t>
                      </a:r>
                    </a:p>
                  </a:txBody>
                  <a:tcPr marL="91440" marR="91440" marT="36576" marB="36576" anchor="ctr">
                    <a:solidFill>
                      <a:srgbClr val="F2E8DB"/>
                    </a:solidFill>
                  </a:tcPr>
                </a:tc>
                <a:tc>
                  <a:txBody>
                    <a:bodyPr wrap="square"/>
                    <a:lstStyle/>
                    <a:p>
                      <a:pPr algn="l"/>
                      <a:r>
                        <a:rPr sz="1300" b="0">
                          <a:solidFill>
                            <a:srgbClr val="3D3D3B"/>
                          </a:solidFill>
                          <a:latin typeface="Arial"/>
                        </a:rPr>
                        <a:t>Très solide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STD-P2</a:t>
                      </a:r>
                    </a:p>
                  </a:txBody>
                  <a:tcPr marL="91440" marR="91440" marT="36576" marB="36576" anchor="ctr">
                    <a:solidFill>
                      <a:srgbClr val="FBF6F0"/>
                    </a:solidFill>
                  </a:tcPr>
                </a:tc>
                <a:tc>
                  <a:txBody>
                    <a:bodyPr wrap="square"/>
                    <a:lstStyle/>
                    <a:p>
                      <a:pPr algn="ctr"/>
                      <a:r>
                        <a:rPr sz="1300" b="0">
                          <a:solidFill>
                            <a:srgbClr val="3D3D3B"/>
                          </a:solidFill>
                          <a:latin typeface="Arial"/>
                        </a:rPr>
                        <a:t>82 à 88</a:t>
                      </a:r>
                    </a:p>
                  </a:txBody>
                  <a:tcPr marL="91440" marR="91440" marT="36576" marB="36576" anchor="ctr">
                    <a:solidFill>
                      <a:srgbClr val="FBF6F0"/>
                    </a:solidFill>
                  </a:tcPr>
                </a:tc>
                <a:tc>
                  <a:txBody>
                    <a:bodyPr wrap="square"/>
                    <a:lstStyle/>
                    <a:p>
                      <a:pPr algn="l"/>
                      <a:r>
                        <a:rPr sz="1300" b="0">
                          <a:solidFill>
                            <a:srgbClr val="3D3D3B"/>
                          </a:solidFill>
                          <a:latin typeface="Arial"/>
                        </a:rPr>
                        <a:t>Solide</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STD-P3</a:t>
                      </a:r>
                    </a:p>
                  </a:txBody>
                  <a:tcPr marL="91440" marR="91440" marT="36576" marB="36576" anchor="ctr">
                    <a:solidFill>
                      <a:srgbClr val="F2E8DB"/>
                    </a:solidFill>
                  </a:tcPr>
                </a:tc>
                <a:tc>
                  <a:txBody>
                    <a:bodyPr wrap="square"/>
                    <a:lstStyle/>
                    <a:p>
                      <a:pPr algn="ctr"/>
                      <a:r>
                        <a:rPr sz="1300" b="0">
                          <a:solidFill>
                            <a:srgbClr val="3D3D3B"/>
                          </a:solidFill>
                          <a:latin typeface="Arial"/>
                        </a:rPr>
                        <a:t>76 à 82</a:t>
                      </a:r>
                    </a:p>
                  </a:txBody>
                  <a:tcPr marL="91440" marR="91440" marT="36576" marB="36576" anchor="ctr">
                    <a:solidFill>
                      <a:srgbClr val="F2E8DB"/>
                    </a:solidFill>
                  </a:tcPr>
                </a:tc>
                <a:tc>
                  <a:txBody>
                    <a:bodyPr wrap="square"/>
                    <a:lstStyle/>
                    <a:p>
                      <a:pPr algn="l"/>
                      <a:r>
                        <a:rPr sz="1300" b="0">
                          <a:solidFill>
                            <a:srgbClr val="3D3D3B"/>
                          </a:solidFill>
                          <a:latin typeface="Arial"/>
                        </a:rPr>
                        <a:t>Bon</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STD-P4</a:t>
                      </a:r>
                    </a:p>
                  </a:txBody>
                  <a:tcPr marL="91440" marR="91440" marT="36576" marB="36576" anchor="ctr">
                    <a:solidFill>
                      <a:srgbClr val="FBF6F0"/>
                    </a:solidFill>
                  </a:tcPr>
                </a:tc>
                <a:tc>
                  <a:txBody>
                    <a:bodyPr wrap="square"/>
                    <a:lstStyle/>
                    <a:p>
                      <a:pPr algn="ctr"/>
                      <a:r>
                        <a:rPr sz="1300" b="0">
                          <a:solidFill>
                            <a:srgbClr val="3D3D3B"/>
                          </a:solidFill>
                          <a:latin typeface="Arial"/>
                        </a:rPr>
                        <a:t>70 à 76</a:t>
                      </a:r>
                    </a:p>
                  </a:txBody>
                  <a:tcPr marL="91440" marR="91440" marT="36576" marB="36576" anchor="ctr">
                    <a:solidFill>
                      <a:srgbClr val="FBF6F0"/>
                    </a:solidFill>
                  </a:tcPr>
                </a:tc>
                <a:tc>
                  <a:txBody>
                    <a:bodyPr wrap="square"/>
                    <a:lstStyle/>
                    <a:p>
                      <a:pPr algn="l"/>
                      <a:r>
                        <a:rPr sz="1300" b="0">
                          <a:solidFill>
                            <a:srgbClr val="3D3D3B"/>
                          </a:solidFill>
                          <a:latin typeface="Arial"/>
                        </a:rPr>
                        <a:t>Satisfaisant</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STD-P5</a:t>
                      </a:r>
                    </a:p>
                  </a:txBody>
                  <a:tcPr marL="91440" marR="91440" marT="36576" marB="36576" anchor="ctr">
                    <a:solidFill>
                      <a:srgbClr val="F2E8DB"/>
                    </a:solidFill>
                  </a:tcPr>
                </a:tc>
                <a:tc>
                  <a:txBody>
                    <a:bodyPr wrap="square"/>
                    <a:lstStyle/>
                    <a:p>
                      <a:pPr algn="ctr"/>
                      <a:r>
                        <a:rPr sz="1300" b="0">
                          <a:solidFill>
                            <a:srgbClr val="3D3D3B"/>
                          </a:solidFill>
                          <a:latin typeface="Arial"/>
                        </a:rPr>
                        <a:t>64 à 70</a:t>
                      </a:r>
                    </a:p>
                  </a:txBody>
                  <a:tcPr marL="91440" marR="91440" marT="36576" marB="36576" anchor="ctr">
                    <a:solidFill>
                      <a:srgbClr val="F2E8DB"/>
                    </a:solidFill>
                  </a:tcPr>
                </a:tc>
                <a:tc>
                  <a:txBody>
                    <a:bodyPr wrap="square"/>
                    <a:lstStyle/>
                    <a:p>
                      <a:pPr algn="l"/>
                      <a:r>
                        <a:rPr sz="1300" b="0">
                          <a:solidFill>
                            <a:srgbClr val="3D3D3B"/>
                          </a:solidFill>
                          <a:latin typeface="Arial"/>
                        </a:rPr>
                        <a:t>Acceptable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STD-P6</a:t>
                      </a:r>
                    </a:p>
                  </a:txBody>
                  <a:tcPr marL="91440" marR="91440" marT="36576" marB="36576" anchor="ctr">
                    <a:solidFill>
                      <a:srgbClr val="FBF6F0"/>
                    </a:solidFill>
                  </a:tcPr>
                </a:tc>
                <a:tc>
                  <a:txBody>
                    <a:bodyPr wrap="square"/>
                    <a:lstStyle/>
                    <a:p>
                      <a:pPr algn="ctr"/>
                      <a:r>
                        <a:rPr sz="1300" b="0">
                          <a:solidFill>
                            <a:srgbClr val="3D3D3B"/>
                          </a:solidFill>
                          <a:latin typeface="Arial"/>
                        </a:rPr>
                        <a:t>57 à 64</a:t>
                      </a:r>
                    </a:p>
                  </a:txBody>
                  <a:tcPr marL="91440" marR="91440" marT="36576" marB="36576" anchor="ctr">
                    <a:solidFill>
                      <a:srgbClr val="FBF6F0"/>
                    </a:solidFill>
                  </a:tcPr>
                </a:tc>
                <a:tc>
                  <a:txBody>
                    <a:bodyPr wrap="square"/>
                    <a:lstStyle/>
                    <a:p>
                      <a:pPr algn="l"/>
                      <a:r>
                        <a:rPr sz="1300" b="0">
                          <a:solidFill>
                            <a:srgbClr val="3D3D3B"/>
                          </a:solidFill>
                          <a:latin typeface="Arial"/>
                        </a:rPr>
                        <a:t>Fragile</a:t>
                      </a:r>
                    </a:p>
                  </a:txBody>
                  <a:tcPr marL="91440" marR="91440" marT="36576" marB="36576" anchor="ctr">
                    <a:solidFill>
                      <a:srgbClr val="FBF6F0"/>
                    </a:solidFill>
                  </a:tcPr>
                </a:tc>
              </a:tr>
              <a:tr h="457200">
                <a:tc>
                  <a:txBody>
                    <a:bodyPr wrap="square"/>
                    <a:lstStyle/>
                    <a:p>
                      <a:pPr algn="l"/>
                      <a:r>
                        <a:rPr sz="1300" b="1">
                          <a:solidFill>
                            <a:srgbClr val="462016"/>
                          </a:solidFill>
                          <a:latin typeface="Arial"/>
                        </a:rPr>
                        <a:t>STD-P7</a:t>
                      </a:r>
                    </a:p>
                  </a:txBody>
                  <a:tcPr marL="91440" marR="91440" marT="36576" marB="36576" anchor="ctr">
                    <a:solidFill>
                      <a:srgbClr val="F2E8DB"/>
                    </a:solidFill>
                  </a:tcPr>
                </a:tc>
                <a:tc>
                  <a:txBody>
                    <a:bodyPr wrap="square"/>
                    <a:lstStyle/>
                    <a:p>
                      <a:pPr algn="ctr"/>
                      <a:r>
                        <a:rPr sz="1300" b="0">
                          <a:solidFill>
                            <a:srgbClr val="3D3D3B"/>
                          </a:solidFill>
                          <a:latin typeface="Arial"/>
                        </a:rPr>
                        <a:t>48 à 57</a:t>
                      </a:r>
                    </a:p>
                  </a:txBody>
                  <a:tcPr marL="91440" marR="91440" marT="36576" marB="36576" anchor="ctr">
                    <a:solidFill>
                      <a:srgbClr val="F2E8DB"/>
                    </a:solidFill>
                  </a:tcPr>
                </a:tc>
                <a:tc>
                  <a:txBody>
                    <a:bodyPr wrap="square"/>
                    <a:lstStyle/>
                    <a:p>
                      <a:pPr algn="l"/>
                      <a:r>
                        <a:rPr sz="1300" b="0">
                          <a:solidFill>
                            <a:srgbClr val="3D3D3B"/>
                          </a:solidFill>
                          <a:latin typeface="Arial"/>
                        </a:rPr>
                        <a:t>Faible</a:t>
                      </a:r>
                    </a:p>
                  </a:txBody>
                  <a:tcPr marL="91440" marR="91440" marT="36576" marB="36576" anchor="ctr">
                    <a:solidFill>
                      <a:srgbClr val="F2E8DB"/>
                    </a:solidFill>
                  </a:tcPr>
                </a:tc>
              </a:tr>
              <a:tr h="457200">
                <a:tc>
                  <a:txBody>
                    <a:bodyPr wrap="square"/>
                    <a:lstStyle/>
                    <a:p>
                      <a:pPr algn="l"/>
                      <a:r>
                        <a:rPr sz="1300" b="1">
                          <a:solidFill>
                            <a:srgbClr val="462016"/>
                          </a:solidFill>
                          <a:latin typeface="Arial"/>
                        </a:rPr>
                        <a:t>STD-P8</a:t>
                      </a:r>
                    </a:p>
                  </a:txBody>
                  <a:tcPr marL="91440" marR="91440" marT="36576" marB="36576" anchor="ctr">
                    <a:solidFill>
                      <a:srgbClr val="FBF6F0"/>
                    </a:solidFill>
                  </a:tcPr>
                </a:tc>
                <a:tc>
                  <a:txBody>
                    <a:bodyPr wrap="square"/>
                    <a:lstStyle/>
                    <a:p>
                      <a:pPr algn="ctr"/>
                      <a:r>
                        <a:rPr sz="1300" b="0">
                          <a:solidFill>
                            <a:srgbClr val="3D3D3B"/>
                          </a:solidFill>
                          <a:latin typeface="Arial"/>
                        </a:rPr>
                        <a:t>moins de 48</a:t>
                      </a:r>
                    </a:p>
                  </a:txBody>
                  <a:tcPr marL="91440" marR="91440" marT="36576" marB="36576" anchor="ctr">
                    <a:solidFill>
                      <a:srgbClr val="FBF6F0"/>
                    </a:solidFill>
                  </a:tcPr>
                </a:tc>
                <a:tc>
                  <a:txBody>
                    <a:bodyPr wrap="square"/>
                    <a:lstStyle/>
                    <a:p>
                      <a:pPr algn="l"/>
                      <a:r>
                        <a:rPr sz="1300" b="0">
                          <a:solidFill>
                            <a:srgbClr val="3D3D3B"/>
                          </a:solidFill>
                          <a:latin typeface="Arial"/>
                        </a:rPr>
                        <a:t>Très faible</a:t>
                      </a:r>
                    </a:p>
                  </a:txBody>
                  <a:tcPr marL="91440" marR="91440" marT="36576" marB="36576" anchor="ctr">
                    <a:solidFill>
                      <a:srgbClr val="FBF6F0"/>
                    </a:solidFill>
                  </a:tcPr>
                </a:tc>
              </a:tr>
            </a:tbl>
          </a:graphicData>
        </a:graphic>
      </p:graphicFrame>
      <p:sp>
        <p:nvSpPr>
          <p:cNvPr id="27" name="encadre"/>
          <p:cNvSpPr/>
          <p:nvPr/>
        </p:nvSpPr>
        <p:spPr>
          <a:xfrm>
            <a:off x="5943600" y="1280160"/>
            <a:ext cx="5788152" cy="411480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e"/>
          <p:cNvSpPr txBox="1"/>
          <p:nvPr/>
        </p:nvSpPr>
        <p:spPr>
          <a:xfrm>
            <a:off x="6217920" y="1508760"/>
            <a:ext cx="5239512" cy="3657600"/>
          </a:xfrm>
          <a:prstGeom prst="rect">
            <a:avLst/>
          </a:prstGeom>
          <a:noFill/>
        </p:spPr>
        <p:txBody>
          <a:bodyPr wrap="square">
            <a:spAutoFit/>
          </a:bodyPr>
          <a:lstStyle/>
          <a:p>
            <a:pPr>
              <a:spcAft>
                <a:spcPts val="800"/>
              </a:spcAft>
            </a:pPr>
            <a:r>
              <a:rPr sz="1800" b="1">
                <a:solidFill>
                  <a:srgbClr val="462016"/>
                </a:solidFill>
                <a:latin typeface="Arial"/>
              </a:rPr>
              <a:t>Comment lire la note</a:t>
            </a:r>
          </a:p>
          <a:p>
            <a:pPr>
              <a:spcAft>
                <a:spcPts val="900"/>
              </a:spcAft>
            </a:pPr>
            <a:r>
              <a:rPr sz="1400">
                <a:solidFill>
                  <a:srgbClr val="3D3D3B"/>
                </a:solidFill>
                <a:latin typeface="Arial"/>
              </a:rPr>
              <a:t>Le score brut est la moyenne pondérée des critères, sur 100.</a:t>
            </a:r>
          </a:p>
          <a:p>
            <a:pPr>
              <a:spcAft>
                <a:spcPts val="900"/>
              </a:spcAft>
            </a:pPr>
            <a:r>
              <a:rPr sz="1400">
                <a:solidFill>
                  <a:srgbClr val="3D3D3B"/>
                </a:solidFill>
                <a:latin typeface="Arial"/>
              </a:rPr>
              <a:t>Le grade suit des bornes fixes, propres au modèle standard.</a:t>
            </a:r>
          </a:p>
          <a:p>
            <a:pPr>
              <a:spcAft>
                <a:spcPts val="900"/>
              </a:spcAft>
            </a:pPr>
            <a:r>
              <a:rPr sz="1400">
                <a:solidFill>
                  <a:srgbClr val="3D3D3B"/>
                </a:solidFill>
                <a:latin typeface="Arial"/>
              </a:rPr>
              <a:t>Le modèle comportemental a sa propre échelle (TPE-B1 à B6) : les deux ne se comparent pas sans table de correspondance.</a:t>
            </a:r>
          </a:p>
          <a:p>
            <a:pPr>
              <a:spcAft>
                <a:spcPts val="900"/>
              </a:spcAft>
            </a:pPr>
            <a:r>
              <a:rPr sz="1400">
                <a:solidFill>
                  <a:srgbClr val="3D3D3B"/>
                </a:solidFill>
                <a:latin typeface="Arial"/>
              </a:rPr>
              <a:t>Aucune probabilité de défaut n'est affichée tant que le modèle n'est pas calibré sur des défauts réels.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GARDE-FOUS DU MODÈLE</a:t>
            </a:r>
            <a:endParaRPr lang="en-US" sz="2400" dirty="0"/>
          </a:p>
        </p:txBody>
      </p:sp>
      <p:sp>
        <p:nvSpPr>
          <p:cNvPr id="4" name="controle-0"/>
          <p:cNvSpPr/>
          <p:nvPr/>
        </p:nvSpPr>
        <p:spPr>
          <a:xfrm>
            <a:off x="457200" y="1325880"/>
            <a:ext cx="5532120" cy="2240280"/>
          </a:xfrm>
          <a:prstGeom prst="roundRect">
            <a:avLst>
              <a:gd name="adj" fmla="val 4082"/>
            </a:avLst>
          </a:prstGeom>
          <a:solidFill>
            <a:srgbClr val="F2E8DB"/>
          </a:solidFill>
          <a:ln/>
        </p:spPr>
      </p:sp>
      <p:sp>
        <p:nvSpPr>
          <p:cNvPr id="5" name="rond-icone"/>
          <p:cNvSpPr/>
          <p:nvPr/>
        </p:nvSpPr>
        <p:spPr>
          <a:xfrm>
            <a:off x="777240" y="1691640"/>
            <a:ext cx="868680" cy="868680"/>
          </a:xfrm>
          <a:prstGeom prst="ellipse">
            <a:avLst/>
          </a:prstGeom>
          <a:solidFill>
            <a:srgbClr val="E37B05"/>
          </a:solidFill>
          <a:ln/>
        </p:spPr>
      </p:sp>
      <p:pic>
        <p:nvPicPr>
          <p:cNvPr id="26" name="icone" descr="image.png"/>
          <p:cNvPicPr>
            <a:picLocks noChangeAspect="1"/>
          </p:cNvPicPr>
          <p:nvPr/>
        </p:nvPicPr>
        <p:blipFill>
          <a:blip r:embed="rId6"/>
          <a:stretch>
            <a:fillRect/>
          </a:stretch>
        </p:blipFill>
        <p:spPr>
          <a:xfrm>
            <a:off x="950976" y="1865376"/>
            <a:ext cx="521208" cy="521208"/>
          </a:xfrm>
          <a:prstGeom prst="rect">
            <a:avLst/>
          </a:prstGeom>
        </p:spPr>
      </p:pic>
      <p:sp>
        <p:nvSpPr>
          <p:cNvPr id="7" name="Text 3"/>
          <p:cNvSpPr txBox="1"/>
          <p:nvPr/>
        </p:nvSpPr>
        <p:spPr>
          <a:xfrm>
            <a:off x="192024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LE DÉFAUT S'IMPOSE</a:t>
            </a:r>
            <a:endParaRPr lang="en-US" sz="1800" dirty="0"/>
          </a:p>
          <a:p>
            <a:pPr indent="0" marL="0">
              <a:spcAft>
                <a:spcPts val="600"/>
              </a:spcAft>
              <a:buNone/>
            </a:pPr>
            <a:r>
              <a:rPr lang="en-US" sz="1500" dirty="0">
                <a:solidFill>
                  <a:srgbClr val="3D3D3B"/>
                </a:solidFill>
              </a:rPr>
              <a:t>Un défaut constaté donne toujours un grade de défaut, même quand le dossier est incomplet.</a:t>
            </a:r>
            <a:endParaRPr lang="en-US" sz="1800" dirty="0"/>
          </a:p>
        </p:txBody>
      </p:sp>
      <p:sp>
        <p:nvSpPr>
          <p:cNvPr id="8" name="controle-1"/>
          <p:cNvSpPr/>
          <p:nvPr/>
        </p:nvSpPr>
        <p:spPr>
          <a:xfrm>
            <a:off x="6217920" y="1325880"/>
            <a:ext cx="5532120" cy="2240280"/>
          </a:xfrm>
          <a:prstGeom prst="roundRect">
            <a:avLst>
              <a:gd name="adj" fmla="val 4082"/>
            </a:avLst>
          </a:prstGeom>
          <a:solidFill>
            <a:srgbClr val="FBF6F0"/>
          </a:solidFill>
          <a:ln/>
        </p:spPr>
      </p:sp>
      <p:sp>
        <p:nvSpPr>
          <p:cNvPr id="9" name="rond-icone"/>
          <p:cNvSpPr/>
          <p:nvPr/>
        </p:nvSpPr>
        <p:spPr>
          <a:xfrm>
            <a:off x="6537960" y="1691640"/>
            <a:ext cx="868680" cy="868680"/>
          </a:xfrm>
          <a:prstGeom prst="ellipse">
            <a:avLst/>
          </a:prstGeom>
          <a:solidFill>
            <a:srgbClr val="E37B05"/>
          </a:solidFill>
          <a:ln/>
        </p:spPr>
      </p:sp>
      <p:pic>
        <p:nvPicPr>
          <p:cNvPr id="27" name="icone" descr="ic-MdVerticalAlignTop.png"/>
          <p:cNvPicPr>
            <a:picLocks noChangeAspect="1"/>
          </p:cNvPicPr>
          <p:nvPr/>
        </p:nvPicPr>
        <p:blipFill>
          <a:blip r:embed="rId7"/>
          <a:stretch>
            <a:fillRect/>
          </a:stretch>
        </p:blipFill>
        <p:spPr>
          <a:xfrm>
            <a:off x="6711696" y="1865376"/>
            <a:ext cx="521208" cy="521208"/>
          </a:xfrm>
          <a:prstGeom prst="rect">
            <a:avLst/>
          </a:prstGeom>
        </p:spPr>
      </p:pic>
      <p:sp>
        <p:nvSpPr>
          <p:cNvPr id="11" name="Text 6"/>
          <p:cNvSpPr txBox="1"/>
          <p:nvPr/>
        </p:nvSpPr>
        <p:spPr>
          <a:xfrm>
            <a:off x="768096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QUATRE EXCEPTIONS</a:t>
            </a:r>
            <a:endParaRPr lang="en-US" sz="1800" dirty="0"/>
          </a:p>
          <a:p>
            <a:pPr indent="0" marL="0">
              <a:spcAft>
                <a:spcPts val="600"/>
              </a:spcAft>
              <a:buNone/>
            </a:pPr>
            <a:r>
              <a:rPr lang="en-US" sz="1500" dirty="0">
                <a:solidFill>
                  <a:srgbClr val="3D3D3B"/>
                </a:solidFill>
              </a:rPr>
              <a:t>DSCR &lt; 1, doute sur la continuité, EBE négatif 2 ans sur 3, dossier groupe incomplet : le grade est plafonné.</a:t>
            </a:r>
            <a:endParaRPr lang="en-US" sz="1800" dirty="0"/>
          </a:p>
        </p:txBody>
      </p:sp>
      <p:sp>
        <p:nvSpPr>
          <p:cNvPr id="12" name="controle-2"/>
          <p:cNvSpPr/>
          <p:nvPr/>
        </p:nvSpPr>
        <p:spPr>
          <a:xfrm>
            <a:off x="457200" y="3794760"/>
            <a:ext cx="5532120" cy="2240280"/>
          </a:xfrm>
          <a:prstGeom prst="roundRect">
            <a:avLst>
              <a:gd name="adj" fmla="val 4082"/>
            </a:avLst>
          </a:prstGeom>
          <a:solidFill>
            <a:srgbClr val="FBF6F0"/>
          </a:solidFill>
          <a:ln/>
        </p:spPr>
      </p:sp>
      <p:sp>
        <p:nvSpPr>
          <p:cNvPr id="13" name="rond-icone"/>
          <p:cNvSpPr/>
          <p:nvPr/>
        </p:nvSpPr>
        <p:spPr>
          <a:xfrm>
            <a:off x="777240" y="4160520"/>
            <a:ext cx="868680" cy="868680"/>
          </a:xfrm>
          <a:prstGeom prst="ellipse">
            <a:avLst/>
          </a:prstGeom>
          <a:solidFill>
            <a:srgbClr val="8C5B52"/>
          </a:solidFill>
          <a:ln/>
        </p:spPr>
      </p:sp>
      <p:pic>
        <p:nvPicPr>
          <p:cNvPr id="28" name="icone" descr="ic-MdDataUsage.png"/>
          <p:cNvPicPr>
            <a:picLocks noChangeAspect="1"/>
          </p:cNvPicPr>
          <p:nvPr/>
        </p:nvPicPr>
        <p:blipFill>
          <a:blip r:embed="rId8"/>
          <a:stretch>
            <a:fillRect/>
          </a:stretch>
        </p:blipFill>
        <p:spPr>
          <a:xfrm>
            <a:off x="950976" y="4334256"/>
            <a:ext cx="521208" cy="521208"/>
          </a:xfrm>
          <a:prstGeom prst="rect">
            <a:avLst/>
          </a:prstGeom>
        </p:spPr>
      </p:pic>
      <p:sp>
        <p:nvSpPr>
          <p:cNvPr id="15" name="Text 9"/>
          <p:cNvSpPr txBox="1"/>
          <p:nvPr/>
        </p:nvSpPr>
        <p:spPr>
          <a:xfrm>
            <a:off x="192024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PAS DE GRADE SANS DONNÉES</a:t>
            </a:r>
            <a:endParaRPr lang="en-US" sz="1800" dirty="0"/>
          </a:p>
          <a:p>
            <a:pPr indent="0" marL="0">
              <a:spcAft>
                <a:spcPts val="600"/>
              </a:spcAft>
              <a:buNone/>
            </a:pPr>
            <a:r>
              <a:rPr lang="en-US" sz="1500" dirty="0">
                <a:solidFill>
                  <a:srgbClr val="3D3D3B"/>
                </a:solidFill>
              </a:rPr>
              <a:t>Sous le seuil de données observées, aucun grade : on complète le dossier plutôt que d'interpréter une note dégradée.</a:t>
            </a:r>
            <a:endParaRPr lang="en-US" sz="1800" dirty="0"/>
          </a:p>
        </p:txBody>
      </p:sp>
      <p:sp>
        <p:nvSpPr>
          <p:cNvPr id="16" name="controle-3"/>
          <p:cNvSpPr/>
          <p:nvPr/>
        </p:nvSpPr>
        <p:spPr>
          <a:xfrm>
            <a:off x="6217920" y="3794760"/>
            <a:ext cx="5532120" cy="2240280"/>
          </a:xfrm>
          <a:prstGeom prst="roundRect">
            <a:avLst>
              <a:gd name="adj" fmla="val 4082"/>
            </a:avLst>
          </a:prstGeom>
          <a:solidFill>
            <a:srgbClr val="F2E8DB"/>
          </a:solidFill>
          <a:ln/>
        </p:spPr>
      </p:sp>
      <p:sp>
        <p:nvSpPr>
          <p:cNvPr id="17" name="rond-icone"/>
          <p:cNvSpPr/>
          <p:nvPr/>
        </p:nvSpPr>
        <p:spPr>
          <a:xfrm>
            <a:off x="6537960" y="4160520"/>
            <a:ext cx="868680" cy="868680"/>
          </a:xfrm>
          <a:prstGeom prst="ellipse">
            <a:avLst/>
          </a:prstGeom>
          <a:solidFill>
            <a:srgbClr val="8C5B52"/>
          </a:solidFill>
          <a:ln/>
        </p:spPr>
      </p:sp>
      <p:pic>
        <p:nvPicPr>
          <p:cNvPr id="29" name="icone" descr="ic-MdHelpOutline.png"/>
          <p:cNvPicPr>
            <a:picLocks noChangeAspect="1"/>
          </p:cNvPicPr>
          <p:nvPr/>
        </p:nvPicPr>
        <p:blipFill>
          <a:blip r:embed="rId9"/>
          <a:stretch>
            <a:fillRect/>
          </a:stretch>
        </p:blipFill>
        <p:spPr>
          <a:xfrm>
            <a:off x="6711696" y="4334256"/>
            <a:ext cx="521208" cy="521208"/>
          </a:xfrm>
          <a:prstGeom prst="rect">
            <a:avLst/>
          </a:prstGeom>
        </p:spPr>
      </p:pic>
      <p:sp>
        <p:nvSpPr>
          <p:cNvPr id="19" name="Text 12"/>
          <p:cNvSpPr txBox="1"/>
          <p:nvPr/>
        </p:nvSpPr>
        <p:spPr>
          <a:xfrm>
            <a:off x="768096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INFORMATION ABSENTE</a:t>
            </a:r>
            <a:endParaRPr lang="en-US" sz="1800" dirty="0"/>
          </a:p>
          <a:p>
            <a:pPr indent="0" marL="0">
              <a:spcAft>
                <a:spcPts val="600"/>
              </a:spcAft>
              <a:buNone/>
            </a:pPr>
            <a:r>
              <a:rPr lang="en-US" sz="1500" dirty="0">
                <a:solidFill>
                  <a:srgbClr val="3D3D3B"/>
                </a:solidFill>
              </a:rPr>
              <a:t>Score prudent de 25/100, poids conservé. Point ouvert : pour un critère très mauvais, cela peut l'améliorer.</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UNE NOTE GOUVERNÉE</a:t>
            </a:r>
            <a:endParaRPr lang="en-US" sz="2400" dirty="0"/>
          </a:p>
        </p:txBody>
      </p:sp>
      <p:sp>
        <p:nvSpPr>
          <p:cNvPr id="4" name="stat-0"/>
          <p:cNvSpPr/>
          <p:nvPr/>
        </p:nvSpPr>
        <p:spPr>
          <a:xfrm>
            <a:off x="457200" y="1371600"/>
            <a:ext cx="2670048" cy="3566160"/>
          </a:xfrm>
          <a:prstGeom prst="roundRect">
            <a:avLst>
              <a:gd name="adj" fmla="val 3425"/>
            </a:avLst>
          </a:prstGeom>
          <a:solidFill>
            <a:srgbClr val="F2E8DB"/>
          </a:solidFill>
          <a:ln/>
        </p:spPr>
      </p:sp>
      <p:sp>
        <p:nvSpPr>
          <p:cNvPr id="5" name="Text 2"/>
          <p:cNvSpPr txBox="1"/>
          <p:nvPr/>
        </p:nvSpPr>
        <p:spPr>
          <a:xfrm>
            <a:off x="640080"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±2</a:t>
            </a:r>
            <a:endParaRPr lang="en-US" sz="4800" dirty="0"/>
          </a:p>
        </p:txBody>
      </p:sp>
      <p:sp>
        <p:nvSpPr>
          <p:cNvPr id="6" name="Text 3"/>
          <p:cNvSpPr txBox="1"/>
          <p:nvPr/>
        </p:nvSpPr>
        <p:spPr>
          <a:xfrm>
            <a:off x="640080"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CRANS AU PLUS</a:t>
            </a:r>
            <a:endParaRPr lang="en-US" sz="1600" dirty="0"/>
          </a:p>
        </p:txBody>
      </p:sp>
      <p:sp>
        <p:nvSpPr>
          <p:cNvPr id="7" name="Text 4"/>
          <p:cNvSpPr txBox="1"/>
          <p:nvPr/>
        </p:nvSpPr>
        <p:spPr>
          <a:xfrm>
            <a:off x="640080"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par dérogation, avec motif codifié et validation par une seconde personne</a:t>
            </a:r>
            <a:endParaRPr lang="en-US" sz="1400" dirty="0"/>
          </a:p>
        </p:txBody>
      </p:sp>
      <p:sp>
        <p:nvSpPr>
          <p:cNvPr id="8" name="stat-1"/>
          <p:cNvSpPr/>
          <p:nvPr/>
        </p:nvSpPr>
        <p:spPr>
          <a:xfrm>
            <a:off x="3319272" y="1371600"/>
            <a:ext cx="2670048" cy="3566160"/>
          </a:xfrm>
          <a:prstGeom prst="roundRect">
            <a:avLst>
              <a:gd name="adj" fmla="val 3425"/>
            </a:avLst>
          </a:prstGeom>
          <a:solidFill>
            <a:srgbClr val="FBF6F0"/>
          </a:solidFill>
          <a:ln/>
        </p:spPr>
      </p:sp>
      <p:sp>
        <p:nvSpPr>
          <p:cNvPr id="9" name="Text 6"/>
          <p:cNvSpPr txBox="1"/>
          <p:nvPr/>
        </p:nvSpPr>
        <p:spPr>
          <a:xfrm>
            <a:off x="3502152"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4</a:t>
            </a:r>
            <a:endParaRPr lang="en-US" sz="4800" dirty="0"/>
          </a:p>
        </p:txBody>
      </p:sp>
      <p:sp>
        <p:nvSpPr>
          <p:cNvPr id="10" name="Text 7"/>
          <p:cNvSpPr txBox="1"/>
          <p:nvPr/>
        </p:nvSpPr>
        <p:spPr>
          <a:xfrm>
            <a:off x="3502152"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CONDITIONS</a:t>
            </a:r>
            <a:endParaRPr lang="en-US" sz="1600" dirty="0"/>
          </a:p>
        </p:txBody>
      </p:sp>
      <p:sp>
        <p:nvSpPr>
          <p:cNvPr id="11" name="Text 8"/>
          <p:cNvSpPr txBox="1"/>
          <p:nvPr/>
        </p:nvSpPr>
        <p:spPr>
          <a:xfrm>
            <a:off x="3502152"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cumulatives pour tout relèvement au titre du support groupe, plafonné à 2 crans</a:t>
            </a:r>
            <a:endParaRPr lang="en-US" sz="1400" dirty="0"/>
          </a:p>
        </p:txBody>
      </p:sp>
      <p:sp>
        <p:nvSpPr>
          <p:cNvPr id="12" name="stat-2"/>
          <p:cNvSpPr/>
          <p:nvPr/>
        </p:nvSpPr>
        <p:spPr>
          <a:xfrm>
            <a:off x="6181344" y="1371600"/>
            <a:ext cx="2670048" cy="3566160"/>
          </a:xfrm>
          <a:prstGeom prst="roundRect">
            <a:avLst>
              <a:gd name="adj" fmla="val 3425"/>
            </a:avLst>
          </a:prstGeom>
          <a:solidFill>
            <a:srgbClr val="F2E8DB"/>
          </a:solidFill>
          <a:ln/>
        </p:spPr>
      </p:sp>
      <p:sp>
        <p:nvSpPr>
          <p:cNvPr id="13" name="Text 10"/>
          <p:cNvSpPr txBox="1"/>
          <p:nvPr/>
        </p:nvSpPr>
        <p:spPr>
          <a:xfrm>
            <a:off x="6364224"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100 %</a:t>
            </a:r>
            <a:endParaRPr lang="en-US" sz="4800" dirty="0"/>
          </a:p>
        </p:txBody>
      </p:sp>
      <p:sp>
        <p:nvSpPr>
          <p:cNvPr id="14" name="Text 11"/>
          <p:cNvSpPr txBox="1"/>
          <p:nvPr/>
        </p:nvSpPr>
        <p:spPr>
          <a:xfrm>
            <a:off x="6364224"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REJOUABLE</a:t>
            </a:r>
            <a:endParaRPr lang="en-US" sz="1600" dirty="0"/>
          </a:p>
        </p:txBody>
      </p:sp>
      <p:sp>
        <p:nvSpPr>
          <p:cNvPr id="15" name="Text 12"/>
          <p:cNvSpPr txBox="1"/>
          <p:nvPr/>
        </p:nvSpPr>
        <p:spPr>
          <a:xfrm>
            <a:off x="6364224"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chaque notation est figée avec ses entrées, la version du modèle et son explication</a:t>
            </a:r>
            <a:endParaRPr lang="en-US" sz="1400" dirty="0"/>
          </a:p>
        </p:txBody>
      </p:sp>
      <p:sp>
        <p:nvSpPr>
          <p:cNvPr id="16" name="stat-3"/>
          <p:cNvSpPr/>
          <p:nvPr/>
        </p:nvSpPr>
        <p:spPr>
          <a:xfrm>
            <a:off x="9043416" y="1371600"/>
            <a:ext cx="2670048" cy="3566160"/>
          </a:xfrm>
          <a:prstGeom prst="roundRect">
            <a:avLst>
              <a:gd name="adj" fmla="val 3425"/>
            </a:avLst>
          </a:prstGeom>
          <a:solidFill>
            <a:srgbClr val="FBF6F0"/>
          </a:solidFill>
          <a:ln/>
        </p:spPr>
      </p:sp>
      <p:sp>
        <p:nvSpPr>
          <p:cNvPr id="17" name="Text 14"/>
          <p:cNvSpPr txBox="1"/>
          <p:nvPr/>
        </p:nvSpPr>
        <p:spPr>
          <a:xfrm>
            <a:off x="9226296" y="1645920"/>
            <a:ext cx="2331720" cy="1188720"/>
          </a:xfrm>
          <a:prstGeom prst="rect">
            <a:avLst/>
          </a:prstGeom>
          <a:noFill/>
          <a:ln/>
        </p:spPr>
        <p:txBody>
          <a:bodyPr wrap="square" lIns="0" tIns="0" rIns="0" bIns="0" rtlCol="0" anchor="ctr"/>
          <a:lstStyle/>
          <a:p>
            <a:pPr indent="0" marL="0">
              <a:buNone/>
            </a:pPr>
            <a:r>
              <a:rPr lang="en-US" sz="4800" b="1" dirty="0">
                <a:solidFill>
                  <a:srgbClr val="E37B05"/>
                </a:solidFill>
              </a:rPr>
              <a:t>5</a:t>
            </a:r>
            <a:endParaRPr lang="en-US" sz="4800" dirty="0"/>
          </a:p>
        </p:txBody>
      </p:sp>
      <p:sp>
        <p:nvSpPr>
          <p:cNvPr id="18" name="Text 15"/>
          <p:cNvSpPr txBox="1"/>
          <p:nvPr/>
        </p:nvSpPr>
        <p:spPr>
          <a:xfrm>
            <a:off x="9226296" y="2880360"/>
            <a:ext cx="2331720" cy="731520"/>
          </a:xfrm>
          <a:prstGeom prst="rect">
            <a:avLst/>
          </a:prstGeom>
          <a:noFill/>
          <a:ln/>
        </p:spPr>
        <p:txBody>
          <a:bodyPr wrap="square" lIns="0" tIns="0" rIns="0" bIns="0" rtlCol="0" anchor="t"/>
          <a:lstStyle/>
          <a:p>
            <a:pPr indent="0" marL="0">
              <a:buNone/>
            </a:pPr>
            <a:r>
              <a:rPr lang="en-US" sz="1600" b="1" dirty="0">
                <a:solidFill>
                  <a:srgbClr val="462016"/>
                </a:solidFill>
              </a:rPr>
              <a:t>FINALITÉS SÉPARÉES</a:t>
            </a:r>
            <a:endParaRPr lang="en-US" sz="1600" dirty="0"/>
          </a:p>
        </p:txBody>
      </p:sp>
      <p:sp>
        <p:nvSpPr>
          <p:cNvPr id="19" name="Text 16"/>
          <p:cNvSpPr txBox="1"/>
          <p:nvPr/>
        </p:nvSpPr>
        <p:spPr>
          <a:xfrm>
            <a:off x="9226296" y="3657600"/>
            <a:ext cx="2331720" cy="1371600"/>
          </a:xfrm>
          <a:prstGeom prst="rect">
            <a:avLst/>
          </a:prstGeom>
          <a:noFill/>
          <a:ln/>
        </p:spPr>
        <p:txBody>
          <a:bodyPr wrap="square" lIns="0" tIns="0" rIns="0" bIns="0" rtlCol="0" anchor="t"/>
          <a:lstStyle/>
          <a:p>
            <a:pPr indent="0" marL="0">
              <a:buNone/>
            </a:pPr>
            <a:r>
              <a:rPr lang="en-US" sz="1400" dirty="0">
                <a:solidFill>
                  <a:srgbClr val="3D3D3B"/>
                </a:solidFill>
              </a:rPr>
              <a:t>notation, conformité, décision de crédit, classification BAM et IFRS 9</a:t>
            </a:r>
            <a:endParaRPr lang="en-US" sz="1400" dirty="0"/>
          </a:p>
        </p:txBody>
      </p:sp>
      <p:sp>
        <p:nvSpPr>
          <p:cNvPr id="20" name="Text 17"/>
          <p:cNvSpPr txBox="1"/>
          <p:nvPr/>
        </p:nvSpPr>
        <p:spPr>
          <a:xfrm>
            <a:off x="457200" y="5532120"/>
            <a:ext cx="11320272" cy="457200"/>
          </a:xfrm>
          <a:prstGeom prst="rect">
            <a:avLst/>
          </a:prstGeom>
          <a:noFill/>
          <a:ln/>
        </p:spPr>
        <p:txBody>
          <a:bodyPr wrap="square" lIns="0" tIns="0" rIns="0" bIns="0" rtlCol="0" anchor="ctr"/>
          <a:lstStyle/>
          <a:p>
            <a:pPr indent="0" marL="0">
              <a:buNone/>
            </a:pPr>
            <a:r>
              <a:rPr lang="en-US" sz="1500" b="1" dirty="0">
                <a:solidFill>
                  <a:srgbClr val="462016"/>
                </a:solidFill>
              </a:rPr>
              <a:t>Usage autorisé aujourd'hui : pilote en mode fantôme et aide au jugement — pas de décision automatisée, de tarification ni d'usage IFRS 9 ou prudentiel.</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LIMITES ACTUELLES À CONNAÎTRE</a:t>
            </a:r>
            <a:endParaRPr lang="en-US" sz="2400" dirty="0"/>
          </a:p>
        </p:txBody>
      </p:sp>
      <p:sp>
        <p:nvSpPr>
          <p:cNvPr id="4" name="pourquoi-0"/>
          <p:cNvSpPr/>
          <p:nvPr/>
        </p:nvSpPr>
        <p:spPr>
          <a:xfrm>
            <a:off x="457200"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5" name="rond-icone"/>
          <p:cNvSpPr/>
          <p:nvPr/>
        </p:nvSpPr>
        <p:spPr>
          <a:xfrm>
            <a:off x="731520" y="1554480"/>
            <a:ext cx="822960" cy="822960"/>
          </a:xfrm>
          <a:prstGeom prst="ellipse">
            <a:avLst/>
          </a:prstGeom>
          <a:solidFill>
            <a:srgbClr val="E37B05"/>
          </a:solidFill>
          <a:ln/>
        </p:spPr>
      </p:sp>
      <p:pic>
        <p:nvPicPr>
          <p:cNvPr id="26" name="icone" descr="ic-MdScience.png"/>
          <p:cNvPicPr>
            <a:picLocks noChangeAspect="1"/>
          </p:cNvPicPr>
          <p:nvPr/>
        </p:nvPicPr>
        <p:blipFill>
          <a:blip r:embed="rId5"/>
          <a:stretch>
            <a:fillRect/>
          </a:stretch>
        </p:blipFill>
        <p:spPr>
          <a:xfrm>
            <a:off x="896112" y="1719072"/>
            <a:ext cx="493776" cy="493776"/>
          </a:xfrm>
          <a:prstGeom prst="rect">
            <a:avLst/>
          </a:prstGeom>
        </p:spPr>
      </p:pic>
      <p:sp>
        <p:nvSpPr>
          <p:cNvPr id="7" name="Text 3"/>
          <p:cNvSpPr txBox="1"/>
          <p:nvPr/>
        </p:nvSpPr>
        <p:spPr>
          <a:xfrm>
            <a:off x="731520"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PAS ENCORE CALIBRÉ</a:t>
            </a:r>
            <a:endParaRPr lang="en-US" sz="1800" dirty="0"/>
          </a:p>
        </p:txBody>
      </p:sp>
      <p:sp>
        <p:nvSpPr>
          <p:cNvPr id="8" name="Text 4"/>
          <p:cNvSpPr txBox="1"/>
          <p:nvPr/>
        </p:nvSpPr>
        <p:spPr>
          <a:xfrm>
            <a:off x="731520"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Grilles d'experts, non calibrées sur des défauts réels</a:t>
            </a:r>
            <a:endParaRPr lang="en-US" sz="1500" dirty="0"/>
          </a:p>
          <a:p>
            <a:pPr marL="342900" indent="-342900">
              <a:spcAft>
                <a:spcPts val="800"/>
              </a:spcAft>
              <a:buSzPct val="100000"/>
              <a:buChar char="•"/>
            </a:pPr>
            <a:r>
              <a:rPr lang="en-US" sz="1500" dirty="0">
                <a:solidFill>
                  <a:srgbClr val="3D3D3B"/>
                </a:solidFill>
              </a:rPr>
              <a:t>Probabilités de défaut non affichées</a:t>
            </a:r>
            <a:endParaRPr lang="en-US" sz="1500" dirty="0"/>
          </a:p>
          <a:p>
            <a:pPr marL="342900" indent="-342900">
              <a:spcAft>
                <a:spcPts val="800"/>
              </a:spcAft>
              <a:buSzPct val="100000"/>
              <a:buChar char="•"/>
            </a:pPr>
            <a:r>
              <a:rPr lang="en-US" sz="1500" dirty="0">
                <a:solidFill>
                  <a:srgbClr val="3D3D3B"/>
                </a:solidFill>
              </a:rPr>
              <a:t>Calibration sur l'historique de la banque</a:t>
            </a:r>
            <a:endParaRPr lang="en-US" sz="1500" dirty="0"/>
          </a:p>
        </p:txBody>
      </p:sp>
      <p:sp>
        <p:nvSpPr>
          <p:cNvPr id="9" name="pourquoi-1"/>
          <p:cNvSpPr/>
          <p:nvPr/>
        </p:nvSpPr>
        <p:spPr>
          <a:xfrm>
            <a:off x="4279392"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0" name="rond-icone"/>
          <p:cNvSpPr/>
          <p:nvPr/>
        </p:nvSpPr>
        <p:spPr>
          <a:xfrm>
            <a:off x="4553712" y="1554480"/>
            <a:ext cx="822960" cy="822960"/>
          </a:xfrm>
          <a:prstGeom prst="ellipse">
            <a:avLst/>
          </a:prstGeom>
          <a:solidFill>
            <a:srgbClr val="E37B05"/>
          </a:solidFill>
          <a:ln/>
        </p:spPr>
      </p:sp>
      <p:pic>
        <p:nvPicPr>
          <p:cNvPr id="27" name="icone" descr="ic-MdRule.png"/>
          <p:cNvPicPr>
            <a:picLocks noChangeAspect="1"/>
          </p:cNvPicPr>
          <p:nvPr/>
        </p:nvPicPr>
        <p:blipFill>
          <a:blip r:embed="rId6"/>
          <a:stretch>
            <a:fillRect/>
          </a:stretch>
        </p:blipFill>
        <p:spPr>
          <a:xfrm>
            <a:off x="4718304" y="1719072"/>
            <a:ext cx="493776" cy="493776"/>
          </a:xfrm>
          <a:prstGeom prst="rect">
            <a:avLst/>
          </a:prstGeom>
        </p:spPr>
      </p:pic>
      <p:sp>
        <p:nvSpPr>
          <p:cNvPr id="12" name="Text 7"/>
          <p:cNvSpPr txBox="1"/>
          <p:nvPr/>
        </p:nvSpPr>
        <p:spPr>
          <a:xfrm>
            <a:off x="4553712"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SEUILS À CONFIRMER</a:t>
            </a:r>
            <a:endParaRPr lang="en-US" sz="1800" dirty="0"/>
          </a:p>
        </p:txBody>
      </p:sp>
      <p:sp>
        <p:nvSpPr>
          <p:cNvPr id="13" name="Text 8"/>
          <p:cNvSpPr txBox="1"/>
          <p:nvPr/>
        </p:nvSpPr>
        <p:spPr>
          <a:xfrm>
            <a:off x="4553712"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Seuils de segmentation à valider sur les textes BAM</a:t>
            </a:r>
            <a:endParaRPr lang="en-US" sz="1500" dirty="0"/>
          </a:p>
          <a:p>
            <a:pPr marL="342900" indent="-342900">
              <a:spcAft>
                <a:spcPts val="800"/>
              </a:spcAft>
              <a:buSzPct val="100000"/>
              <a:buChar char="•"/>
            </a:pPr>
            <a:r>
              <a:rPr lang="en-US" sz="1500" dirty="0">
                <a:solidFill>
                  <a:srgbClr val="3D3D3B"/>
                </a:solidFill>
              </a:rPr>
              <a:t>Définition du défaut et périodes probatoires</a:t>
            </a:r>
            <a:endParaRPr lang="en-US" sz="1500" dirty="0"/>
          </a:p>
          <a:p>
            <a:pPr marL="342900" indent="-342900">
              <a:spcAft>
                <a:spcPts val="800"/>
              </a:spcAft>
              <a:buSzPct val="100000"/>
              <a:buChar char="•"/>
            </a:pPr>
            <a:r>
              <a:rPr lang="en-US" sz="1500" dirty="0">
                <a:solidFill>
                  <a:srgbClr val="3D3D3B"/>
                </a:solidFill>
              </a:rPr>
              <a:t>Seuils de couverture à recaler sur le pilote</a:t>
            </a:r>
            <a:endParaRPr lang="en-US" sz="1500" dirty="0"/>
          </a:p>
        </p:txBody>
      </p:sp>
      <p:sp>
        <p:nvSpPr>
          <p:cNvPr id="14" name="pourquoi-2"/>
          <p:cNvSpPr/>
          <p:nvPr/>
        </p:nvSpPr>
        <p:spPr>
          <a:xfrm>
            <a:off x="8101584" y="1280160"/>
            <a:ext cx="3639312" cy="4206240"/>
          </a:xfrm>
          <a:prstGeom prst="roundRect">
            <a:avLst>
              <a:gd name="adj" fmla="val 2513"/>
            </a:avLst>
          </a:prstGeom>
          <a:solidFill>
            <a:srgbClr val="FFFFFF"/>
          </a:solidFill>
          <a:ln w="12700">
            <a:solidFill>
              <a:srgbClr val="E5D9CC"/>
            </a:solidFill>
            <a:prstDash val="solid"/>
          </a:ln>
          <a:effectLst>
            <a:outerShdw sx="100000" sy="100000" kx="0" ky="0" algn="bl" rotWithShape="0" blurRad="76200" dist="25400" dir="5400000">
              <a:srgbClr val="000000">
                <a:alpha val="12000"/>
              </a:srgbClr>
            </a:outerShdw>
          </a:effectLst>
        </p:spPr>
      </p:sp>
      <p:sp>
        <p:nvSpPr>
          <p:cNvPr id="15" name="rond-icone"/>
          <p:cNvSpPr/>
          <p:nvPr/>
        </p:nvSpPr>
        <p:spPr>
          <a:xfrm>
            <a:off x="8375904" y="1554480"/>
            <a:ext cx="822960" cy="822960"/>
          </a:xfrm>
          <a:prstGeom prst="ellipse">
            <a:avLst/>
          </a:prstGeom>
          <a:solidFill>
            <a:srgbClr val="E37B05"/>
          </a:solidFill>
          <a:ln/>
        </p:spPr>
      </p:sp>
      <p:pic>
        <p:nvPicPr>
          <p:cNvPr id="28" name="icone" descr="ic-MdCategory.png"/>
          <p:cNvPicPr>
            <a:picLocks noChangeAspect="1"/>
          </p:cNvPicPr>
          <p:nvPr/>
        </p:nvPicPr>
        <p:blipFill>
          <a:blip r:embed="rId7"/>
          <a:stretch>
            <a:fillRect/>
          </a:stretch>
        </p:blipFill>
        <p:spPr>
          <a:xfrm>
            <a:off x="8540496" y="1719072"/>
            <a:ext cx="493776" cy="493776"/>
          </a:xfrm>
          <a:prstGeom prst="rect">
            <a:avLst/>
          </a:prstGeom>
        </p:spPr>
      </p:pic>
      <p:sp>
        <p:nvSpPr>
          <p:cNvPr id="17" name="Text 11"/>
          <p:cNvSpPr txBox="1"/>
          <p:nvPr/>
        </p:nvSpPr>
        <p:spPr>
          <a:xfrm>
            <a:off x="8375904" y="2560320"/>
            <a:ext cx="3108960" cy="731520"/>
          </a:xfrm>
          <a:prstGeom prst="rect">
            <a:avLst/>
          </a:prstGeom>
          <a:noFill/>
          <a:ln/>
        </p:spPr>
        <p:txBody>
          <a:bodyPr wrap="square" lIns="0" tIns="0" rIns="0" bIns="0" rtlCol="0" anchor="t"/>
          <a:lstStyle/>
          <a:p>
            <a:pPr indent="0" marL="0">
              <a:buNone/>
            </a:pPr>
            <a:r>
              <a:rPr lang="en-US" sz="1800" b="1" dirty="0">
                <a:solidFill>
                  <a:srgbClr val="462016"/>
                </a:solidFill>
              </a:rPr>
              <a:t>RÉFÉRENTIELS À ALIMENTER</a:t>
            </a:r>
            <a:endParaRPr lang="en-US" sz="1800" dirty="0"/>
          </a:p>
        </p:txBody>
      </p:sp>
      <p:sp>
        <p:nvSpPr>
          <p:cNvPr id="18" name="Text 12"/>
          <p:cNvSpPr txBox="1"/>
          <p:nvPr/>
        </p:nvSpPr>
        <p:spPr>
          <a:xfrm>
            <a:off x="8375904" y="3337560"/>
            <a:ext cx="315468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D3D3B"/>
                </a:solidFill>
              </a:rPr>
              <a:t>Référentiel sectoriel vide : secteur noté prudemment</a:t>
            </a:r>
            <a:endParaRPr lang="en-US" sz="1500" dirty="0"/>
          </a:p>
          <a:p>
            <a:pPr marL="342900" indent="-342900">
              <a:spcAft>
                <a:spcPts val="800"/>
              </a:spcAft>
              <a:buSzPct val="100000"/>
              <a:buChar char="•"/>
            </a:pPr>
            <a:r>
              <a:rPr lang="en-US" sz="1500" dirty="0">
                <a:solidFill>
                  <a:srgbClr val="3D3D3B"/>
                </a:solidFill>
              </a:rPr>
              <a:t>Matérialité ESG déclarée par l'analyste</a:t>
            </a:r>
            <a:endParaRPr lang="en-US" sz="1500" dirty="0"/>
          </a:p>
          <a:p>
            <a:pPr marL="342900" indent="-342900">
              <a:spcAft>
                <a:spcPts val="800"/>
              </a:spcAft>
              <a:buSzPct val="100000"/>
              <a:buChar char="•"/>
            </a:pPr>
            <a:r>
              <a:rPr lang="en-US" sz="1500" dirty="0">
                <a:solidFill>
                  <a:srgbClr val="3D3D3B"/>
                </a:solidFill>
              </a:rPr>
              <a:t>Validation indépendante à mandater</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FEUILLE DE ROUTE : DU MAROC AUX FILIALES</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P0</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Pilote fantôme</a:t>
            </a:r>
            <a:endParaRPr lang="en-US" sz="1500" dirty="0"/>
          </a:p>
          <a:p>
            <a:pPr algn="ctr" indent="0" marL="0">
              <a:buNone/>
            </a:pPr>
            <a:r>
              <a:rPr lang="en-US" sz="1500" dirty="0">
                <a:solidFill>
                  <a:srgbClr val="8C5B52"/>
                </a:solidFill>
              </a:rPr>
              <a:t>Maroc, en cours</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P1</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Socle groupe</a:t>
            </a:r>
            <a:endParaRPr lang="en-US" sz="1500" dirty="0"/>
          </a:p>
          <a:p>
            <a:pPr algn="ctr" indent="0" marL="0">
              <a:buNone/>
            </a:pPr>
            <a:r>
              <a:rPr lang="en-US" sz="1500" dirty="0">
                <a:solidFill>
                  <a:srgbClr val="8C5B52"/>
                </a:solidFill>
              </a:rPr>
              <a:t>sans changement de note</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P2</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Maroc renforcé</a:t>
            </a:r>
            <a:endParaRPr lang="en-US" sz="1500" dirty="0"/>
          </a:p>
          <a:p>
            <a:pPr algn="ctr" indent="0" marL="0">
              <a:buNone/>
            </a:pPr>
            <a:r>
              <a:rPr lang="en-US" sz="1500" dirty="0">
                <a:solidFill>
                  <a:srgbClr val="8C5B52"/>
                </a:solidFill>
              </a:rPr>
              <a:t>plafond pays, délais, climat</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P3</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Filiale pilote</a:t>
            </a:r>
            <a:endParaRPr lang="en-US" sz="1500" dirty="0"/>
          </a:p>
          <a:p>
            <a:pPr algn="ctr" indent="0" marL="0">
              <a:buNone/>
            </a:pPr>
            <a:r>
              <a:rPr lang="en-US" sz="1500" dirty="0">
                <a:solidFill>
                  <a:srgbClr val="8C5B52"/>
                </a:solidFill>
              </a:rPr>
              <a:t>UEMOA</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P4</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Extension</a:t>
            </a:r>
            <a:endParaRPr lang="en-US" sz="1500" dirty="0"/>
          </a:p>
          <a:p>
            <a:pPr algn="ctr" indent="0" marL="0">
              <a:buNone/>
            </a:pPr>
            <a:r>
              <a:rPr lang="en-US" sz="1500" dirty="0">
                <a:solidFill>
                  <a:srgbClr val="8C5B52"/>
                </a:solidFill>
              </a:rPr>
              <a:t>CEMAC, Guinée, calibration</a:t>
            </a:r>
            <a:endParaRPr lang="en-US" sz="1500" dirty="0"/>
          </a:p>
        </p:txBody>
      </p:sp>
      <p:sp>
        <p:nvSpPr>
          <p:cNvPr id="34" name="Text 31"/>
          <p:cNvSpPr txBox="1"/>
          <p:nvPr/>
        </p:nvSpPr>
        <p:spPr>
          <a:xfrm>
            <a:off x="457200" y="5989320"/>
            <a:ext cx="11320272" cy="365760"/>
          </a:xfrm>
          <a:prstGeom prst="rect">
            <a:avLst/>
          </a:prstGeom>
          <a:noFill/>
          <a:ln/>
        </p:spPr>
        <p:txBody>
          <a:bodyPr wrap="square" lIns="0" tIns="0" rIns="0" bIns="0" rtlCol="0" anchor="ctr"/>
          <a:lstStyle/>
          <a:p>
            <a:pPr indent="0" marL="0">
              <a:buNone/>
            </a:pPr>
            <a:r>
              <a:rPr lang="en-US" sz="1400" i="1" dirty="0">
                <a:solidFill>
                  <a:srgbClr val="8C5B52"/>
                </a:solidFill>
              </a:rPr>
              <a:t>Périmètre des filiales à confirmer ; détail dans la proposition d'évolution du modèle (document 10).</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
        <p:nvSpPr>
          <p:cNvPr id="35" name="encadre"/>
          <p:cNvSpPr/>
          <p:nvPr/>
        </p:nvSpPr>
        <p:spPr>
          <a:xfrm>
            <a:off x="457200" y="3611880"/>
            <a:ext cx="11274552" cy="2148840"/>
          </a:xfrm>
          <a:prstGeom prst="roundRect">
            <a:avLst>
              <a:gd name="adj" fmla="val 4000"/>
            </a:avLst>
          </a:prstGeom>
          <a:solidFill>
            <a:srgbClr val="FB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e"/>
          <p:cNvSpPr txBox="1"/>
          <p:nvPr/>
        </p:nvSpPr>
        <p:spPr>
          <a:xfrm>
            <a:off x="731520" y="3840480"/>
            <a:ext cx="10725912" cy="1691640"/>
          </a:xfrm>
          <a:prstGeom prst="rect">
            <a:avLst/>
          </a:prstGeom>
          <a:noFill/>
        </p:spPr>
        <p:txBody>
          <a:bodyPr wrap="square">
            <a:spAutoFit/>
          </a:bodyPr>
          <a:lstStyle/>
          <a:p>
            <a:pPr>
              <a:spcAft>
                <a:spcPts val="800"/>
              </a:spcAft>
            </a:pPr>
            <a:r>
              <a:rPr sz="1800" b="1">
                <a:solidFill>
                  <a:srgbClr val="462016"/>
                </a:solidFill>
                <a:latin typeface="Arial"/>
              </a:rPr>
              <a:t>Un socle commun, un paquet par pays</a:t>
            </a:r>
          </a:p>
          <a:p>
            <a:pPr>
              <a:spcAft>
                <a:spcPts val="900"/>
              </a:spcAft>
            </a:pPr>
            <a:r>
              <a:rPr sz="1400">
                <a:solidFill>
                  <a:srgbClr val="3D3D3B"/>
                </a:solidFill>
                <a:latin typeface="Arial"/>
              </a:rPr>
              <a:t>Commun au groupe : la méthode, les critères, l'échelle de grades et la gouvernance.</a:t>
            </a:r>
          </a:p>
          <a:p>
            <a:pPr>
              <a:spcAft>
                <a:spcPts val="900"/>
              </a:spcAft>
            </a:pPr>
            <a:r>
              <a:rPr sz="1400">
                <a:solidFill>
                  <a:srgbClr val="3D3D3B"/>
                </a:solidFill>
                <a:latin typeface="Arial"/>
              </a:rPr>
              <a:t>Propre à chaque pays ou zone : seuils de taille en devise locale, plan comptable (CGNC ou SYSCOHADA), définition locale du défaut, secteurs. Le Maroc devient le premier paquet, sans changer aucune note.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DÉCISIONS ATTENDUES</a:t>
            </a:r>
            <a:endParaRPr lang="en-US" sz="2400" dirty="0"/>
          </a:p>
        </p:txBody>
      </p:sp>
      <p:sp>
        <p:nvSpPr>
          <p:cNvPr id="4" name="decision-1"/>
          <p:cNvSpPr/>
          <p:nvPr/>
        </p:nvSpPr>
        <p:spPr>
          <a:xfrm>
            <a:off x="457200" y="1280160"/>
            <a:ext cx="11320272" cy="841248"/>
          </a:xfrm>
          <a:prstGeom prst="roundRect">
            <a:avLst>
              <a:gd name="adj" fmla="val 8696"/>
            </a:avLst>
          </a:prstGeom>
          <a:solidFill>
            <a:srgbClr val="F2E8DB"/>
          </a:solidFill>
          <a:ln/>
        </p:spPr>
      </p:sp>
      <p:sp>
        <p:nvSpPr>
          <p:cNvPr id="5" name="Text 2"/>
          <p:cNvSpPr txBox="1"/>
          <p:nvPr/>
        </p:nvSpPr>
        <p:spPr>
          <a:xfrm>
            <a:off x="685800" y="1280160"/>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01</a:t>
            </a:r>
            <a:endParaRPr lang="en-US" sz="2800" dirty="0"/>
          </a:p>
        </p:txBody>
      </p:sp>
      <p:sp>
        <p:nvSpPr>
          <p:cNvPr id="6" name="Text 3"/>
          <p:cNvSpPr txBox="1"/>
          <p:nvPr/>
        </p:nvSpPr>
        <p:spPr>
          <a:xfrm>
            <a:off x="1554480" y="1280160"/>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Confirmer les seuils de segmentation</a:t>
            </a:r>
            <a:r>
              <a:rPr lang="en-US" sz="1600" dirty="0">
                <a:solidFill>
                  <a:srgbClr val="3D3D3B"/>
                </a:solidFill>
              </a:rPr>
              <a:t>  —  lecture conjointe Risques, Conformité et Juridique des textes Bank Al-Maghrib.</a:t>
            </a:r>
            <a:endParaRPr lang="en-US" sz="1600" dirty="0"/>
          </a:p>
        </p:txBody>
      </p:sp>
      <p:sp>
        <p:nvSpPr>
          <p:cNvPr id="7" name="decision-2"/>
          <p:cNvSpPr/>
          <p:nvPr/>
        </p:nvSpPr>
        <p:spPr>
          <a:xfrm>
            <a:off x="457200" y="2267712"/>
            <a:ext cx="11320272" cy="841248"/>
          </a:xfrm>
          <a:prstGeom prst="roundRect">
            <a:avLst>
              <a:gd name="adj" fmla="val 8696"/>
            </a:avLst>
          </a:prstGeom>
          <a:solidFill>
            <a:srgbClr val="FBF6F0"/>
          </a:solidFill>
          <a:ln/>
        </p:spPr>
      </p:sp>
      <p:sp>
        <p:nvSpPr>
          <p:cNvPr id="8" name="Text 5"/>
          <p:cNvSpPr txBox="1"/>
          <p:nvPr/>
        </p:nvSpPr>
        <p:spPr>
          <a:xfrm>
            <a:off x="685800" y="2267712"/>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02</a:t>
            </a:r>
            <a:endParaRPr lang="en-US" sz="2800" dirty="0"/>
          </a:p>
        </p:txBody>
      </p:sp>
      <p:sp>
        <p:nvSpPr>
          <p:cNvPr id="9" name="Text 6"/>
          <p:cNvSpPr txBox="1"/>
          <p:nvPr/>
        </p:nvSpPr>
        <p:spPr>
          <a:xfrm>
            <a:off x="1554480" y="2267712"/>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Trancher le score de l'information absente</a:t>
            </a:r>
            <a:r>
              <a:rPr lang="en-US" sz="1600" dirty="0">
                <a:solidFill>
                  <a:srgbClr val="3D3D3B"/>
                </a:solidFill>
              </a:rPr>
              <a:t>  —  aujourd'hui 25/100, il peut améliorer un critère très mauvais.</a:t>
            </a:r>
            <a:endParaRPr lang="en-US" sz="1600" dirty="0"/>
          </a:p>
        </p:txBody>
      </p:sp>
      <p:sp>
        <p:nvSpPr>
          <p:cNvPr id="10" name="decision-3"/>
          <p:cNvSpPr/>
          <p:nvPr/>
        </p:nvSpPr>
        <p:spPr>
          <a:xfrm>
            <a:off x="457200" y="3255264"/>
            <a:ext cx="11320272" cy="841248"/>
          </a:xfrm>
          <a:prstGeom prst="roundRect">
            <a:avLst>
              <a:gd name="adj" fmla="val 8696"/>
            </a:avLst>
          </a:prstGeom>
          <a:solidFill>
            <a:srgbClr val="F2E8DB"/>
          </a:solidFill>
          <a:ln/>
        </p:spPr>
      </p:sp>
      <p:sp>
        <p:nvSpPr>
          <p:cNvPr id="11" name="Text 8"/>
          <p:cNvSpPr txBox="1"/>
          <p:nvPr/>
        </p:nvSpPr>
        <p:spPr>
          <a:xfrm>
            <a:off x="685800" y="3255264"/>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03</a:t>
            </a:r>
            <a:endParaRPr lang="en-US" sz="2800" dirty="0"/>
          </a:p>
        </p:txBody>
      </p:sp>
      <p:sp>
        <p:nvSpPr>
          <p:cNvPr id="12" name="Text 9"/>
          <p:cNvSpPr txBox="1"/>
          <p:nvPr/>
        </p:nvSpPr>
        <p:spPr>
          <a:xfrm>
            <a:off x="1554480" y="3255264"/>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Lancer la collecte de l'historique de défauts</a:t>
            </a:r>
            <a:r>
              <a:rPr lang="en-US" sz="1600" dirty="0">
                <a:solidFill>
                  <a:srgbClr val="3D3D3B"/>
                </a:solidFill>
              </a:rPr>
              <a:t>  —  condition de la calibration et de l'affichage des probabilités de défaut.</a:t>
            </a:r>
            <a:endParaRPr lang="en-US" sz="1600" dirty="0"/>
          </a:p>
        </p:txBody>
      </p:sp>
      <p:sp>
        <p:nvSpPr>
          <p:cNvPr id="13" name="decision-4"/>
          <p:cNvSpPr/>
          <p:nvPr/>
        </p:nvSpPr>
        <p:spPr>
          <a:xfrm>
            <a:off x="457200" y="4242816"/>
            <a:ext cx="11320272" cy="841248"/>
          </a:xfrm>
          <a:prstGeom prst="roundRect">
            <a:avLst>
              <a:gd name="adj" fmla="val 8696"/>
            </a:avLst>
          </a:prstGeom>
          <a:solidFill>
            <a:srgbClr val="FBF6F0"/>
          </a:solidFill>
          <a:ln/>
        </p:spPr>
      </p:sp>
      <p:sp>
        <p:nvSpPr>
          <p:cNvPr id="14" name="Text 11"/>
          <p:cNvSpPr txBox="1"/>
          <p:nvPr/>
        </p:nvSpPr>
        <p:spPr>
          <a:xfrm>
            <a:off x="685800" y="4242816"/>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04</a:t>
            </a:r>
            <a:endParaRPr lang="en-US" sz="2800" dirty="0"/>
          </a:p>
        </p:txBody>
      </p:sp>
      <p:sp>
        <p:nvSpPr>
          <p:cNvPr id="15" name="Text 12"/>
          <p:cNvSpPr txBox="1"/>
          <p:nvPr/>
        </p:nvSpPr>
        <p:spPr>
          <a:xfrm>
            <a:off x="1554480" y="4242816"/>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Valider le principe d'un plafond pays</a:t>
            </a:r>
            <a:r>
              <a:rPr lang="en-US" sz="1600" dirty="0">
                <a:solidFill>
                  <a:srgbClr val="3D3D3B"/>
                </a:solidFill>
              </a:rPr>
              <a:t>  —  indispensable avant tout déploiement dans les filiales africaines.</a:t>
            </a:r>
            <a:endParaRPr lang="en-US" sz="1600" dirty="0"/>
          </a:p>
        </p:txBody>
      </p:sp>
      <p:sp>
        <p:nvSpPr>
          <p:cNvPr id="16" name="decision-5"/>
          <p:cNvSpPr/>
          <p:nvPr/>
        </p:nvSpPr>
        <p:spPr>
          <a:xfrm>
            <a:off x="457200" y="5230368"/>
            <a:ext cx="11320272" cy="841248"/>
          </a:xfrm>
          <a:prstGeom prst="roundRect">
            <a:avLst>
              <a:gd name="adj" fmla="val 8696"/>
            </a:avLst>
          </a:prstGeom>
          <a:solidFill>
            <a:srgbClr val="F2E8DB"/>
          </a:solidFill>
          <a:ln/>
        </p:spPr>
      </p:sp>
      <p:sp>
        <p:nvSpPr>
          <p:cNvPr id="17" name="Text 14"/>
          <p:cNvSpPr txBox="1"/>
          <p:nvPr/>
        </p:nvSpPr>
        <p:spPr>
          <a:xfrm>
            <a:off x="685800" y="5230368"/>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05</a:t>
            </a:r>
            <a:endParaRPr lang="en-US" sz="2800" dirty="0"/>
          </a:p>
        </p:txBody>
      </p:sp>
      <p:sp>
        <p:nvSpPr>
          <p:cNvPr id="18" name="Text 15"/>
          <p:cNvSpPr txBox="1"/>
          <p:nvPr/>
        </p:nvSpPr>
        <p:spPr>
          <a:xfrm>
            <a:off x="1554480" y="5230368"/>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Choisir la filiale pilote</a:t>
            </a:r>
            <a:r>
              <a:rPr lang="en-US" sz="1600" dirty="0">
                <a:solidFill>
                  <a:srgbClr val="3D3D3B"/>
                </a:solidFill>
              </a:rPr>
              <a:t>  —  après le Maroc, hébergement et données validés localement.</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MERCI</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Questions et échanges</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theme/theme1.xml><?xml version="1.0" encoding="utf-8"?>
<a:theme xmlns:a="http://schemas.openxmlformats.org/drawingml/2006/main" name="Groupe BCP">
  <a:themeElements>
    <a:clrScheme name="Groupe BCP">
      <a:dk1>
        <a:srgbClr val="3D3D3B"/>
      </a:dk1>
      <a:lt1>
        <a:srgbClr val="FFFFFF"/>
      </a:lt1>
      <a:dk2>
        <a:srgbClr val="462016"/>
      </a:dk2>
      <a:lt2>
        <a:srgbClr val="F2E8DB"/>
      </a:lt2>
      <a:accent1>
        <a:srgbClr val="E37B05"/>
      </a:accent1>
      <a:accent2>
        <a:srgbClr val="ED6D19"/>
      </a:accent2>
      <a:accent3>
        <a:srgbClr val="E12E16"/>
      </a:accent3>
      <a:accent4>
        <a:srgbClr val="8C5B52"/>
      </a:accent4>
      <a:accent5>
        <a:srgbClr val="C9560C"/>
      </a:accent5>
      <a:accent6>
        <a:srgbClr val="B3B2B2"/>
      </a:accent6>
      <a:hlink>
        <a:srgbClr val="C9560C"/>
      </a:hlink>
      <a:folHlink>
        <a:srgbClr val="8C5B52"/>
      </a:folHlink>
    </a:clrScheme>
    <a:fontScheme name="Groupe BC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SGES — Présentation au management</dc:title>
  <dc:subject>PptxGenJS Presentation</dc:subject>
  <dc:creator>Projet SGES</dc:creator>
  <cp:lastModifiedBy>Projet SGES</cp:lastModifiedBy>
  <cp:revision>1</cp:revision>
  <dcterms:created xsi:type="dcterms:W3CDTF">2026-10-26T16:52:09Z</dcterms:created>
  <dcterms:modified xsi:type="dcterms:W3CDTF">2026-10-26T16:52:09Z</dcterms:modified>
</cp:coreProperties>
</file>