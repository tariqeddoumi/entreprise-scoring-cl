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18" r:id="rId69"/>
    <p:sldId id="319" r:id="rId70"/>
    <p:sldId id="320" r:id="rId71"/>
    <p:sldId id="321" r:id="rId72"/>
    <p:sldId id="322" r:id="rId73"/>
    <p:sldId id="323" r:id="rId74"/>
    <p:sldId id="324" r:id="rId75"/>
    <p:sldId id="325" r:id="rId76"/>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984fd844-e2f6-0d4c-002e-945d5cbcf8e5}">
          <p14:sldIdLst>
            <p14:sldId id="256"/>
            <p14:sldId id="257"/>
          </p14:sldIdLst>
        </p14:section>
        <p14:section name="Enjeux" id="{6adef724-e0ee-596f-432a-8f5d98d973d9}">
          <p14:sldIdLst>
            <p14:sldId id="258"/>
          </p14:sldIdLst>
        </p14:section>
        <p14:section name="L'outil" id="{1edfa864-818c-8daf-1c7c-c97da56cb412}">
          <p14:sldIdLst>
            <p14:sldId id="259"/>
            <p14:sldId id="260"/>
          </p14:sldIdLst>
        </p14:section>
        <p14:section name="Pilotage" id="{d25cff36-180e-681e-dbc0-d44027c1fb15}">
          <p14:sldIdLst>
            <p14:sldId id="261"/>
            <p14:sldId id="262"/>
            <p14:sldId id="263"/>
            <p14:sldId id="264"/>
          </p14:sldIdLst>
        </p14:section>
        <p14:section name="Fiabilité et suite" id="{d172d8ed-f1cc-4767-6ac6-5daf44896569}">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xml"/><Relationship Id="rId20"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14.xml"/><Relationship Id="rId33" Type="http://schemas.openxmlformats.org/officeDocument/2006/relationships/slide" Target="slides/slide15.xml"/><Relationship Id="rId34" Type="http://schemas.openxmlformats.org/officeDocument/2006/relationships/slide" Target="slides/slide16.xml"/><Relationship Id="rId35" Type="http://schemas.openxmlformats.org/officeDocument/2006/relationships/slide" Target="slides/slide17.xml"/><Relationship Id="rId36" Type="http://schemas.openxmlformats.org/officeDocument/2006/relationships/slide" Target="slides/slide18.xml"/><Relationship Id="rId37" Type="http://schemas.openxmlformats.org/officeDocument/2006/relationships/slide" Target="slides/slide19.xml"/><Relationship Id="rId38" Type="http://schemas.openxmlformats.org/officeDocument/2006/relationships/slide" Target="slides/slide20.xml"/><Relationship Id="rId39" Type="http://schemas.openxmlformats.org/officeDocument/2006/relationships/slide" Target="slides/slide21.xml"/><Relationship Id="rId40" Type="http://schemas.openxmlformats.org/officeDocument/2006/relationships/slide" Target="slides/slide22.xml"/><Relationship Id="rId41" Type="http://schemas.openxmlformats.org/officeDocument/2006/relationships/slide" Target="slides/slide23.xml"/><Relationship Id="rId42" Type="http://schemas.openxmlformats.org/officeDocument/2006/relationships/slide" Target="slides/slide24.xml"/><Relationship Id="rId43" Type="http://schemas.openxmlformats.org/officeDocument/2006/relationships/slide" Target="slides/slide25.xml"/><Relationship Id="rId44" Type="http://schemas.openxmlformats.org/officeDocument/2006/relationships/slide" Target="slides/slide26.xml"/><Relationship Id="rId45" Type="http://schemas.openxmlformats.org/officeDocument/2006/relationships/slide" Target="slides/slide27.xml"/><Relationship Id="rId46" Type="http://schemas.openxmlformats.org/officeDocument/2006/relationships/slide" Target="slides/slide28.xml"/><Relationship Id="rId47" Type="http://schemas.openxmlformats.org/officeDocument/2006/relationships/slide" Target="slides/slide29.xml"/><Relationship Id="rId48" Type="http://schemas.openxmlformats.org/officeDocument/2006/relationships/slide" Target="slides/slide30.xml"/><Relationship Id="rId49" Type="http://schemas.openxmlformats.org/officeDocument/2006/relationships/slide" Target="slides/slide31.xml"/><Relationship Id="rId50" Type="http://schemas.openxmlformats.org/officeDocument/2006/relationships/slide" Target="slides/slide32.xml"/><Relationship Id="rId51" Type="http://schemas.openxmlformats.org/officeDocument/2006/relationships/slide" Target="slides/slide33.xml"/><Relationship Id="rId52" Type="http://schemas.openxmlformats.org/officeDocument/2006/relationships/slide" Target="slides/slide34.xml"/><Relationship Id="rId53" Type="http://schemas.openxmlformats.org/officeDocument/2006/relationships/slide" Target="slides/slide35.xml"/><Relationship Id="rId54" Type="http://schemas.openxmlformats.org/officeDocument/2006/relationships/slide" Target="slides/slide36.xml"/><Relationship Id="rId55" Type="http://schemas.openxmlformats.org/officeDocument/2006/relationships/slide" Target="slides/slide37.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38.xml"/><Relationship Id="rId70" Type="http://schemas.openxmlformats.org/officeDocument/2006/relationships/slide" Target="slides/slide39.xml"/><Relationship Id="rId71" Type="http://schemas.openxmlformats.org/officeDocument/2006/relationships/slide" Target="slides/slide40.xml"/><Relationship Id="rId72" Type="http://schemas.openxmlformats.org/officeDocument/2006/relationships/slide" Target="slides/slide41.xml"/><Relationship Id="rId73" Type="http://schemas.openxmlformats.org/officeDocument/2006/relationships/slide" Target="slides/slide42.xml"/><Relationship Id="rId74" Type="http://schemas.openxmlformats.org/officeDocument/2006/relationships/slide" Target="slides/slide43.xml"/><Relationship Id="rId75" Type="http://schemas.openxmlformats.org/officeDocument/2006/relationships/slide" Target="slides/slide44.xml"/><Relationship Id="rId76"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de prise en main destiné aux analystes, valideurs et administrateurs. Chaque diapositive montre l'écran réel de l'outil, l'élément utile encadré en orange, et les actions à faire dans l'ordre. Les données affichées sont fictives.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profil est attribué par l'administrateur. Chaque profil inclut les droits du précédent : un gestionnaire des risques peut instruire un dossier, mais ne valide jamais un dossier auquel il a contribué. Chaque compte est rattaché à une banque ou une filiale et ne voit que son périmètre.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circuit en dix étapes. L'analyste instruit et soumet ; le calcul est fait par l'outil et figé à la soumission ; le gestionnaire des risques valide ou rejette avec un motif. Une dérogation reste possible ensuite, avec une seconde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connecter, se repérer dans le menu et lire le tableau de bord.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connecter. Ouvrir l'adresse de l'outil communiquée par l'administrateur. Saisir son identifiant et son mot de passe. Cliquer sur « Se connecter ». À savoir : À la première connexion, le mot de passe provisoire doit être changé. Cinq échecs consécutifs verrouillent le compte quelques minutes.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Changer son mot de passe. Cliquer sur son nom, en haut à droite. Saisir le mot de passe actuel, puis deux fois le nouveau. Cliquer sur « Enregistrer ». À savoir : Douze caractères au moins, sans reprendre l'identifiant. Les autres sessions ouvertes sont fermées.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menu principal. Tableau de bord : la vue d'ensemble du portefeuille. Dossiers : les notations en cours et la file « À traiter ». Contreparties, Nouvelle notation, Modèles, Méthodologie. Administration : réservé aux administrateurs. À savoir : Le nom de votre banque ou filiale s'affiche à côté du nom de l'outil : vous ne voyez que les dossiers de votre périmètre.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 tableau de bord. Les compteurs : contreparties, notations validées, dossiers à valider. La distribution des grades : la dernière note validée de chaque contrepartie. Les dernières notations, avec la mention « proposée, non validée » le cas échéant. À savoir : Seule une notation validée compte dans la distribution : une notation soumise n'est qu'une proposition.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Créer une entreprise à noter, au besoin en faisant pré-remplir la fiche par l'IA.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liste des contreparties. Menu « Contreparties ». Rechercher par nom, ICE ou entité ; filtrer par segment. Le grade affiché est celui de la dernière notation validée. « Exporter CSV » produit la liste filtrée pour Excel. À savoir : La mention « dossier en cours » ou « dossier à valider » signale une notation en préparation.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Créer une contrepartie avec l'IA. Cliquer sur « + Nouvelle contrepartie ». Coller un texte (extrait RC, attestation ICE) ou joindre la pièce. Cliquer sur « Pré-remplir ». À savoir : Rubrique visible uniquement si l'administrateur a activé l'IA. Sans IA, la fiche se saisit à la main.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Relire et enregistrer la fiche. Relire chaque champ marqué « IA » et corriger si besoin. Choisir la banque ou filiale de rattachement. Compléter le pays et la devise des comptes si l'entreprise n'est pas au Maroc. Cliquer sur « Enregistrer ». À savoir : Rien n'est enregistré sans votre clic. Pays et devise vides : ceux de l'entité de rattachement.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fiche d'une contrepartie. Cliquer sur le nom d'une contrepartie. En haut : entité, pays, devise, identifiants. Les dossiers de notation, puis l'historique des notations. « détail » ouvre le résultat complet d'une notation. À savoir : Quand deux notations validées existent, l'écran explique l'évolution entre les deux, critère par critère.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rôle de l'analyste : ouvrir le dossier, l'instruire avec ou sans l'IA, vérifier le calcul, soumettre.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Ouvrir un dossier de notation. Menu « Nouvelle notation ». Choisir la contrepartie, le modèle et la date d'arrêté. Cliquer sur « Ouvrir le dossier ». À savoir : Un seul dossier en cours par contrepartie. La saisie du dernier dossier validé est reprise, à mettre à jour.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dossier en brouillon. À gauche : la grille de notation, domaine par domaine. À droite : les pièces et l'assistance de l'IA. En bas : les boutons Enregistrer, Aperçu et Soumettre. À savoir : La barre de progression indique les critères renseignés et signale en rouge les trois données critiques manquantes.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cadrage du dossier. Vérifier le segment (PME par défaut) et la date d'arrêté. Saisir le chiffre d'affaires et les engagements bancaires, dans la devise de la contrepartie. Renseigner l'ancienneté de l'entreprise. À savoir : Les montants en devise étrangère sont convertis en MAD au cours de la date d'arrêté ; la conversion est conservée dans le dossier.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Ajouter les pièces. Cliquer sur « Choisir des fichiers » dans « Pièces du dossier ». Sélectionner les états financiers, la liasse, le rapport de gestion… Cliquer sur « Ajouter ». À savoir : PDF, PNG, JPEG, texte ou CSV ; 4 Mo au plus par pièce. Chaque pièce est conservée avec son empreinte.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Demander des propositions à l'IA. Cocher les pièces à faire lire. Ajouter au besoin des éléments : compte rendu de visite, faits récents. Cliquer sur « Proposer des valeurs » (jusqu'à deux minutes). À savoir : L'IA ne note pas l'entreprise : elle propose des valeurs pour la grille, avec leur source et leur calcul.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 les propositions. Lire pour chaque proposition la valeur, la source et la justification. Cliquer sur « Accepter » ou « Refuser ». « Accepter celles ≥ 80 % » accepte d'un coup les plus sûres. À savoir : Une proposition hors grille ou invalide est écartée automatiquement. Décider d'une proposition vous rend contributeur du dossier.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Contrôler la grille. Les valeurs acceptées portent le repère « IA ». Vérifier chaque valeur ; la modifier si nécessaire. Compléter les critères restants. À savoir : Le barème du ratio est rappelé sous la valeur saisie.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Noter un critère qualitatif. Ouvrir la liste de repères du critère. Choisir le repère (100, 75, 50, 25 ou 0) qui décrit les faits. Justifier ce choix dans les pièces du dossier. À savoir : Les repères sont écrits : deux analystes face aux mêmes faits doivent choisir le même.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Qualifier le statut d'une donnée. « Disponible » : la donnée est observée. « Estimée » : comptée dans le score, pas dans la couverture. « Manquante », « Périmée » : score prudent de 25 appliqué. À savoir : Sans fonds propres, dette nette sur EBE ou retards de paiement, aucune note n'est produite.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Enregistrer le brouillon. Cliquer sur « Enregistrer le brouillon » régulièrement. Le message « Brouillon enregistré » confirme. À savoir : « Modifications non enregistrées » signale une saisie à sauvegarder ; le navigateur prévient avant de quitter la page.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Vérifier avec l'aperçu. Cliquer sur « Aperçu du calcul ». Lire le grade, le score brut et la couverture. Corriger la saisie si un point surprend. À savoir : L'aperçu n'enregistre rien. La soumission recalcule exactement la même requête.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Soumettre à validation. Cliquer sur « Soumettre à validation », puis confirmer. La notation est calculée et figée ; le dossier passe « À valider ». À savoir : Vous ne pouvez pas valider votre propre dossier : la validation revient à une autre personne.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la soumission est refusée. Lire le message sous les boutons. Compléter les données critiques ou manquantes. Soumettre de nouveau. À savoir : Un dossier qui ne produit pas de grade ne se soumet pas : il se complète.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rôle du gestionnaire des risques : traiter la file, valider ou rejeter avec un motif.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file « À traiter ». Menu « Dossiers », onglet « À traiter ». Le valideur y trouve les dossiers soumis par d'autres. Cliquer sur la contrepartie pour ouvrir le dossier. À savoir : La file liste aussi les notes à renouveler : dernière notation validée plus ancienne que la durée de validité.</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Valider ou rejeter. Relire le résultat, la conversion des montants et la saisie. Saisir un commentaire (obligatoire pour un rejet, 10 caractères au moins). Cliquer sur « Valider la notation » ou « Rejeter ». À savoir : Le panneau indique le rôle requis et les contributeurs exclus. Au-delà du seuil de délégation, un rôle supérieur est exigé.</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note officielle. Le dossier passe « Validé ». La notation devient la note de la contrepartie. À savoir : L'historique du dossier, en bas de page, trace chaque action : qui, quand, quoi.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 résultat. Grade, score brut, classe de confiance et couverture observée. Les droits d'usage de la note. Les points forts et points faibles, critère par critère. À savoir : « Imprimer / PDF » produit une trace papier pour le comité.</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Reprendre un dossier rejeté. Lire le motif du rejet. Cliquer sur « Reprendre le dossier ». Corriger, puis soumettre de nouveau. À savoir : Un nouveau brouillon reprend la saisie ; le dossier rejeté reste dans l'historique et ne fait jamais foi.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Suivre tous les dossiers. Onglets : brouillons, à valider, validés, rejetés, abandonnés, tous. Les compteurs donnent l'état du stock. À savoir : Un brouillon inutile s'abandonne depuis le dossier (« Abandonner le dossier »).</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Ajuster une note validée, dans une limite de crans : un gestionnaire des risques demande, un autre décide.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Demander une dérogation. Le gestionnaire des risques ouvre la notation validée (lien « run » du dossier). Il déplie « Demander une dérogation ». Il choisit le grade retenu et le motif, justifie, puis clique sur « Demander ». À savoir : Réservé au gestionnaire des risques, comme par l'API. Deux crans au plus (paramétrable). Pas de dérogation vers ou depuis un grade de défaut.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Décider d'une dérogation. Un autre gestionnaire des risques, ou un administrateur, ouvre la notation. Il lit la justification et saisit un commentaire. Il clique sur « Approuver » ou « Rejeter ». À savoir : Le demandeur ne peut pas approuver sa propre dérogation. Le résultat du moteur n'est jamais réécrit.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Rattacher les contreparties à leur groupe d'affaires, puis renoter le portefeuille par lot, ponctuellement ou chaque mois.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groupes d'affaires. Menu « Groupes ». Créer un groupe : code, nom, entité qui le suit. Le tableau donne le nombre de membres de chaque groupe ; « Renoter le groupe » ouvre un lot pré-rempli. À savoir : Appartenir à un groupe ne relève jamais une note : le soutien du groupe reste soumis aux quatre conditions documentées du modèle.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fiche d'un groupe. Cliquer sur le code du groupe. Lire la note officielle et l'arrêté de chaque membre. Rattacher des contreparties en collant leurs ICE, un par ligne ; les détacher de la même façon. À savoir : Seules les contreparties de l'entité du groupe et de sa descendance peuvent y être rattachées. Chaque rattachement est journalisé.</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Lancer une renotation. Menu « Renotation » (gestionnaire des risques). Nommer le lot et choisir la date d'arrêté. Choisir la sélection : banque ou filiale, groupe d'affaires, segment, secteur, ancienneté de la validation. Joindre au besoin le fichier CSV de la DSI (première colonne « ice »). « Compter la sélection », puis « Lancer le lot ». À savoir : Chaque contrepartie est renotée à partir de son dernier dossier validé. Une valeur du fichier hors grille est refusée, jamais appliquée.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Suivre un lot et lire la migration. Le lot se traite pendant que l'écran est ouvert ; la barre montre l'avancement. Lire les compteurs : inchangées, améliorations, dégradations, sans note, défauts. La matrice croise la note officielle (en ligne) et la note de surveillance (en colonne). À savoir : Fermer l'écran n'arrête rien : la tâche planifiée du serveur reprend le lot là où il en est, sans jamais noter deux fois.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contreparties à revoir. Le filtre « À revoir » liste les migrations, absences de note et défauts. « Dossier » ouvre le dossier de revue créé par le lot. « Exporter le lot (CSV) » produit le détail pour Excel. À savoir : Une contrepartie sans dossier validé (nouvelle relation) est « écartée » avec son motif : elle se note par un dossier, pas par le lot.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Planifier une renotation périodique. En bas de l'écran Renotation. Choisir la fréquence (mensuelle à annuelle) et le jour d'exécution. Choisir la sélection et le seuil de migration, puis enregistrer. À savoir : À chaque échéance, un lot est créé avec pour date d'arrêté la fin du mois précédent. « Suspendre » arrête la planification sans la supprimer.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Instruire un dossier de revue. Ouvrir le dossier depuis le lot ou la file « Dossiers ». Lire le bandeau : note officielle, note de surveillance, écart en crans. Vérifier et compléter la saisie reprise, puis soumettre à validation. À savoir : La note officielle ne change qu'après validation de ce dossier par une seconde personne, comme pour tout dossier.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Simuler, consulter la grille et utiliser l'outil sur téléphone.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Simuler sans enregistrer. Menu « Nouvelle notation », partie « Simulation ». Saisir une grille et cliquer sur « Simuler la notation ». À savoir : Utile pour la formation ou pour tester l'effet d'un ratio. Rien n'est enregistré.</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Consulter la grille du modèle. Menu « Modèles », puis le modèle. Pondération des domaines, critères, barèmes et repères. À savoir : La méthodologie complète est dans le menu « Méthodologie ».</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téléphone. Le menu défile horizontalement. Les tableaux larges défilent dans leur cadre. À savoir : La validation d'un dossier est possible sur téléphone ; la saisie d'une grille complète est plus confortable sur ordinateur.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Réservé aux administrateurs : comptes, organisation, devises et paramétrage.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Vue d'ensemble. Menu « Administration ». Quatre domaines : utilisateurs, banques et filiales, devises, paramétrage. À savoir : Un administrateur d'entité gère les comptes de son périmètre ; le paramétrage global relève de l'administrateur du groupe.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Créer un compte. Saisir l'identifiant, le nom, le rôle. Choisir l'entité de rattachement et la portée d'écriture. Cliquer sur « Créer » et remettre le mot de passe provisoire par un canal distinct. À savoir : Un compte non rattaché à une entité n'a accès à rien, sauf l'administrateur du groupe.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Banques et filiales. Créer une entité : code, entité mère, type, pays, devise. Habillage facultatif : nom de l'outil, logo, couleur. « Modifier » ou « Désactiver » une entité existante. À savoir : Une entité voit sa descendance, jamais sa maison mère ni ses entités sœurs.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Publier un cours de change. Saisir la devise, la date d'effet et le cours en MAD. Indiquer la source (Bank Al-Maghrib…). Cliquer sur « Publier ». À savoir : Un cours publié ne se modifie pas : une correction est un nouveau cours daté.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Paramétrer le workflow. Rôle du valideur et seuil de délégation. Durée de validité d'une note, ampleur des dérogations, taille des pièces. Cliquer sur « Enregistrer le paramétrage ». À savoir : Chaque modification est journalisée. Les grilles de notation ne se paramètrent pas ici : elles relèvent du comité modèles.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Paramétrer l'IA. Cocher « Activée ». Choisir le fournisseur et le modèle ; l'adresse si l'API est interne. Enregistrer. À savoir : La clé d'accès n'est jamais saisie à l'écran : elle est déposée par l'informatique dans la configuration du serveur.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règles que l'outil applique de lui-même : elles ne dépendent pas de la discipline de chacun.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Coordonnées de l'assistance à compléter par la banque.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NTERCALAIRE-image-3.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rgbClr val="FFFFFF"/>
        </a:solidFill>
      </p:bgPr>
    </p:bg>
    <p:spTree>
      <p:nvGrpSpPr>
        <p:cNvPr id="1" name=""/>
        <p:cNvGrpSpPr/>
        <p:nvPr/>
      </p:nvGrpSpPr>
      <p:grpSpPr>
        <a:xfrm>
          <a:off x="0" y="0"/>
          <a:ext cx="0" cy="0"/>
          <a:chOff x="0" y="0"/>
          <a:chExt cx="0" cy="0"/>
        </a:xfrm>
      </p:grpSpPr>
      <p:pic>
        <p:nvPicPr>
          <p:cNvPr id="2" name="Image 0" descr="/tmp/claude-0/pdfbcp/assets/fond.png">    </p:cNvPr>
          <p:cNvPicPr>
            <a:picLocks noChangeAspect="1"/>
          </p:cNvPicPr>
          <p:nvPr/>
        </p:nvPicPr>
        <p:blipFill>
          <a:blip r:embed="rId1"/>
          <a:stretch>
            <a:fillRect/>
          </a:stretch>
        </p:blipFill>
        <p:spPr>
          <a:xfrm>
            <a:off x="0" y="1417320"/>
            <a:ext cx="12191695" cy="5440680"/>
          </a:xfrm>
          <a:prstGeom prst="rect">
            <a:avLst/>
          </a:prstGeom>
        </p:spPr>
      </p:pic>
      <p:pic>
        <p:nvPicPr>
          <p:cNvPr id="3" name="Image 1" descr="/tmp/claude-0/pdfbcp/assets/logo.png">    </p:cNvPr>
          <p:cNvPicPr>
            <a:picLocks noChangeAspect="1"/>
          </p:cNvPicPr>
          <p:nvPr/>
        </p:nvPicPr>
        <p:blipFill>
          <a:blip r:embed="rId2"/>
          <a:stretch>
            <a:fillRect/>
          </a:stretch>
        </p:blipFill>
        <p:spPr>
          <a:xfrm>
            <a:off x="5074920" y="164592"/>
            <a:ext cx="2039112" cy="1060704"/>
          </a:xfrm>
          <a:prstGeom prst="rect">
            <a:avLst/>
          </a:prstGeom>
        </p:spPr>
      </p:pic>
      <p:pic>
        <p:nvPicPr>
          <p:cNvPr id="4" name="Image 2" descr="/tmp/claude-0/pdfbcp/assets/motif.png">    </p:cNvPr>
          <p:cNvPicPr>
            <a:picLocks noChangeAspect="1"/>
          </p:cNvPicPr>
          <p:nvPr/>
        </p:nvPicPr>
        <p:blipFill>
          <a:blip r:embed="rId3"/>
          <a:stretch>
            <a:fillRect/>
          </a:stretch>
        </p:blipFill>
        <p:spPr>
          <a:xfrm>
            <a:off x="9646920" y="1691640"/>
            <a:ext cx="1828800" cy="2706624"/>
          </a:xfrm>
          <a:prstGeom prst="rect">
            <a:avLst/>
          </a:prstGeom>
        </p:spPr>
      </p:pic>
      <p:pic>
        <p:nvPicPr>
          <p:cNvPr id="5" name="Image 3" descr="/tmp/claude-0/pdfbcp/assets/motif2.png">    </p:cNvPr>
          <p:cNvPicPr>
            <a:picLocks noChangeAspect="1"/>
          </p:cNvPicPr>
          <p:nvPr/>
        </p:nvPicPr>
        <p:blipFill>
          <a:blip r:embed="rId4"/>
          <a:stretch>
            <a:fillRect/>
          </a:stretch>
        </p:blipFill>
        <p:spPr>
          <a:xfrm>
            <a:off x="9646920" y="4526280"/>
            <a:ext cx="1828800" cy="2103120"/>
          </a:xfrm>
          <a:prstGeom prst="rect">
            <a:avLst/>
          </a:prstGeom>
        </p:spPr>
      </p:pic>
      <p:sp>
        <p:nvSpPr>
          <p:cNvPr id="6" name="Text 0"/>
          <p:cNvSpPr/>
          <p:nvPr>
            <p:ph idx="104" type="title" hasCustomPrompt="1"/>
          </p:nvPr>
        </p:nvSpPr>
        <p:spPr>
          <a:xfrm>
            <a:off x="731520" y="2240280"/>
            <a:ext cx="7863840" cy="201168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7" name="Text 0"/>
          <p:cNvSpPr/>
          <p:nvPr>
            <p:ph idx="105" type="body" hasCustomPrompt="1"/>
          </p:nvPr>
        </p:nvSpPr>
        <p:spPr>
          <a:xfrm>
            <a:off x="731520" y="4434840"/>
            <a:ext cx="7863840" cy="1280160"/>
          </a:xfrm>
          <a:prstGeom prst="rect">
            <a:avLst/>
          </a:prstGeom>
          <a:noFill/>
          <a:ln/>
        </p:spPr>
        <p:txBody>
          <a:bodyPr wrap="square" rtlCol="0"/>
          <a:lstStyle>
            <a:lvl1pPr algn="l" indent="0" marL="0">
              <a:buNone/>
              <a:defRPr lang="en-US" sz="1800" dirty="0">
                <a:solidFill>
                  <a:schemeClr val="bg1"/>
                </a:solidFill>
                <a:latin typeface="Arial" pitchFamily="34" charset="0"/>
                <a:ea typeface="Arial" pitchFamily="34" charset="-122"/>
                <a:cs typeface="Arial"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pdfbcp/assets/logo_blanc.png">    </p:cNvPr>
          <p:cNvPicPr>
            <a:picLocks noChangeAspect="1"/>
          </p:cNvPicPr>
          <p:nvPr/>
        </p:nvPicPr>
        <p:blipFill>
          <a:blip r:embed="rId1"/>
          <a:stretch>
            <a:fillRect/>
          </a:stretch>
        </p:blipFill>
        <p:spPr>
          <a:xfrm>
            <a:off x="548640" y="411480"/>
            <a:ext cx="1371600" cy="713232"/>
          </a:xfrm>
          <a:prstGeom prst="rect">
            <a:avLst/>
          </a:prstGeom>
        </p:spPr>
      </p:pic>
      <p:pic>
        <p:nvPicPr>
          <p:cNvPr id="3" name="Image 1" descr="/tmp/claude-0/pdfbcp/assets/motif.png">    </p:cNvPr>
          <p:cNvPicPr>
            <a:picLocks noChangeAspect="1"/>
          </p:cNvPicPr>
          <p:nvPr/>
        </p:nvPicPr>
        <p:blipFill>
          <a:blip r:embed="rId2"/>
          <a:stretch>
            <a:fillRect/>
          </a:stretch>
        </p:blipFill>
        <p:spPr>
          <a:xfrm>
            <a:off x="9692640" y="502920"/>
            <a:ext cx="1920240" cy="2834640"/>
          </a:xfrm>
          <a:prstGeom prst="rect">
            <a:avLst/>
          </a:prstGeom>
        </p:spPr>
      </p:pic>
      <p:sp>
        <p:nvSpPr>
          <p:cNvPr id="4" name="Text 0"/>
          <p:cNvSpPr/>
          <p:nvPr>
            <p:ph idx="102" type="body" hasCustomPrompt="1"/>
          </p:nvPr>
        </p:nvSpPr>
        <p:spPr>
          <a:xfrm>
            <a:off x="731520" y="2103120"/>
            <a:ext cx="2743200" cy="1097280"/>
          </a:xfrm>
          <a:prstGeom prst="rect">
            <a:avLst/>
          </a:prstGeom>
          <a:noFill/>
          <a:ln/>
        </p:spPr>
        <p:txBody>
          <a:bodyPr wrap="square" rtlCol="0"/>
          <a:lstStyle>
            <a:lvl1pPr algn="l" indent="0" marL="0">
              <a:buNone/>
              <a:defRPr lang="en-US" sz="6000" b="1" dirty="0">
                <a:solidFill>
                  <a:schemeClr val="bg1"/>
                </a:solidFill>
                <a:latin typeface="Arial" pitchFamily="34" charset="0"/>
                <a:ea typeface="Arial" pitchFamily="34" charset="-122"/>
                <a:cs typeface="Arial" pitchFamily="34" charset="-120"/>
              </a:defRPr>
            </a:lvl1pPr>
          </a:lstStyle>
          <a:p>
            <a:pPr algn="l" indent="0" marL="0">
              <a:buNone/>
            </a:pPr>
            <a:endParaRPr lang="en-US" sz="6000" dirty="0"/>
          </a:p>
        </p:txBody>
      </p:sp>
      <p:sp>
        <p:nvSpPr>
          <p:cNvPr id="5" name="Text 0"/>
          <p:cNvSpPr/>
          <p:nvPr>
            <p:ph idx="103" type="title" hasCustomPrompt="1"/>
          </p:nvPr>
        </p:nvSpPr>
        <p:spPr>
          <a:xfrm>
            <a:off x="731520" y="3200400"/>
            <a:ext cx="8595360" cy="137160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6" name="Text 0"/>
          <p:cNvSpPr/>
          <p:nvPr>
            <p:ph idx="104" type="body" hasCustomPrompt="1"/>
          </p:nvPr>
        </p:nvSpPr>
        <p:spPr>
          <a:xfrm>
            <a:off x="731520" y="4617720"/>
            <a:ext cx="8595360" cy="1097280"/>
          </a:xfrm>
          <a:prstGeom prst="rect">
            <a:avLst/>
          </a:prstGeom>
          <a:noFill/>
          <a:ln/>
        </p:spPr>
        <p:txBody>
          <a:bodyPr wrap="square" rtlCol="0"/>
          <a:lstStyle>
            <a:lvl1pPr algn="l" indent="0" marL="0">
              <a:buNone/>
              <a:defRPr lang="en-US" sz="1800" dirty="0">
                <a:solidFill>
                  <a:schemeClr val="bg1"/>
                </a:solidFill>
                <a:latin typeface="Arial" pitchFamily="34" charset="0"/>
                <a:ea typeface="Arial" pitchFamily="34" charset="-122"/>
                <a:cs typeface="Arial" pitchFamily="34" charset="-120"/>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pic>
        <p:nvPicPr>
          <p:cNvPr id="2" name="Image 0" descr="/tmp/claude-0/pdfbcp/assets/bandeau.png">    </p:cNvPr>
          <p:cNvPicPr>
            <a:picLocks noChangeAspect="1"/>
          </p:cNvPicPr>
          <p:nvPr/>
        </p:nvPicPr>
        <p:blipFill>
          <a:blip r:embed="rId1"/>
          <a:stretch>
            <a:fillRect/>
          </a:stretch>
        </p:blipFill>
        <p:spPr>
          <a:xfrm>
            <a:off x="411480" y="274320"/>
            <a:ext cx="11365992" cy="713232"/>
          </a:xfrm>
          <a:prstGeom prst="rect">
            <a:avLst/>
          </a:prstGeom>
        </p:spPr>
      </p:pic>
      <p:pic>
        <p:nvPicPr>
          <p:cNvPr id="3" name="Image 1" descr="/tmp/claude-0/pdfbcp/assets/logo_blanc.png">    </p:cNvPr>
          <p:cNvPicPr>
            <a:picLocks noChangeAspect="1"/>
          </p:cNvPicPr>
          <p:nvPr/>
        </p:nvPicPr>
        <p:blipFill>
          <a:blip r:embed="rId2"/>
          <a:stretch>
            <a:fillRect/>
          </a:stretch>
        </p:blipFill>
        <p:spPr>
          <a:xfrm>
            <a:off x="10744200" y="329184"/>
            <a:ext cx="914400" cy="475488"/>
          </a:xfrm>
          <a:prstGeom prst="rect">
            <a:avLst/>
          </a:prstGeom>
        </p:spPr>
      </p:pic>
      <p:sp>
        <p:nvSpPr>
          <p:cNvPr id="4" name="Text 0"/>
          <p:cNvSpPr/>
          <p:nvPr>
            <p:ph idx="102" type="title" hasCustomPrompt="1"/>
          </p:nvPr>
        </p:nvSpPr>
        <p:spPr>
          <a:xfrm>
            <a:off x="594360" y="274320"/>
            <a:ext cx="9966960" cy="713232"/>
          </a:xfrm>
          <a:prstGeom prst="rect">
            <a:avLst/>
          </a:prstGeom>
          <a:noFill/>
          <a:ln/>
        </p:spPr>
        <p:txBody>
          <a:bodyPr wrap="square" rtlCol="0"/>
          <a:lstStyle>
            <a:lvl1pPr indent="0" marL="0">
              <a:buNone/>
              <a:defRPr lang="en-US" sz="2400" b="1" dirty="0">
                <a:solidFill>
                  <a:schemeClr val="bg1"/>
                </a:solidFill>
                <a:latin typeface="Arial" pitchFamily="34" charset="0"/>
                <a:ea typeface="Arial" pitchFamily="34" charset="-122"/>
                <a:cs typeface="Arial" pitchFamily="34" charset="-120"/>
              </a:defRPr>
            </a:lvl1pPr>
          </a:lstStyle>
          <a:p>
            <a:pPr indent="0" marL="0">
              <a:buNone/>
            </a:pPr>
            <a:endParaRPr lang="en-US" sz="2400" dirty="0"/>
          </a:p>
        </p:txBody>
      </p:sp>
      <p:sp>
        <p:nvSpPr>
          <p:cNvPr id="5" name="Text 0"/>
          <p:cNvSpPr/>
          <p:nvPr/>
        </p:nvSpPr>
        <p:spPr>
          <a:xfrm>
            <a:off x="411480" y="6446520"/>
            <a:ext cx="8229600" cy="274320"/>
          </a:xfrm>
          <a:prstGeom prst="rect">
            <a:avLst/>
          </a:prstGeom>
          <a:noFill/>
          <a:ln/>
        </p:spPr>
        <p:txBody>
          <a:bodyPr wrap="square" rtlCol="0" anchor="ctr"/>
          <a:lstStyle/>
          <a:p>
            <a:pPr indent="0" marL="0">
              <a:buNone/>
            </a:pPr>
            <a:r>
              <a:rPr lang="en-US" sz="1000" dirty="0">
                <a:solidFill>
                  <a:schemeClr val="accent4"/>
                </a:solidFill>
                <a:latin typeface="Arial" pitchFamily="34" charset="0"/>
                <a:ea typeface="Arial" pitchFamily="34" charset="-122"/>
                <a:cs typeface="Arial" pitchFamily="34" charset="-120"/>
              </a:rPr>
              <a:t>Guide utilisateur — Outil de notation interne des entreprises</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3.png"/><Relationship Id="rId9" Type="http://schemas.openxmlformats.org/officeDocument/2006/relationships/image" Target="../media/image4.png"/><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5.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6.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7.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8.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9.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10.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11.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12.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13.jp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14.jp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15.jp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16.jp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17.jp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18.jp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19.jp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20.jp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21.jp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22.jp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23.jp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24.jp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25.jp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26.jp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27.jp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28.jp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29.jp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30.jp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31.jp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32.jp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33.jp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34.jp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35.jp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36.jp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37.jp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38.jp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39.jp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40.jp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41.jp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42.jp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43.jp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44.jp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45.jp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46.jp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47.jp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48.jpg"/><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image" Target="../media/image49.jp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4" type="title" hasCustomPrompt="1"/>
          </p:nvPr>
        </p:nvSpPr>
        <p:spPr>
          <a:xfrm>
            <a:off x="731520" y="2240280"/>
            <a:ext cx="7863840" cy="2011680"/>
          </a:xfrm>
          <a:prstGeom prst="rect">
            <a:avLst/>
          </a:prstGeom>
          <a:noFill/>
          <a:ln/>
        </p:spPr>
        <p:txBody>
          <a:bodyPr wrap="square" rtlCol="0" anchor="b"/>
          <a:lstStyle/>
          <a:p>
            <a:pPr algn="l" indent="0" marL="0">
              <a:buNone/>
            </a:pPr>
            <a:r>
              <a:rPr lang="en-US" sz="5000" b="1" dirty="0">
                <a:solidFill>
                  <a:schemeClr val="bg1"/>
                </a:solidFill>
                <a:latin typeface="Arial" pitchFamily="34" charset="0"/>
                <a:ea typeface="Arial" pitchFamily="34" charset="-122"/>
                <a:cs typeface="Arial" pitchFamily="34" charset="-120"/>
              </a:rPr>
              <a:t>GUIDE UTILISATEUR</a:t>
            </a:r>
            <a:endParaRPr lang="en-US" sz="4000" dirty="0"/>
          </a:p>
          <a:p>
            <a:pPr algn="l" indent="0" marL="0">
              <a:buNone/>
            </a:pPr>
            <a:r>
              <a:rPr lang="en-US" sz="3000" b="1" dirty="0">
                <a:solidFill>
                  <a:schemeClr val="bg1"/>
                </a:solidFill>
                <a:latin typeface="Arial" pitchFamily="34" charset="0"/>
                <a:ea typeface="Arial" pitchFamily="34" charset="-122"/>
                <a:cs typeface="Arial" pitchFamily="34" charset="-120"/>
              </a:rPr>
              <a:t>OUTIL DE NOTATION DES ENTREPRISES</a:t>
            </a:r>
            <a:endParaRPr lang="en-US" sz="4000" dirty="0"/>
          </a:p>
        </p:txBody>
      </p:sp>
      <p:sp>
        <p:nvSpPr>
          <p:cNvPr id="3" name="Text 0"/>
          <p:cNvSpPr/>
          <p:nvPr>
            <p:ph idx="105" type="body" hasCustomPrompt="1"/>
          </p:nvPr>
        </p:nvSpPr>
        <p:spPr>
          <a:xfrm>
            <a:off x="731520" y="4434840"/>
            <a:ext cx="7863840" cy="128016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Pas à pas, écran par écran : de la contrepartie à la note validée — octobre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QUATRE PROFILS D'UTILISATEUR</a:t>
            </a:r>
            <a:endParaRPr lang="en-US" sz="2400" dirty="0"/>
          </a:p>
        </p:txBody>
      </p:sp>
      <p:sp>
        <p:nvSpPr>
          <p:cNvPr id="4" name="controle-0"/>
          <p:cNvSpPr/>
          <p:nvPr/>
        </p:nvSpPr>
        <p:spPr>
          <a:xfrm>
            <a:off x="457200" y="1325880"/>
            <a:ext cx="5532120" cy="2240280"/>
          </a:xfrm>
          <a:prstGeom prst="roundRect">
            <a:avLst>
              <a:gd name="adj" fmla="val 4082"/>
            </a:avLst>
          </a:prstGeom>
          <a:solidFill>
            <a:srgbClr val="F2E8DB"/>
          </a:solidFill>
          <a:ln/>
        </p:spPr>
      </p:sp>
      <p:sp>
        <p:nvSpPr>
          <p:cNvPr id="5" name="rond-icone"/>
          <p:cNvSpPr/>
          <p:nvPr/>
        </p:nvSpPr>
        <p:spPr>
          <a:xfrm>
            <a:off x="777240" y="1691640"/>
            <a:ext cx="868680" cy="868680"/>
          </a:xfrm>
          <a:prstGeom prst="ellipse">
            <a:avLst/>
          </a:prstGeom>
          <a:solidFill>
            <a:srgbClr val="E37B05"/>
          </a:solidFill>
          <a:ln/>
        </p:spPr>
      </p:sp>
      <p:pic>
        <p:nvPicPr>
          <p:cNvPr id="26" name="icone" descr="ic-MdVisibility.png"/>
          <p:cNvPicPr>
            <a:picLocks noChangeAspect="1"/>
          </p:cNvPicPr>
          <p:nvPr/>
        </p:nvPicPr>
        <p:blipFill>
          <a:blip r:embed="rId6"/>
          <a:stretch>
            <a:fillRect/>
          </a:stretch>
        </p:blipFill>
        <p:spPr>
          <a:xfrm>
            <a:off x="950976" y="1865376"/>
            <a:ext cx="521208" cy="521208"/>
          </a:xfrm>
          <a:prstGeom prst="rect">
            <a:avLst/>
          </a:prstGeom>
        </p:spPr>
      </p:pic>
      <p:sp>
        <p:nvSpPr>
          <p:cNvPr id="7" name="Text 3"/>
          <p:cNvSpPr txBox="1"/>
          <p:nvPr/>
        </p:nvSpPr>
        <p:spPr>
          <a:xfrm>
            <a:off x="1920240" y="160020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LECTURE SEULE</a:t>
            </a:r>
            <a:endParaRPr lang="en-US" sz="1800" dirty="0"/>
          </a:p>
          <a:p>
            <a:pPr indent="0" marL="0">
              <a:spcAft>
                <a:spcPts val="600"/>
              </a:spcAft>
              <a:buNone/>
            </a:pPr>
            <a:r>
              <a:rPr lang="en-US" sz="1500" dirty="0">
                <a:solidFill>
                  <a:srgbClr val="3D3D3B"/>
                </a:solidFill>
              </a:rPr>
              <a:t>Consulte les contreparties, les dossiers, les notations et les modèles. Ne saisit rien.</a:t>
            </a:r>
            <a:endParaRPr lang="en-US" sz="1800" dirty="0"/>
          </a:p>
        </p:txBody>
      </p:sp>
      <p:sp>
        <p:nvSpPr>
          <p:cNvPr id="8" name="controle-1"/>
          <p:cNvSpPr/>
          <p:nvPr/>
        </p:nvSpPr>
        <p:spPr>
          <a:xfrm>
            <a:off x="6217920" y="1325880"/>
            <a:ext cx="5532120" cy="2240280"/>
          </a:xfrm>
          <a:prstGeom prst="roundRect">
            <a:avLst>
              <a:gd name="adj" fmla="val 4082"/>
            </a:avLst>
          </a:prstGeom>
          <a:solidFill>
            <a:srgbClr val="FBF6F0"/>
          </a:solidFill>
          <a:ln/>
        </p:spPr>
      </p:sp>
      <p:sp>
        <p:nvSpPr>
          <p:cNvPr id="9" name="rond-icone"/>
          <p:cNvSpPr/>
          <p:nvPr/>
        </p:nvSpPr>
        <p:spPr>
          <a:xfrm>
            <a:off x="6537960" y="1691640"/>
            <a:ext cx="868680" cy="868680"/>
          </a:xfrm>
          <a:prstGeom prst="ellipse">
            <a:avLst/>
          </a:prstGeom>
          <a:solidFill>
            <a:srgbClr val="E37B05"/>
          </a:solidFill>
          <a:ln/>
        </p:spPr>
      </p:sp>
      <p:pic>
        <p:nvPicPr>
          <p:cNvPr id="27" name="icone" descr="ic-MdEditNote.png"/>
          <p:cNvPicPr>
            <a:picLocks noChangeAspect="1"/>
          </p:cNvPicPr>
          <p:nvPr/>
        </p:nvPicPr>
        <p:blipFill>
          <a:blip r:embed="rId7"/>
          <a:stretch>
            <a:fillRect/>
          </a:stretch>
        </p:blipFill>
        <p:spPr>
          <a:xfrm>
            <a:off x="6711696" y="1865376"/>
            <a:ext cx="521208" cy="521208"/>
          </a:xfrm>
          <a:prstGeom prst="rect">
            <a:avLst/>
          </a:prstGeom>
        </p:spPr>
      </p:pic>
      <p:sp>
        <p:nvSpPr>
          <p:cNvPr id="11" name="Text 6"/>
          <p:cNvSpPr txBox="1"/>
          <p:nvPr/>
        </p:nvSpPr>
        <p:spPr>
          <a:xfrm>
            <a:off x="7680960" y="160020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ANALYSTE</a:t>
            </a:r>
            <a:endParaRPr lang="en-US" sz="1800" dirty="0"/>
          </a:p>
          <a:p>
            <a:pPr indent="0" marL="0">
              <a:spcAft>
                <a:spcPts val="600"/>
              </a:spcAft>
              <a:buNone/>
            </a:pPr>
            <a:r>
              <a:rPr lang="en-US" sz="1500" dirty="0">
                <a:solidFill>
                  <a:srgbClr val="3D3D3B"/>
                </a:solidFill>
              </a:rPr>
              <a:t>Crée les contreparties, ouvre et instruit les dossiers, utilise l'IA et soumet à validation.</a:t>
            </a:r>
            <a:endParaRPr lang="en-US" sz="1800" dirty="0"/>
          </a:p>
        </p:txBody>
      </p:sp>
      <p:sp>
        <p:nvSpPr>
          <p:cNvPr id="12" name="controle-2"/>
          <p:cNvSpPr/>
          <p:nvPr/>
        </p:nvSpPr>
        <p:spPr>
          <a:xfrm>
            <a:off x="457200" y="3794760"/>
            <a:ext cx="5532120" cy="2240280"/>
          </a:xfrm>
          <a:prstGeom prst="roundRect">
            <a:avLst>
              <a:gd name="adj" fmla="val 4082"/>
            </a:avLst>
          </a:prstGeom>
          <a:solidFill>
            <a:srgbClr val="FBF6F0"/>
          </a:solidFill>
          <a:ln/>
        </p:spPr>
      </p:sp>
      <p:sp>
        <p:nvSpPr>
          <p:cNvPr id="13" name="rond-icone"/>
          <p:cNvSpPr/>
          <p:nvPr/>
        </p:nvSpPr>
        <p:spPr>
          <a:xfrm>
            <a:off x="777240" y="4160520"/>
            <a:ext cx="868680" cy="868680"/>
          </a:xfrm>
          <a:prstGeom prst="ellipse">
            <a:avLst/>
          </a:prstGeom>
          <a:solidFill>
            <a:srgbClr val="8C5B52"/>
          </a:solidFill>
          <a:ln/>
        </p:spPr>
      </p:sp>
      <p:pic>
        <p:nvPicPr>
          <p:cNvPr id="28" name="icone" descr="ic-MdHowToReg.png"/>
          <p:cNvPicPr>
            <a:picLocks noChangeAspect="1"/>
          </p:cNvPicPr>
          <p:nvPr/>
        </p:nvPicPr>
        <p:blipFill>
          <a:blip r:embed="rId8"/>
          <a:stretch>
            <a:fillRect/>
          </a:stretch>
        </p:blipFill>
        <p:spPr>
          <a:xfrm>
            <a:off x="950976" y="4334256"/>
            <a:ext cx="521208" cy="521208"/>
          </a:xfrm>
          <a:prstGeom prst="rect">
            <a:avLst/>
          </a:prstGeom>
        </p:spPr>
      </p:pic>
      <p:sp>
        <p:nvSpPr>
          <p:cNvPr id="15" name="Text 9"/>
          <p:cNvSpPr txBox="1"/>
          <p:nvPr/>
        </p:nvSpPr>
        <p:spPr>
          <a:xfrm>
            <a:off x="1920240" y="406908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GESTIONNAIRE DES RISQUES</a:t>
            </a:r>
            <a:endParaRPr lang="en-US" sz="1800" dirty="0"/>
          </a:p>
          <a:p>
            <a:pPr indent="0" marL="0">
              <a:spcAft>
                <a:spcPts val="600"/>
              </a:spcAft>
              <a:buNone/>
            </a:pPr>
            <a:r>
              <a:rPr lang="en-US" sz="1500" dirty="0">
                <a:solidFill>
                  <a:srgbClr val="3D3D3B"/>
                </a:solidFill>
              </a:rPr>
              <a:t>Valide ou rejette les dossiers soumis par d'autres, demande les dérogations et décide de celles des autres, lance et planifie les renotations par lot. Peut aussi instruire un dossier, qu'il ne validera pas.</a:t>
            </a:r>
            <a:endParaRPr lang="en-US" sz="1800" dirty="0"/>
          </a:p>
        </p:txBody>
      </p:sp>
      <p:sp>
        <p:nvSpPr>
          <p:cNvPr id="16" name="controle-3"/>
          <p:cNvSpPr/>
          <p:nvPr/>
        </p:nvSpPr>
        <p:spPr>
          <a:xfrm>
            <a:off x="6217920" y="3794760"/>
            <a:ext cx="5532120" cy="2240280"/>
          </a:xfrm>
          <a:prstGeom prst="roundRect">
            <a:avLst>
              <a:gd name="adj" fmla="val 4082"/>
            </a:avLst>
          </a:prstGeom>
          <a:solidFill>
            <a:srgbClr val="F2E8DB"/>
          </a:solidFill>
          <a:ln/>
        </p:spPr>
      </p:sp>
      <p:sp>
        <p:nvSpPr>
          <p:cNvPr id="17" name="rond-icone"/>
          <p:cNvSpPr/>
          <p:nvPr/>
        </p:nvSpPr>
        <p:spPr>
          <a:xfrm>
            <a:off x="6537960" y="4160520"/>
            <a:ext cx="868680" cy="868680"/>
          </a:xfrm>
          <a:prstGeom prst="ellipse">
            <a:avLst/>
          </a:prstGeom>
          <a:solidFill>
            <a:srgbClr val="8C5B52"/>
          </a:solidFill>
          <a:ln/>
        </p:spPr>
      </p:sp>
      <p:pic>
        <p:nvPicPr>
          <p:cNvPr id="29" name="icone" descr="ic-MdAdminPanelSettings.png"/>
          <p:cNvPicPr>
            <a:picLocks noChangeAspect="1"/>
          </p:cNvPicPr>
          <p:nvPr/>
        </p:nvPicPr>
        <p:blipFill>
          <a:blip r:embed="rId9"/>
          <a:stretch>
            <a:fillRect/>
          </a:stretch>
        </p:blipFill>
        <p:spPr>
          <a:xfrm>
            <a:off x="6711696" y="4334256"/>
            <a:ext cx="521208" cy="521208"/>
          </a:xfrm>
          <a:prstGeom prst="rect">
            <a:avLst/>
          </a:prstGeom>
        </p:spPr>
      </p:pic>
      <p:sp>
        <p:nvSpPr>
          <p:cNvPr id="19" name="Text 12"/>
          <p:cNvSpPr txBox="1"/>
          <p:nvPr/>
        </p:nvSpPr>
        <p:spPr>
          <a:xfrm>
            <a:off x="7680960" y="4069080"/>
            <a:ext cx="3840480" cy="1691640"/>
          </a:xfrm>
          <a:prstGeom prst="rect">
            <a:avLst/>
          </a:prstGeom>
          <a:noFill/>
          <a:ln/>
        </p:spPr>
        <p:txBody>
          <a:bodyPr wrap="square" lIns="0" tIns="0" rIns="0" bIns="0" rtlCol="0" anchor="t"/>
          <a:lstStyle/>
          <a:p>
            <a:pPr indent="0" marL="0">
              <a:spcAft>
                <a:spcPts val="600"/>
              </a:spcAft>
              <a:buNone/>
            </a:pPr>
            <a:r>
              <a:rPr lang="en-US" sz="1800" b="1" dirty="0">
                <a:solidFill>
                  <a:srgbClr val="462016"/>
                </a:solidFill>
              </a:rPr>
              <a:t>ADMINISTRATEUR</a:t>
            </a:r>
            <a:endParaRPr lang="en-US" sz="1800" dirty="0"/>
          </a:p>
          <a:p>
            <a:pPr indent="0" marL="0">
              <a:spcAft>
                <a:spcPts val="600"/>
              </a:spcAft>
              <a:buNone/>
            </a:pPr>
            <a:r>
              <a:rPr lang="en-US" sz="1500" dirty="0">
                <a:solidFill>
                  <a:srgbClr val="3D3D3B"/>
                </a:solidFill>
              </a:rPr>
              <a:t>Gère les comptes, les banques et filiales, les cours de change et le paramétrage. L'administrateur du groupe voit toutes les entités.</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 CIRCUIT D'UNE NOTATION</a:t>
            </a:r>
            <a:endParaRPr lang="en-US" sz="2400" dirty="0"/>
          </a:p>
        </p:txBody>
      </p:sp>
      <p:sp>
        <p:nvSpPr>
          <p:cNvPr id="4" name="etape-1"/>
          <p:cNvSpPr/>
          <p:nvPr/>
        </p:nvSpPr>
        <p:spPr>
          <a:xfrm>
            <a:off x="457200" y="1417320"/>
            <a:ext cx="2240280" cy="1051560"/>
          </a:xfrm>
          <a:prstGeom prst="chevron">
            <a:avLst/>
          </a:prstGeom>
          <a:solidFill>
            <a:srgbClr val="E37B05"/>
          </a:solidFill>
          <a:ln/>
        </p:spPr>
      </p:sp>
      <p:sp>
        <p:nvSpPr>
          <p:cNvPr id="5" name="Text 2"/>
          <p:cNvSpPr txBox="1"/>
          <p:nvPr/>
        </p:nvSpPr>
        <p:spPr>
          <a:xfrm>
            <a:off x="868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1</a:t>
            </a:r>
            <a:endParaRPr lang="en-US" sz="2800" dirty="0"/>
          </a:p>
        </p:txBody>
      </p:sp>
      <p:sp>
        <p:nvSpPr>
          <p:cNvPr id="6" name="Text 3"/>
          <p:cNvSpPr txBox="1"/>
          <p:nvPr/>
        </p:nvSpPr>
        <p:spPr>
          <a:xfrm>
            <a:off x="548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Contrepartie</a:t>
            </a:r>
            <a:endParaRPr lang="en-US" sz="1500" dirty="0"/>
          </a:p>
          <a:p>
            <a:pPr algn="ctr" indent="0" marL="0">
              <a:buNone/>
            </a:pPr>
            <a:r>
              <a:rPr lang="en-US" sz="1500" dirty="0">
                <a:solidFill>
                  <a:srgbClr val="8C5B52"/>
                </a:solidFill>
              </a:rPr>
              <a:t>Analyste</a:t>
            </a:r>
            <a:endParaRPr lang="en-US" sz="1500" dirty="0"/>
          </a:p>
        </p:txBody>
      </p:sp>
      <p:sp>
        <p:nvSpPr>
          <p:cNvPr id="7" name="etape-2"/>
          <p:cNvSpPr/>
          <p:nvPr/>
        </p:nvSpPr>
        <p:spPr>
          <a:xfrm>
            <a:off x="2743200" y="1417320"/>
            <a:ext cx="2240280" cy="1051560"/>
          </a:xfrm>
          <a:prstGeom prst="chevron">
            <a:avLst/>
          </a:prstGeom>
          <a:solidFill>
            <a:srgbClr val="E37B05"/>
          </a:solidFill>
          <a:ln/>
        </p:spPr>
      </p:sp>
      <p:sp>
        <p:nvSpPr>
          <p:cNvPr id="8" name="Text 5"/>
          <p:cNvSpPr txBox="1"/>
          <p:nvPr/>
        </p:nvSpPr>
        <p:spPr>
          <a:xfrm>
            <a:off x="3154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2</a:t>
            </a:r>
            <a:endParaRPr lang="en-US" sz="2800" dirty="0"/>
          </a:p>
        </p:txBody>
      </p:sp>
      <p:sp>
        <p:nvSpPr>
          <p:cNvPr id="9" name="Text 6"/>
          <p:cNvSpPr txBox="1"/>
          <p:nvPr/>
        </p:nvSpPr>
        <p:spPr>
          <a:xfrm>
            <a:off x="2834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Ouvrir le dossier</a:t>
            </a:r>
            <a:endParaRPr lang="en-US" sz="1500" dirty="0"/>
          </a:p>
          <a:p>
            <a:pPr algn="ctr" indent="0" marL="0">
              <a:buNone/>
            </a:pPr>
            <a:r>
              <a:rPr lang="en-US" sz="1500" dirty="0">
                <a:solidFill>
                  <a:srgbClr val="8C5B52"/>
                </a:solidFill>
              </a:rPr>
              <a:t>Analyste</a:t>
            </a:r>
            <a:endParaRPr lang="en-US" sz="1500" dirty="0"/>
          </a:p>
        </p:txBody>
      </p:sp>
      <p:sp>
        <p:nvSpPr>
          <p:cNvPr id="10" name="etape-3"/>
          <p:cNvSpPr/>
          <p:nvPr/>
        </p:nvSpPr>
        <p:spPr>
          <a:xfrm>
            <a:off x="5029200" y="1417320"/>
            <a:ext cx="2240280" cy="1051560"/>
          </a:xfrm>
          <a:prstGeom prst="chevron">
            <a:avLst/>
          </a:prstGeom>
          <a:solidFill>
            <a:srgbClr val="E37B05"/>
          </a:solidFill>
          <a:ln/>
        </p:spPr>
      </p:sp>
      <p:sp>
        <p:nvSpPr>
          <p:cNvPr id="11" name="Text 8"/>
          <p:cNvSpPr txBox="1"/>
          <p:nvPr/>
        </p:nvSpPr>
        <p:spPr>
          <a:xfrm>
            <a:off x="5440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3</a:t>
            </a:r>
            <a:endParaRPr lang="en-US" sz="2800" dirty="0"/>
          </a:p>
        </p:txBody>
      </p:sp>
      <p:sp>
        <p:nvSpPr>
          <p:cNvPr id="12" name="Text 9"/>
          <p:cNvSpPr txBox="1"/>
          <p:nvPr/>
        </p:nvSpPr>
        <p:spPr>
          <a:xfrm>
            <a:off x="5120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Pièces et IA</a:t>
            </a:r>
            <a:endParaRPr lang="en-US" sz="1500" dirty="0"/>
          </a:p>
          <a:p>
            <a:pPr algn="ctr" indent="0" marL="0">
              <a:buNone/>
            </a:pPr>
            <a:r>
              <a:rPr lang="en-US" sz="1500" dirty="0">
                <a:solidFill>
                  <a:srgbClr val="8C5B52"/>
                </a:solidFill>
              </a:rPr>
              <a:t>Analyste</a:t>
            </a:r>
            <a:endParaRPr lang="en-US" sz="1500" dirty="0"/>
          </a:p>
        </p:txBody>
      </p:sp>
      <p:sp>
        <p:nvSpPr>
          <p:cNvPr id="13" name="etape-4"/>
          <p:cNvSpPr/>
          <p:nvPr/>
        </p:nvSpPr>
        <p:spPr>
          <a:xfrm>
            <a:off x="7315200" y="1417320"/>
            <a:ext cx="2240280" cy="1051560"/>
          </a:xfrm>
          <a:prstGeom prst="chevron">
            <a:avLst/>
          </a:prstGeom>
          <a:solidFill>
            <a:srgbClr val="E37B05"/>
          </a:solidFill>
          <a:ln/>
        </p:spPr>
      </p:sp>
      <p:sp>
        <p:nvSpPr>
          <p:cNvPr id="14" name="Text 11"/>
          <p:cNvSpPr txBox="1"/>
          <p:nvPr/>
        </p:nvSpPr>
        <p:spPr>
          <a:xfrm>
            <a:off x="7726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4</a:t>
            </a:r>
            <a:endParaRPr lang="en-US" sz="2800" dirty="0"/>
          </a:p>
        </p:txBody>
      </p:sp>
      <p:sp>
        <p:nvSpPr>
          <p:cNvPr id="15" name="Text 12"/>
          <p:cNvSpPr txBox="1"/>
          <p:nvPr/>
        </p:nvSpPr>
        <p:spPr>
          <a:xfrm>
            <a:off x="7406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Saisie de la grille</a:t>
            </a:r>
            <a:endParaRPr lang="en-US" sz="1500" dirty="0"/>
          </a:p>
          <a:p>
            <a:pPr algn="ctr" indent="0" marL="0">
              <a:buNone/>
            </a:pPr>
            <a:r>
              <a:rPr lang="en-US" sz="1500" dirty="0">
                <a:solidFill>
                  <a:srgbClr val="8C5B52"/>
                </a:solidFill>
              </a:rPr>
              <a:t>Analyste</a:t>
            </a:r>
            <a:endParaRPr lang="en-US" sz="1500" dirty="0"/>
          </a:p>
        </p:txBody>
      </p:sp>
      <p:sp>
        <p:nvSpPr>
          <p:cNvPr id="16" name="etape-5"/>
          <p:cNvSpPr/>
          <p:nvPr/>
        </p:nvSpPr>
        <p:spPr>
          <a:xfrm>
            <a:off x="9601200" y="1417320"/>
            <a:ext cx="2240280" cy="1051560"/>
          </a:xfrm>
          <a:prstGeom prst="chevron">
            <a:avLst/>
          </a:prstGeom>
          <a:solidFill>
            <a:srgbClr val="E37B05"/>
          </a:solidFill>
          <a:ln/>
        </p:spPr>
      </p:sp>
      <p:sp>
        <p:nvSpPr>
          <p:cNvPr id="17" name="Text 14"/>
          <p:cNvSpPr txBox="1"/>
          <p:nvPr/>
        </p:nvSpPr>
        <p:spPr>
          <a:xfrm>
            <a:off x="10012680" y="141732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5</a:t>
            </a:r>
            <a:endParaRPr lang="en-US" sz="2800" dirty="0"/>
          </a:p>
        </p:txBody>
      </p:sp>
      <p:sp>
        <p:nvSpPr>
          <p:cNvPr id="18" name="Text 15"/>
          <p:cNvSpPr txBox="1"/>
          <p:nvPr/>
        </p:nvSpPr>
        <p:spPr>
          <a:xfrm>
            <a:off x="9692640" y="256032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Aperçu du calcul</a:t>
            </a:r>
            <a:endParaRPr lang="en-US" sz="1500" dirty="0"/>
          </a:p>
          <a:p>
            <a:pPr algn="ctr" indent="0" marL="0">
              <a:buNone/>
            </a:pPr>
            <a:r>
              <a:rPr lang="en-US" sz="1500" dirty="0">
                <a:solidFill>
                  <a:srgbClr val="8C5B52"/>
                </a:solidFill>
              </a:rPr>
              <a:t>Analyste</a:t>
            </a:r>
            <a:endParaRPr lang="en-US" sz="1500" dirty="0"/>
          </a:p>
        </p:txBody>
      </p:sp>
      <p:sp>
        <p:nvSpPr>
          <p:cNvPr id="19" name="etape-6"/>
          <p:cNvSpPr/>
          <p:nvPr/>
        </p:nvSpPr>
        <p:spPr>
          <a:xfrm>
            <a:off x="457200" y="3749040"/>
            <a:ext cx="2240280" cy="1051560"/>
          </a:xfrm>
          <a:prstGeom prst="chevron">
            <a:avLst/>
          </a:prstGeom>
          <a:solidFill>
            <a:srgbClr val="8C5B52"/>
          </a:solidFill>
          <a:ln/>
        </p:spPr>
      </p:sp>
      <p:sp>
        <p:nvSpPr>
          <p:cNvPr id="20" name="Text 17"/>
          <p:cNvSpPr txBox="1"/>
          <p:nvPr/>
        </p:nvSpPr>
        <p:spPr>
          <a:xfrm>
            <a:off x="868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6</a:t>
            </a:r>
            <a:endParaRPr lang="en-US" sz="2800" dirty="0"/>
          </a:p>
        </p:txBody>
      </p:sp>
      <p:sp>
        <p:nvSpPr>
          <p:cNvPr id="21" name="Text 18"/>
          <p:cNvSpPr txBox="1"/>
          <p:nvPr/>
        </p:nvSpPr>
        <p:spPr>
          <a:xfrm>
            <a:off x="548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Soumission</a:t>
            </a:r>
            <a:endParaRPr lang="en-US" sz="1500" dirty="0"/>
          </a:p>
          <a:p>
            <a:pPr algn="ctr" indent="0" marL="0">
              <a:buNone/>
            </a:pPr>
            <a:r>
              <a:rPr lang="en-US" sz="1500" dirty="0">
                <a:solidFill>
                  <a:srgbClr val="8C5B52"/>
                </a:solidFill>
              </a:rPr>
              <a:t>Analyste</a:t>
            </a:r>
            <a:endParaRPr lang="en-US" sz="1500" dirty="0"/>
          </a:p>
        </p:txBody>
      </p:sp>
      <p:sp>
        <p:nvSpPr>
          <p:cNvPr id="22" name="etape-7"/>
          <p:cNvSpPr/>
          <p:nvPr/>
        </p:nvSpPr>
        <p:spPr>
          <a:xfrm>
            <a:off x="2743200" y="3749040"/>
            <a:ext cx="2240280" cy="1051560"/>
          </a:xfrm>
          <a:prstGeom prst="chevron">
            <a:avLst/>
          </a:prstGeom>
          <a:solidFill>
            <a:srgbClr val="8C5B52"/>
          </a:solidFill>
          <a:ln/>
        </p:spPr>
      </p:sp>
      <p:sp>
        <p:nvSpPr>
          <p:cNvPr id="23" name="Text 20"/>
          <p:cNvSpPr txBox="1"/>
          <p:nvPr/>
        </p:nvSpPr>
        <p:spPr>
          <a:xfrm>
            <a:off x="3154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7</a:t>
            </a:r>
            <a:endParaRPr lang="en-US" sz="2800" dirty="0"/>
          </a:p>
        </p:txBody>
      </p:sp>
      <p:sp>
        <p:nvSpPr>
          <p:cNvPr id="24" name="Text 21"/>
          <p:cNvSpPr txBox="1"/>
          <p:nvPr/>
        </p:nvSpPr>
        <p:spPr>
          <a:xfrm>
            <a:off x="2834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File À traiter</a:t>
            </a:r>
            <a:endParaRPr lang="en-US" sz="1500" dirty="0"/>
          </a:p>
          <a:p>
            <a:pPr algn="ctr" indent="0" marL="0">
              <a:buNone/>
            </a:pPr>
            <a:r>
              <a:rPr lang="en-US" sz="1500" dirty="0">
                <a:solidFill>
                  <a:srgbClr val="8C5B52"/>
                </a:solidFill>
              </a:rPr>
              <a:t>Valideur</a:t>
            </a:r>
            <a:endParaRPr lang="en-US" sz="1500" dirty="0"/>
          </a:p>
        </p:txBody>
      </p:sp>
      <p:sp>
        <p:nvSpPr>
          <p:cNvPr id="25" name="etape-8"/>
          <p:cNvSpPr/>
          <p:nvPr/>
        </p:nvSpPr>
        <p:spPr>
          <a:xfrm>
            <a:off x="5029200" y="3749040"/>
            <a:ext cx="2240280" cy="1051560"/>
          </a:xfrm>
          <a:prstGeom prst="chevron">
            <a:avLst/>
          </a:prstGeom>
          <a:solidFill>
            <a:srgbClr val="8C5B52"/>
          </a:solidFill>
          <a:ln/>
        </p:spPr>
      </p:sp>
      <p:sp>
        <p:nvSpPr>
          <p:cNvPr id="26" name="Text 23"/>
          <p:cNvSpPr txBox="1"/>
          <p:nvPr/>
        </p:nvSpPr>
        <p:spPr>
          <a:xfrm>
            <a:off x="5440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8</a:t>
            </a:r>
            <a:endParaRPr lang="en-US" sz="2800" dirty="0"/>
          </a:p>
        </p:txBody>
      </p:sp>
      <p:sp>
        <p:nvSpPr>
          <p:cNvPr id="27" name="Text 24"/>
          <p:cNvSpPr txBox="1"/>
          <p:nvPr/>
        </p:nvSpPr>
        <p:spPr>
          <a:xfrm>
            <a:off x="5120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Validation ou rejet</a:t>
            </a:r>
            <a:endParaRPr lang="en-US" sz="1500" dirty="0"/>
          </a:p>
          <a:p>
            <a:pPr algn="ctr" indent="0" marL="0">
              <a:buNone/>
            </a:pPr>
            <a:r>
              <a:rPr lang="en-US" sz="1500" dirty="0">
                <a:solidFill>
                  <a:srgbClr val="8C5B52"/>
                </a:solidFill>
              </a:rPr>
              <a:t>Valideur</a:t>
            </a:r>
            <a:endParaRPr lang="en-US" sz="1500" dirty="0"/>
          </a:p>
        </p:txBody>
      </p:sp>
      <p:sp>
        <p:nvSpPr>
          <p:cNvPr id="28" name="etape-9"/>
          <p:cNvSpPr/>
          <p:nvPr/>
        </p:nvSpPr>
        <p:spPr>
          <a:xfrm>
            <a:off x="7315200" y="3749040"/>
            <a:ext cx="2240280" cy="1051560"/>
          </a:xfrm>
          <a:prstGeom prst="chevron">
            <a:avLst/>
          </a:prstGeom>
          <a:solidFill>
            <a:srgbClr val="8C5B52"/>
          </a:solidFill>
          <a:ln/>
        </p:spPr>
      </p:sp>
      <p:sp>
        <p:nvSpPr>
          <p:cNvPr id="29" name="Text 26"/>
          <p:cNvSpPr txBox="1"/>
          <p:nvPr/>
        </p:nvSpPr>
        <p:spPr>
          <a:xfrm>
            <a:off x="7726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9</a:t>
            </a:r>
            <a:endParaRPr lang="en-US" sz="2800" dirty="0"/>
          </a:p>
        </p:txBody>
      </p:sp>
      <p:sp>
        <p:nvSpPr>
          <p:cNvPr id="30" name="Text 27"/>
          <p:cNvSpPr txBox="1"/>
          <p:nvPr/>
        </p:nvSpPr>
        <p:spPr>
          <a:xfrm>
            <a:off x="7406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Note officielle</a:t>
            </a:r>
            <a:endParaRPr lang="en-US" sz="1500" dirty="0"/>
          </a:p>
          <a:p>
            <a:pPr algn="ctr" indent="0" marL="0">
              <a:buNone/>
            </a:pPr>
            <a:r>
              <a:rPr lang="en-US" sz="1500" dirty="0">
                <a:solidFill>
                  <a:srgbClr val="8C5B52"/>
                </a:solidFill>
              </a:rPr>
              <a:t>Outil</a:t>
            </a:r>
            <a:endParaRPr lang="en-US" sz="1500" dirty="0"/>
          </a:p>
        </p:txBody>
      </p:sp>
      <p:sp>
        <p:nvSpPr>
          <p:cNvPr id="31" name="etape-10"/>
          <p:cNvSpPr/>
          <p:nvPr/>
        </p:nvSpPr>
        <p:spPr>
          <a:xfrm>
            <a:off x="9601200" y="3749040"/>
            <a:ext cx="2240280" cy="1051560"/>
          </a:xfrm>
          <a:prstGeom prst="chevron">
            <a:avLst/>
          </a:prstGeom>
          <a:solidFill>
            <a:srgbClr val="8C5B52"/>
          </a:solidFill>
          <a:ln/>
        </p:spPr>
      </p:sp>
      <p:sp>
        <p:nvSpPr>
          <p:cNvPr id="32" name="Text 29"/>
          <p:cNvSpPr txBox="1"/>
          <p:nvPr/>
        </p:nvSpPr>
        <p:spPr>
          <a:xfrm>
            <a:off x="10012680" y="3749040"/>
            <a:ext cx="1463040" cy="1051560"/>
          </a:xfrm>
          <a:prstGeom prst="rect">
            <a:avLst/>
          </a:prstGeom>
          <a:noFill/>
          <a:ln/>
        </p:spPr>
        <p:txBody>
          <a:bodyPr wrap="square" lIns="0" tIns="0" rIns="0" bIns="0" rtlCol="0" anchor="ctr"/>
          <a:lstStyle/>
          <a:p>
            <a:pPr algn="ctr" indent="0" marL="0">
              <a:buNone/>
            </a:pPr>
            <a:r>
              <a:rPr lang="en-US" sz="2800" b="1" dirty="0">
                <a:solidFill>
                  <a:srgbClr val="FFFFFF"/>
                </a:solidFill>
              </a:rPr>
              <a:t>10</a:t>
            </a:r>
            <a:endParaRPr lang="en-US" sz="2800" dirty="0"/>
          </a:p>
        </p:txBody>
      </p:sp>
      <p:sp>
        <p:nvSpPr>
          <p:cNvPr id="33" name="Text 30"/>
          <p:cNvSpPr txBox="1"/>
          <p:nvPr/>
        </p:nvSpPr>
        <p:spPr>
          <a:xfrm>
            <a:off x="9692640" y="4892040"/>
            <a:ext cx="2103120" cy="822960"/>
          </a:xfrm>
          <a:prstGeom prst="rect">
            <a:avLst/>
          </a:prstGeom>
          <a:noFill/>
          <a:ln/>
        </p:spPr>
        <p:txBody>
          <a:bodyPr wrap="square" lIns="0" tIns="0" rIns="0" bIns="0" rtlCol="0" anchor="t"/>
          <a:lstStyle/>
          <a:p>
            <a:pPr algn="ctr" indent="0" marL="0">
              <a:buNone/>
            </a:pPr>
            <a:r>
              <a:rPr lang="en-US" sz="1500" b="1" dirty="0">
                <a:solidFill>
                  <a:srgbClr val="462016"/>
                </a:solidFill>
              </a:rPr>
              <a:t>Dérogation éventuelle</a:t>
            </a:r>
            <a:endParaRPr lang="en-US" sz="1500" dirty="0"/>
          </a:p>
          <a:p>
            <a:pPr algn="ctr" indent="0" marL="0">
              <a:buNone/>
            </a:pPr>
            <a:r>
              <a:rPr lang="en-US" sz="1500" dirty="0">
                <a:solidFill>
                  <a:srgbClr val="8C5B52"/>
                </a:solidFill>
              </a:rPr>
              <a:t>Gestionnaire des risques, puis un second</a:t>
            </a:r>
            <a:endParaRPr lang="en-US" sz="1500" dirty="0"/>
          </a:p>
        </p:txBody>
      </p:sp>
      <p:sp>
        <p:nvSpPr>
          <p:cNvPr id="34" name="Text 31"/>
          <p:cNvSpPr txBox="1"/>
          <p:nvPr/>
        </p:nvSpPr>
        <p:spPr>
          <a:xfrm>
            <a:off x="457200" y="5989320"/>
            <a:ext cx="11320272" cy="365760"/>
          </a:xfrm>
          <a:prstGeom prst="rect">
            <a:avLst/>
          </a:prstGeom>
          <a:noFill/>
          <a:ln/>
        </p:spPr>
        <p:txBody>
          <a:bodyPr wrap="square" lIns="0" tIns="0" rIns="0" bIns="0" rtlCol="0" anchor="ctr"/>
          <a:lstStyle/>
          <a:p>
            <a:pPr indent="0" marL="0">
              <a:buNone/>
            </a:pPr>
            <a:r>
              <a:rPr lang="en-US" sz="1400" i="1" dirty="0">
                <a:solidFill>
                  <a:srgbClr val="8C5B52"/>
                </a:solidFill>
              </a:rPr>
              <a:t>Une notation ne devient la note de l'entreprise qu'après validation par une autre personne que ses contributeurs.</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3" type="title" hasCustomPrompt="1"/>
          </p:nvPr>
        </p:nvSpPr>
        <p:spPr>
          <a:xfrm>
            <a:off x="731520" y="3200400"/>
            <a:ext cx="8595360" cy="137160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1. PRENDRE EN MAIN L'OUTIL</a:t>
            </a:r>
            <a:endParaRPr lang="en-US" sz="4000" dirty="0"/>
          </a:p>
        </p:txBody>
      </p:sp>
      <p:sp>
        <p:nvSpPr>
          <p:cNvPr id="3" name="Text 0"/>
          <p:cNvSpPr/>
          <p:nvPr>
            <p:ph idx="104" type="body" hasCustomPrompt="1"/>
          </p:nvPr>
        </p:nvSpPr>
        <p:spPr>
          <a:xfrm>
            <a:off x="731520" y="4617720"/>
            <a:ext cx="8595360" cy="109728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Se connecter, se repérer dans le menu et lire le tableau de bord.</a:t>
            </a:r>
            <a:endParaRPr lang="en-US" sz="1800" dirty="0"/>
          </a:p>
        </p:txBody>
      </p:sp>
      <p:sp>
        <p:nvSpPr>
          <p:cNvPr id="4" name="Text 0"/>
          <p:cNvSpPr/>
          <p:nvPr>
            <p:ph idx="102" type="body" hasCustomPrompt="1"/>
          </p:nvPr>
        </p:nvSpPr>
        <p:spPr>
          <a:xfrm>
            <a:off x="731520" y="2103120"/>
            <a:ext cx="2743200" cy="1097280"/>
          </a:xfrm>
          <a:prstGeom prst="rect">
            <a:avLst/>
          </a:prstGeom>
          <a:noFill/>
          <a:ln/>
        </p:spPr>
        <p:txBody>
          <a:bodyPr wrap="square" rtlCol="0"/>
          <a:lstStyle/>
          <a:p>
            <a:pPr algn="l" indent="0" marL="0">
              <a:buNone/>
            </a:pPr>
            <a:endParaRPr lang="en-US" sz="6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SE CONNECTER</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01-connexion.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Ouvrir l'adresse de l'outil communiquée par l'administrateur.</a:t>
            </a:r>
            <a:endParaRPr lang="en-US" sz="1400" dirty="0"/>
          </a:p>
          <a:p>
            <a:pPr marL="342900" indent="-342900">
              <a:spcAft>
                <a:spcPts val="500"/>
              </a:spcAft>
              <a:buSzPct val="100000"/>
              <a:buFont typeface="+mj-lt"/>
              <a:buAutoNum type="arabicPeriod"/>
            </a:pPr>
            <a:r>
              <a:rPr lang="en-US" sz="1300" dirty="0">
                <a:solidFill>
                  <a:srgbClr val="3D3D3B"/>
                </a:solidFill>
              </a:rPr>
              <a:t>Saisir son identifiant et son mot de passe.</a:t>
            </a:r>
            <a:endParaRPr lang="en-US" sz="1400" dirty="0"/>
          </a:p>
          <a:p>
            <a:pPr marL="342900" indent="-342900">
              <a:spcAft>
                <a:spcPts val="500"/>
              </a:spcAft>
              <a:buSzPct val="100000"/>
              <a:buFont typeface="+mj-lt"/>
              <a:buAutoNum type="arabicPeriod"/>
            </a:pPr>
            <a:r>
              <a:rPr lang="en-US" sz="1300" dirty="0">
                <a:solidFill>
                  <a:srgbClr val="3D3D3B"/>
                </a:solidFill>
              </a:rPr>
              <a:t>Cliquer sur « Se connecter ».</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À la première connexion, le mot de passe provisoire doit être changé. Cinq échecs consécutifs verrouillent le compte quelques minutes.</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CHANGER SON MOT DE PASSE</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31-mot-de-passe.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Cliquer sur son nom, en haut à droite.</a:t>
            </a:r>
            <a:endParaRPr lang="en-US" sz="1400" dirty="0"/>
          </a:p>
          <a:p>
            <a:pPr marL="342900" indent="-342900">
              <a:spcAft>
                <a:spcPts val="500"/>
              </a:spcAft>
              <a:buSzPct val="100000"/>
              <a:buFont typeface="+mj-lt"/>
              <a:buAutoNum type="arabicPeriod"/>
            </a:pPr>
            <a:r>
              <a:rPr lang="en-US" sz="1300" dirty="0">
                <a:solidFill>
                  <a:srgbClr val="3D3D3B"/>
                </a:solidFill>
              </a:rPr>
              <a:t>Saisir le mot de passe actuel, puis deux fois le nouveau.</a:t>
            </a:r>
            <a:endParaRPr lang="en-US" sz="1400" dirty="0"/>
          </a:p>
          <a:p>
            <a:pPr marL="342900" indent="-342900">
              <a:spcAft>
                <a:spcPts val="500"/>
              </a:spcAft>
              <a:buSzPct val="100000"/>
              <a:buFont typeface="+mj-lt"/>
              <a:buAutoNum type="arabicPeriod"/>
            </a:pPr>
            <a:r>
              <a:rPr lang="en-US" sz="1300" dirty="0">
                <a:solidFill>
                  <a:srgbClr val="3D3D3B"/>
                </a:solidFill>
              </a:rPr>
              <a:t>Cliquer sur « Enregistrer ».</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Douze caractères au moins, sans reprendre l'identifiant. Les autres sessions ouvertes sont fermées.</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 MENU PRINCIPAL</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03-navigation.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Tableau de bord : la vue d'ensemble du portefeuille.</a:t>
            </a:r>
            <a:endParaRPr lang="en-US" sz="1400" dirty="0"/>
          </a:p>
          <a:p>
            <a:pPr marL="342900" indent="-342900">
              <a:spcAft>
                <a:spcPts val="500"/>
              </a:spcAft>
              <a:buSzPct val="100000"/>
              <a:buFont typeface="+mj-lt"/>
              <a:buAutoNum type="arabicPeriod"/>
            </a:pPr>
            <a:r>
              <a:rPr lang="en-US" sz="1300" dirty="0">
                <a:solidFill>
                  <a:srgbClr val="3D3D3B"/>
                </a:solidFill>
              </a:rPr>
              <a:t>Dossiers : les notations en cours et la file « À traiter ».</a:t>
            </a:r>
            <a:endParaRPr lang="en-US" sz="1400" dirty="0"/>
          </a:p>
          <a:p>
            <a:pPr marL="342900" indent="-342900">
              <a:spcAft>
                <a:spcPts val="500"/>
              </a:spcAft>
              <a:buSzPct val="100000"/>
              <a:buFont typeface="+mj-lt"/>
              <a:buAutoNum type="arabicPeriod"/>
            </a:pPr>
            <a:r>
              <a:rPr lang="en-US" sz="1300" dirty="0">
                <a:solidFill>
                  <a:srgbClr val="3D3D3B"/>
                </a:solidFill>
              </a:rPr>
              <a:t>Contreparties, Nouvelle notation, Modèles, Méthodologie.</a:t>
            </a:r>
            <a:endParaRPr lang="en-US" sz="1400" dirty="0"/>
          </a:p>
          <a:p>
            <a:pPr marL="342900" indent="-342900">
              <a:spcAft>
                <a:spcPts val="500"/>
              </a:spcAft>
              <a:buSzPct val="100000"/>
              <a:buFont typeface="+mj-lt"/>
              <a:buAutoNum type="arabicPeriod"/>
            </a:pPr>
            <a:r>
              <a:rPr lang="en-US" sz="1300" dirty="0">
                <a:solidFill>
                  <a:srgbClr val="3D3D3B"/>
                </a:solidFill>
              </a:rPr>
              <a:t>Administration : réservé aux administrateurs.</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Le nom de votre banque ou filiale s'affiche à côté du nom de l'outil : vous ne voyez que les dossiers de votre périmètre.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LIRE LE TABLEAU DE BORD</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02-tableau-de-bord.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Les compteurs : contreparties, notations validées, dossiers à valider.</a:t>
            </a:r>
            <a:endParaRPr lang="en-US" sz="1400" dirty="0"/>
          </a:p>
          <a:p>
            <a:pPr marL="342900" indent="-342900">
              <a:spcAft>
                <a:spcPts val="500"/>
              </a:spcAft>
              <a:buSzPct val="100000"/>
              <a:buFont typeface="+mj-lt"/>
              <a:buAutoNum type="arabicPeriod"/>
            </a:pPr>
            <a:r>
              <a:rPr lang="en-US" sz="1300" dirty="0">
                <a:solidFill>
                  <a:srgbClr val="3D3D3B"/>
                </a:solidFill>
              </a:rPr>
              <a:t>La distribution des grades : la dernière note validée de chaque contrepartie.</a:t>
            </a:r>
            <a:endParaRPr lang="en-US" sz="1400" dirty="0"/>
          </a:p>
          <a:p>
            <a:pPr marL="342900" indent="-342900">
              <a:spcAft>
                <a:spcPts val="500"/>
              </a:spcAft>
              <a:buSzPct val="100000"/>
              <a:buFont typeface="+mj-lt"/>
              <a:buAutoNum type="arabicPeriod"/>
            </a:pPr>
            <a:r>
              <a:rPr lang="en-US" sz="1300" dirty="0">
                <a:solidFill>
                  <a:srgbClr val="3D3D3B"/>
                </a:solidFill>
              </a:rPr>
              <a:t>Les dernières notations, avec la mention « proposée, non validée » le cas échéant.</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Seule une notation validée compte dans la distribution : une notation soumise n'est qu'une proposition.</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3" type="title" hasCustomPrompt="1"/>
          </p:nvPr>
        </p:nvSpPr>
        <p:spPr>
          <a:xfrm>
            <a:off x="731520" y="3200400"/>
            <a:ext cx="8595360" cy="137160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2. GÉRER LES CONTREPARTIES</a:t>
            </a:r>
            <a:endParaRPr lang="en-US" sz="4000" dirty="0"/>
          </a:p>
        </p:txBody>
      </p:sp>
      <p:sp>
        <p:nvSpPr>
          <p:cNvPr id="3" name="Text 0"/>
          <p:cNvSpPr/>
          <p:nvPr>
            <p:ph idx="104" type="body" hasCustomPrompt="1"/>
          </p:nvPr>
        </p:nvSpPr>
        <p:spPr>
          <a:xfrm>
            <a:off x="731520" y="4617720"/>
            <a:ext cx="8595360" cy="109728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Créer une entreprise à noter, au besoin en faisant pré-remplir la fiche par l'IA.</a:t>
            </a:r>
            <a:endParaRPr lang="en-US" sz="1800" dirty="0"/>
          </a:p>
        </p:txBody>
      </p:sp>
      <p:sp>
        <p:nvSpPr>
          <p:cNvPr id="4" name="Text 0"/>
          <p:cNvSpPr/>
          <p:nvPr>
            <p:ph idx="102" type="body" hasCustomPrompt="1"/>
          </p:nvPr>
        </p:nvSpPr>
        <p:spPr>
          <a:xfrm>
            <a:off x="731520" y="2103120"/>
            <a:ext cx="2743200" cy="1097280"/>
          </a:xfrm>
          <a:prstGeom prst="rect">
            <a:avLst/>
          </a:prstGeom>
          <a:noFill/>
          <a:ln/>
        </p:spPr>
        <p:txBody>
          <a:bodyPr wrap="square" rtlCol="0"/>
          <a:lstStyle/>
          <a:p>
            <a:pPr algn="l" indent="0" marL="0">
              <a:buNone/>
            </a:pPr>
            <a:endParaRPr lang="en-US" sz="6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LA LISTE DES CONTREPARTIES</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04-contreparties.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Menu « Contreparties ».</a:t>
            </a:r>
            <a:endParaRPr lang="en-US" sz="1400" dirty="0"/>
          </a:p>
          <a:p>
            <a:pPr marL="342900" indent="-342900">
              <a:spcAft>
                <a:spcPts val="500"/>
              </a:spcAft>
              <a:buSzPct val="100000"/>
              <a:buFont typeface="+mj-lt"/>
              <a:buAutoNum type="arabicPeriod"/>
            </a:pPr>
            <a:r>
              <a:rPr lang="en-US" sz="1300" dirty="0">
                <a:solidFill>
                  <a:srgbClr val="3D3D3B"/>
                </a:solidFill>
              </a:rPr>
              <a:t>Rechercher par nom, ICE ou entité ; filtrer par segment.</a:t>
            </a:r>
            <a:endParaRPr lang="en-US" sz="1400" dirty="0"/>
          </a:p>
          <a:p>
            <a:pPr marL="342900" indent="-342900">
              <a:spcAft>
                <a:spcPts val="500"/>
              </a:spcAft>
              <a:buSzPct val="100000"/>
              <a:buFont typeface="+mj-lt"/>
              <a:buAutoNum type="arabicPeriod"/>
            </a:pPr>
            <a:r>
              <a:rPr lang="en-US" sz="1300" dirty="0">
                <a:solidFill>
                  <a:srgbClr val="3D3D3B"/>
                </a:solidFill>
              </a:rPr>
              <a:t>Le grade affiché est celui de la dernière notation validée.</a:t>
            </a:r>
            <a:endParaRPr lang="en-US" sz="1400" dirty="0"/>
          </a:p>
          <a:p>
            <a:pPr marL="342900" indent="-342900">
              <a:spcAft>
                <a:spcPts val="500"/>
              </a:spcAft>
              <a:buSzPct val="100000"/>
              <a:buFont typeface="+mj-lt"/>
              <a:buAutoNum type="arabicPeriod"/>
            </a:pPr>
            <a:r>
              <a:rPr lang="en-US" sz="1300" dirty="0">
                <a:solidFill>
                  <a:srgbClr val="3D3D3B"/>
                </a:solidFill>
              </a:rPr>
              <a:t>« Exporter CSV » produit la liste filtrée pour Excel.</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La mention « dossier en cours » ou « dossier à valider » signale une notation en préparation.</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CRÉER UNE CONTREPARTIE AVEC L'IA</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05-contrepartie-ia.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Cliquer sur « + Nouvelle contrepartie ».</a:t>
            </a:r>
            <a:endParaRPr lang="en-US" sz="1400" dirty="0"/>
          </a:p>
          <a:p>
            <a:pPr marL="342900" indent="-342900">
              <a:spcAft>
                <a:spcPts val="500"/>
              </a:spcAft>
              <a:buSzPct val="100000"/>
              <a:buFont typeface="+mj-lt"/>
              <a:buAutoNum type="arabicPeriod"/>
            </a:pPr>
            <a:r>
              <a:rPr lang="en-US" sz="1300" dirty="0">
                <a:solidFill>
                  <a:srgbClr val="3D3D3B"/>
                </a:solidFill>
              </a:rPr>
              <a:t>Coller un texte (extrait RC, attestation ICE) ou joindre la pièce.</a:t>
            </a:r>
            <a:endParaRPr lang="en-US" sz="1400" dirty="0"/>
          </a:p>
          <a:p>
            <a:pPr marL="342900" indent="-342900">
              <a:spcAft>
                <a:spcPts val="500"/>
              </a:spcAft>
              <a:buSzPct val="100000"/>
              <a:buFont typeface="+mj-lt"/>
              <a:buAutoNum type="arabicPeriod"/>
            </a:pPr>
            <a:r>
              <a:rPr lang="en-US" sz="1300" dirty="0">
                <a:solidFill>
                  <a:srgbClr val="3D3D3B"/>
                </a:solidFill>
              </a:rPr>
              <a:t>Cliquer sur « Pré-remplir ».</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Rubrique visible uniquement si l'administrateur a activé l'IA. Sans IA, la fiche se saisit à la main.</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RELIRE ET ENREGISTRER LA FICHE</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06-contrepartie-preremplie.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Relire chaque champ marqué « IA » et corriger si besoin.</a:t>
            </a:r>
            <a:endParaRPr lang="en-US" sz="1400" dirty="0"/>
          </a:p>
          <a:p>
            <a:pPr marL="342900" indent="-342900">
              <a:spcAft>
                <a:spcPts val="500"/>
              </a:spcAft>
              <a:buSzPct val="100000"/>
              <a:buFont typeface="+mj-lt"/>
              <a:buAutoNum type="arabicPeriod"/>
            </a:pPr>
            <a:r>
              <a:rPr lang="en-US" sz="1300" dirty="0">
                <a:solidFill>
                  <a:srgbClr val="3D3D3B"/>
                </a:solidFill>
              </a:rPr>
              <a:t>Choisir la banque ou filiale de rattachement.</a:t>
            </a:r>
            <a:endParaRPr lang="en-US" sz="1400" dirty="0"/>
          </a:p>
          <a:p>
            <a:pPr marL="342900" indent="-342900">
              <a:spcAft>
                <a:spcPts val="500"/>
              </a:spcAft>
              <a:buSzPct val="100000"/>
              <a:buFont typeface="+mj-lt"/>
              <a:buAutoNum type="arabicPeriod"/>
            </a:pPr>
            <a:r>
              <a:rPr lang="en-US" sz="1300" dirty="0">
                <a:solidFill>
                  <a:srgbClr val="3D3D3B"/>
                </a:solidFill>
              </a:rPr>
              <a:t>Compléter le pays et la devise des comptes si l'entreprise n'est pas au Maroc.</a:t>
            </a:r>
            <a:endParaRPr lang="en-US" sz="1400" dirty="0"/>
          </a:p>
          <a:p>
            <a:pPr marL="342900" indent="-342900">
              <a:spcAft>
                <a:spcPts val="500"/>
              </a:spcAft>
              <a:buSzPct val="100000"/>
              <a:buFont typeface="+mj-lt"/>
              <a:buAutoNum type="arabicPeriod"/>
            </a:pPr>
            <a:r>
              <a:rPr lang="en-US" sz="1300" dirty="0">
                <a:solidFill>
                  <a:srgbClr val="3D3D3B"/>
                </a:solidFill>
              </a:rPr>
              <a:t>Cliquer sur « Enregistrer ».</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Rien n'est enregistré sans votre clic. Pays et devise vides : ceux de l'entité de rattachement.</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LA FICHE D'UNE CONTREPARTIE</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28-fiche-contrepartie.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Cliquer sur le nom d'une contrepartie.</a:t>
            </a:r>
            <a:endParaRPr lang="en-US" sz="1400" dirty="0"/>
          </a:p>
          <a:p>
            <a:pPr marL="342900" indent="-342900">
              <a:spcAft>
                <a:spcPts val="500"/>
              </a:spcAft>
              <a:buSzPct val="100000"/>
              <a:buFont typeface="+mj-lt"/>
              <a:buAutoNum type="arabicPeriod"/>
            </a:pPr>
            <a:r>
              <a:rPr lang="en-US" sz="1300" dirty="0">
                <a:solidFill>
                  <a:srgbClr val="3D3D3B"/>
                </a:solidFill>
              </a:rPr>
              <a:t>En haut : entité, pays, devise, identifiants.</a:t>
            </a:r>
            <a:endParaRPr lang="en-US" sz="1400" dirty="0"/>
          </a:p>
          <a:p>
            <a:pPr marL="342900" indent="-342900">
              <a:spcAft>
                <a:spcPts val="500"/>
              </a:spcAft>
              <a:buSzPct val="100000"/>
              <a:buFont typeface="+mj-lt"/>
              <a:buAutoNum type="arabicPeriod"/>
            </a:pPr>
            <a:r>
              <a:rPr lang="en-US" sz="1300" dirty="0">
                <a:solidFill>
                  <a:srgbClr val="3D3D3B"/>
                </a:solidFill>
              </a:rPr>
              <a:t>Les dossiers de notation, puis l'historique des notations.</a:t>
            </a:r>
            <a:endParaRPr lang="en-US" sz="1400" dirty="0"/>
          </a:p>
          <a:p>
            <a:pPr marL="342900" indent="-342900">
              <a:spcAft>
                <a:spcPts val="500"/>
              </a:spcAft>
              <a:buSzPct val="100000"/>
              <a:buFont typeface="+mj-lt"/>
              <a:buAutoNum type="arabicPeriod"/>
            </a:pPr>
            <a:r>
              <a:rPr lang="en-US" sz="1300" dirty="0">
                <a:solidFill>
                  <a:srgbClr val="3D3D3B"/>
                </a:solidFill>
              </a:rPr>
              <a:t>« détail » ouvre le résultat complet d'une notation.</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Quand deux notations validées existent, l'écran explique l'évolution entre les deux, critère par critère.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3" type="title" hasCustomPrompt="1"/>
          </p:nvPr>
        </p:nvSpPr>
        <p:spPr>
          <a:xfrm>
            <a:off x="731520" y="3200400"/>
            <a:ext cx="8595360" cy="137160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3. NOTER UNE ENTREPRISE</a:t>
            </a:r>
            <a:endParaRPr lang="en-US" sz="4000" dirty="0"/>
          </a:p>
        </p:txBody>
      </p:sp>
      <p:sp>
        <p:nvSpPr>
          <p:cNvPr id="3" name="Text 0"/>
          <p:cNvSpPr/>
          <p:nvPr>
            <p:ph idx="104" type="body" hasCustomPrompt="1"/>
          </p:nvPr>
        </p:nvSpPr>
        <p:spPr>
          <a:xfrm>
            <a:off x="731520" y="4617720"/>
            <a:ext cx="8595360" cy="109728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Le rôle de l'analyste : ouvrir le dossier, l'instruire avec ou sans l'IA, vérifier le calcul, soumettre.</a:t>
            </a:r>
            <a:endParaRPr lang="en-US" sz="1800" dirty="0"/>
          </a:p>
        </p:txBody>
      </p:sp>
      <p:sp>
        <p:nvSpPr>
          <p:cNvPr id="4" name="Text 0"/>
          <p:cNvSpPr/>
          <p:nvPr>
            <p:ph idx="102" type="body" hasCustomPrompt="1"/>
          </p:nvPr>
        </p:nvSpPr>
        <p:spPr>
          <a:xfrm>
            <a:off x="731520" y="2103120"/>
            <a:ext cx="2743200" cy="1097280"/>
          </a:xfrm>
          <a:prstGeom prst="rect">
            <a:avLst/>
          </a:prstGeom>
          <a:noFill/>
          <a:ln/>
        </p:spPr>
        <p:txBody>
          <a:bodyPr wrap="square" rtlCol="0"/>
          <a:lstStyle/>
          <a:p>
            <a:pPr algn="l" indent="0" marL="0">
              <a:buNone/>
            </a:pPr>
            <a:endParaRPr lang="en-US" sz="6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OUVRIR UN DOSSIER DE NOTATION</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07-ouvrir-dossier.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Menu « Nouvelle notation ».</a:t>
            </a:r>
            <a:endParaRPr lang="en-US" sz="1400" dirty="0"/>
          </a:p>
          <a:p>
            <a:pPr marL="342900" indent="-342900">
              <a:spcAft>
                <a:spcPts val="500"/>
              </a:spcAft>
              <a:buSzPct val="100000"/>
              <a:buFont typeface="+mj-lt"/>
              <a:buAutoNum type="arabicPeriod"/>
            </a:pPr>
            <a:r>
              <a:rPr lang="en-US" sz="1300" dirty="0">
                <a:solidFill>
                  <a:srgbClr val="3D3D3B"/>
                </a:solidFill>
              </a:rPr>
              <a:t>Choisir la contrepartie, le modèle et la date d'arrêté.</a:t>
            </a:r>
            <a:endParaRPr lang="en-US" sz="1400" dirty="0"/>
          </a:p>
          <a:p>
            <a:pPr marL="342900" indent="-342900">
              <a:spcAft>
                <a:spcPts val="500"/>
              </a:spcAft>
              <a:buSzPct val="100000"/>
              <a:buFont typeface="+mj-lt"/>
              <a:buAutoNum type="arabicPeriod"/>
            </a:pPr>
            <a:r>
              <a:rPr lang="en-US" sz="1300" dirty="0">
                <a:solidFill>
                  <a:srgbClr val="3D3D3B"/>
                </a:solidFill>
              </a:rPr>
              <a:t>Cliquer sur « Ouvrir le dossier ».</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Un seul dossier en cours par contrepartie. La saisie du dernier dossier validé est reprise, à mettre à jour.</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 DOSSIER EN BROUILLON</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08-dossier-brouillon.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À gauche : la grille de notation, domaine par domaine.</a:t>
            </a:r>
            <a:endParaRPr lang="en-US" sz="1400" dirty="0"/>
          </a:p>
          <a:p>
            <a:pPr marL="342900" indent="-342900">
              <a:spcAft>
                <a:spcPts val="500"/>
              </a:spcAft>
              <a:buSzPct val="100000"/>
              <a:buFont typeface="+mj-lt"/>
              <a:buAutoNum type="arabicPeriod"/>
            </a:pPr>
            <a:r>
              <a:rPr lang="en-US" sz="1300" dirty="0">
                <a:solidFill>
                  <a:srgbClr val="3D3D3B"/>
                </a:solidFill>
              </a:rPr>
              <a:t>À droite : les pièces et l'assistance de l'IA.</a:t>
            </a:r>
            <a:endParaRPr lang="en-US" sz="1400" dirty="0"/>
          </a:p>
          <a:p>
            <a:pPr marL="342900" indent="-342900">
              <a:spcAft>
                <a:spcPts val="500"/>
              </a:spcAft>
              <a:buSzPct val="100000"/>
              <a:buFont typeface="+mj-lt"/>
              <a:buAutoNum type="arabicPeriod"/>
            </a:pPr>
            <a:r>
              <a:rPr lang="en-US" sz="1300" dirty="0">
                <a:solidFill>
                  <a:srgbClr val="3D3D3B"/>
                </a:solidFill>
              </a:rPr>
              <a:t>En bas : les boutons Enregistrer, Aperçu et Soumettre.</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La barre de progression indique les critères renseignés et signale en rouge les trois données critiques manquantes.</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 CADRAGE DU DOSSIER</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09-cadrage-montants.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Vérifier le segment (PME par défaut) et la date d'arrêté.</a:t>
            </a:r>
            <a:endParaRPr lang="en-US" sz="1400" dirty="0"/>
          </a:p>
          <a:p>
            <a:pPr marL="342900" indent="-342900">
              <a:spcAft>
                <a:spcPts val="500"/>
              </a:spcAft>
              <a:buSzPct val="100000"/>
              <a:buFont typeface="+mj-lt"/>
              <a:buAutoNum type="arabicPeriod"/>
            </a:pPr>
            <a:r>
              <a:rPr lang="en-US" sz="1300" dirty="0">
                <a:solidFill>
                  <a:srgbClr val="3D3D3B"/>
                </a:solidFill>
              </a:rPr>
              <a:t>Saisir le chiffre d'affaires et les engagements bancaires, dans la devise de la contrepartie.</a:t>
            </a:r>
            <a:endParaRPr lang="en-US" sz="1400" dirty="0"/>
          </a:p>
          <a:p>
            <a:pPr marL="342900" indent="-342900">
              <a:spcAft>
                <a:spcPts val="500"/>
              </a:spcAft>
              <a:buSzPct val="100000"/>
              <a:buFont typeface="+mj-lt"/>
              <a:buAutoNum type="arabicPeriod"/>
            </a:pPr>
            <a:r>
              <a:rPr lang="en-US" sz="1300" dirty="0">
                <a:solidFill>
                  <a:srgbClr val="3D3D3B"/>
                </a:solidFill>
              </a:rPr>
              <a:t>Renseigner l'ancienneté de l'entreprise.</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Les montants en devise étrangère sont convertis en MAD au cours de la date d'arrêté ; la conversion est conservée dans le dossier.</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AJOUTER LES PIÈCES</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10-ajouter-piece.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Cliquer sur « Choisir des fichiers » dans « Pièces du dossier ».</a:t>
            </a:r>
            <a:endParaRPr lang="en-US" sz="1400" dirty="0"/>
          </a:p>
          <a:p>
            <a:pPr marL="342900" indent="-342900">
              <a:spcAft>
                <a:spcPts val="500"/>
              </a:spcAft>
              <a:buSzPct val="100000"/>
              <a:buFont typeface="+mj-lt"/>
              <a:buAutoNum type="arabicPeriod"/>
            </a:pPr>
            <a:r>
              <a:rPr lang="en-US" sz="1300" dirty="0">
                <a:solidFill>
                  <a:srgbClr val="3D3D3B"/>
                </a:solidFill>
              </a:rPr>
              <a:t>Sélectionner les états financiers, la liasse, le rapport de gestion…</a:t>
            </a:r>
            <a:endParaRPr lang="en-US" sz="1400" dirty="0"/>
          </a:p>
          <a:p>
            <a:pPr marL="342900" indent="-342900">
              <a:spcAft>
                <a:spcPts val="500"/>
              </a:spcAft>
              <a:buSzPct val="100000"/>
              <a:buFont typeface="+mj-lt"/>
              <a:buAutoNum type="arabicPeriod"/>
            </a:pPr>
            <a:r>
              <a:rPr lang="en-US" sz="1300" dirty="0">
                <a:solidFill>
                  <a:srgbClr val="3D3D3B"/>
                </a:solidFill>
              </a:rPr>
              <a:t>Cliquer sur « Ajouter ».</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PDF, PNG, JPEG, texte ou CSV ; 4 Mo au plus par pièce. Chaque pièce est conservée avec son empreinte.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DEMANDER DES PROPOSITIONS À L'IA</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11-analyse-ia.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Cocher les pièces à faire lire.</a:t>
            </a:r>
            <a:endParaRPr lang="en-US" sz="1400" dirty="0"/>
          </a:p>
          <a:p>
            <a:pPr marL="342900" indent="-342900">
              <a:spcAft>
                <a:spcPts val="500"/>
              </a:spcAft>
              <a:buSzPct val="100000"/>
              <a:buFont typeface="+mj-lt"/>
              <a:buAutoNum type="arabicPeriod"/>
            </a:pPr>
            <a:r>
              <a:rPr lang="en-US" sz="1300" dirty="0">
                <a:solidFill>
                  <a:srgbClr val="3D3D3B"/>
                </a:solidFill>
              </a:rPr>
              <a:t>Ajouter au besoin des éléments : compte rendu de visite, faits récents.</a:t>
            </a:r>
            <a:endParaRPr lang="en-US" sz="1400" dirty="0"/>
          </a:p>
          <a:p>
            <a:pPr marL="342900" indent="-342900">
              <a:spcAft>
                <a:spcPts val="500"/>
              </a:spcAft>
              <a:buSzPct val="100000"/>
              <a:buFont typeface="+mj-lt"/>
              <a:buAutoNum type="arabicPeriod"/>
            </a:pPr>
            <a:r>
              <a:rPr lang="en-US" sz="1300" dirty="0">
                <a:solidFill>
                  <a:srgbClr val="3D3D3B"/>
                </a:solidFill>
              </a:rPr>
              <a:t>Cliquer sur « Proposer des valeurs » (jusqu'à deux minutes).</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L'IA ne note pas l'entreprise : elle propose des valeurs pour la grille, avec leur source et leur calcul.</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EXAMINER LES PROPOSITIONS</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12-propositions.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Lire pour chaque proposition la valeur, la source et la justification.</a:t>
            </a:r>
            <a:endParaRPr lang="en-US" sz="1400" dirty="0"/>
          </a:p>
          <a:p>
            <a:pPr marL="342900" indent="-342900">
              <a:spcAft>
                <a:spcPts val="500"/>
              </a:spcAft>
              <a:buSzPct val="100000"/>
              <a:buFont typeface="+mj-lt"/>
              <a:buAutoNum type="arabicPeriod"/>
            </a:pPr>
            <a:r>
              <a:rPr lang="en-US" sz="1300" dirty="0">
                <a:solidFill>
                  <a:srgbClr val="3D3D3B"/>
                </a:solidFill>
              </a:rPr>
              <a:t>Cliquer sur « Accepter » ou « Refuser ».</a:t>
            </a:r>
            <a:endParaRPr lang="en-US" sz="1400" dirty="0"/>
          </a:p>
          <a:p>
            <a:pPr marL="342900" indent="-342900">
              <a:spcAft>
                <a:spcPts val="500"/>
              </a:spcAft>
              <a:buSzPct val="100000"/>
              <a:buFont typeface="+mj-lt"/>
              <a:buAutoNum type="arabicPeriod"/>
            </a:pPr>
            <a:r>
              <a:rPr lang="en-US" sz="1300" dirty="0">
                <a:solidFill>
                  <a:srgbClr val="3D3D3B"/>
                </a:solidFill>
              </a:rPr>
              <a:t>« Accepter celles ≥ 80 % » accepte d'un coup les plus sûres.</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Une proposition hors grille ou invalide est écartée automatiquement. Décider d'une proposition vous rend contributeur du dossier.</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CONTRÔLER LA GRILLE</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13-grille-ia.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Les valeurs acceptées portent le repère « IA ».</a:t>
            </a:r>
            <a:endParaRPr lang="en-US" sz="1400" dirty="0"/>
          </a:p>
          <a:p>
            <a:pPr marL="342900" indent="-342900">
              <a:spcAft>
                <a:spcPts val="500"/>
              </a:spcAft>
              <a:buSzPct val="100000"/>
              <a:buFont typeface="+mj-lt"/>
              <a:buAutoNum type="arabicPeriod"/>
            </a:pPr>
            <a:r>
              <a:rPr lang="en-US" sz="1300" dirty="0">
                <a:solidFill>
                  <a:srgbClr val="3D3D3B"/>
                </a:solidFill>
              </a:rPr>
              <a:t>Vérifier chaque valeur ; la modifier si nécessaire.</a:t>
            </a:r>
            <a:endParaRPr lang="en-US" sz="1400" dirty="0"/>
          </a:p>
          <a:p>
            <a:pPr marL="342900" indent="-342900">
              <a:spcAft>
                <a:spcPts val="500"/>
              </a:spcAft>
              <a:buSzPct val="100000"/>
              <a:buFont typeface="+mj-lt"/>
              <a:buAutoNum type="arabicPeriod"/>
            </a:pPr>
            <a:r>
              <a:rPr lang="en-US" sz="1300" dirty="0">
                <a:solidFill>
                  <a:srgbClr val="3D3D3B"/>
                </a:solidFill>
              </a:rPr>
              <a:t>Compléter les critères restants.</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Le barème du ratio est rappelé sous la valeur saisie.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NOTER UN CRITÈRE QUALITATIF</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14-critere-qualitatif.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Ouvrir la liste de repères du critère.</a:t>
            </a:r>
            <a:endParaRPr lang="en-US" sz="1400" dirty="0"/>
          </a:p>
          <a:p>
            <a:pPr marL="342900" indent="-342900">
              <a:spcAft>
                <a:spcPts val="500"/>
              </a:spcAft>
              <a:buSzPct val="100000"/>
              <a:buFont typeface="+mj-lt"/>
              <a:buAutoNum type="arabicPeriod"/>
            </a:pPr>
            <a:r>
              <a:rPr lang="en-US" sz="1300" dirty="0">
                <a:solidFill>
                  <a:srgbClr val="3D3D3B"/>
                </a:solidFill>
              </a:rPr>
              <a:t>Choisir le repère (100, 75, 50, 25 ou 0) qui décrit les faits.</a:t>
            </a:r>
            <a:endParaRPr lang="en-US" sz="1400" dirty="0"/>
          </a:p>
          <a:p>
            <a:pPr marL="342900" indent="-342900">
              <a:spcAft>
                <a:spcPts val="500"/>
              </a:spcAft>
              <a:buSzPct val="100000"/>
              <a:buFont typeface="+mj-lt"/>
              <a:buAutoNum type="arabicPeriod"/>
            </a:pPr>
            <a:r>
              <a:rPr lang="en-US" sz="1300" dirty="0">
                <a:solidFill>
                  <a:srgbClr val="3D3D3B"/>
                </a:solidFill>
              </a:rPr>
              <a:t>Justifier ce choix dans les pièces du dossier.</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Les repères sont écrits : deux analystes face aux mêmes faits doivent choisir le même.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QUALIFIER LE STATUT D'UNE DONNÉE</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15-statut-donnee.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 Disponible » : la donnée est observée.</a:t>
            </a:r>
            <a:endParaRPr lang="en-US" sz="1400" dirty="0"/>
          </a:p>
          <a:p>
            <a:pPr marL="342900" indent="-342900">
              <a:spcAft>
                <a:spcPts val="500"/>
              </a:spcAft>
              <a:buSzPct val="100000"/>
              <a:buFont typeface="+mj-lt"/>
              <a:buAutoNum type="arabicPeriod"/>
            </a:pPr>
            <a:r>
              <a:rPr lang="en-US" sz="1300" dirty="0">
                <a:solidFill>
                  <a:srgbClr val="3D3D3B"/>
                </a:solidFill>
              </a:rPr>
              <a:t>« Estimée » : comptée dans le score, pas dans la couverture.</a:t>
            </a:r>
            <a:endParaRPr lang="en-US" sz="1400" dirty="0"/>
          </a:p>
          <a:p>
            <a:pPr marL="342900" indent="-342900">
              <a:spcAft>
                <a:spcPts val="500"/>
              </a:spcAft>
              <a:buSzPct val="100000"/>
              <a:buFont typeface="+mj-lt"/>
              <a:buAutoNum type="arabicPeriod"/>
            </a:pPr>
            <a:r>
              <a:rPr lang="en-US" sz="1300" dirty="0">
                <a:solidFill>
                  <a:srgbClr val="3D3D3B"/>
                </a:solidFill>
              </a:rPr>
              <a:t>« Manquante », « Périmée » : score prudent de 25 appliqué.</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Sans fonds propres, dette nette sur EBE ou retards de paiement, aucune note n'est produite.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ENREGISTRER LE BROUILLON</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16-enregistrer.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Cliquer sur « Enregistrer le brouillon » régulièrement.</a:t>
            </a:r>
            <a:endParaRPr lang="en-US" sz="1400" dirty="0"/>
          </a:p>
          <a:p>
            <a:pPr marL="342900" indent="-342900">
              <a:spcAft>
                <a:spcPts val="500"/>
              </a:spcAft>
              <a:buSzPct val="100000"/>
              <a:buFont typeface="+mj-lt"/>
              <a:buAutoNum type="arabicPeriod"/>
            </a:pPr>
            <a:r>
              <a:rPr lang="en-US" sz="1300" dirty="0">
                <a:solidFill>
                  <a:srgbClr val="3D3D3B"/>
                </a:solidFill>
              </a:rPr>
              <a:t>Le message « Brouillon enregistré » confirme.</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 Modifications non enregistrées » signale une saisie à sauvegarder ; le navigateur prévient avant de quitter la page.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VÉRIFIER AVEC L'APERÇU</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17-apercu.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Cliquer sur « Aperçu du calcul ».</a:t>
            </a:r>
            <a:endParaRPr lang="en-US" sz="1400" dirty="0"/>
          </a:p>
          <a:p>
            <a:pPr marL="342900" indent="-342900">
              <a:spcAft>
                <a:spcPts val="500"/>
              </a:spcAft>
              <a:buSzPct val="100000"/>
              <a:buFont typeface="+mj-lt"/>
              <a:buAutoNum type="arabicPeriod"/>
            </a:pPr>
            <a:r>
              <a:rPr lang="en-US" sz="1300" dirty="0">
                <a:solidFill>
                  <a:srgbClr val="3D3D3B"/>
                </a:solidFill>
              </a:rPr>
              <a:t>Lire le grade, le score brut et la couverture.</a:t>
            </a:r>
            <a:endParaRPr lang="en-US" sz="1400" dirty="0"/>
          </a:p>
          <a:p>
            <a:pPr marL="342900" indent="-342900">
              <a:spcAft>
                <a:spcPts val="500"/>
              </a:spcAft>
              <a:buSzPct val="100000"/>
              <a:buFont typeface="+mj-lt"/>
              <a:buAutoNum type="arabicPeriod"/>
            </a:pPr>
            <a:r>
              <a:rPr lang="en-US" sz="1300" dirty="0">
                <a:solidFill>
                  <a:srgbClr val="3D3D3B"/>
                </a:solidFill>
              </a:rPr>
              <a:t>Corriger la saisie si un point surprend.</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L'aperçu n'enregistre rien. La soumission recalcule exactement la même requête.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SOUMETTRE À VALIDATION</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18-soumis.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Cliquer sur « Soumettre à validation », puis confirmer.</a:t>
            </a:r>
            <a:endParaRPr lang="en-US" sz="1400" dirty="0"/>
          </a:p>
          <a:p>
            <a:pPr marL="342900" indent="-342900">
              <a:spcAft>
                <a:spcPts val="500"/>
              </a:spcAft>
              <a:buSzPct val="100000"/>
              <a:buFont typeface="+mj-lt"/>
              <a:buAutoNum type="arabicPeriod"/>
            </a:pPr>
            <a:r>
              <a:rPr lang="en-US" sz="1300" dirty="0">
                <a:solidFill>
                  <a:srgbClr val="3D3D3B"/>
                </a:solidFill>
              </a:rPr>
              <a:t>La notation est calculée et figée ; le dossier passe « À valider ».</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Vous ne pouvez pas valider votre propre dossier : la validation revient à une autre personne.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SI LA SOUMISSION EST REFUSÉE</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25-sans-grade.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Lire le message sous les boutons.</a:t>
            </a:r>
            <a:endParaRPr lang="en-US" sz="1400" dirty="0"/>
          </a:p>
          <a:p>
            <a:pPr marL="342900" indent="-342900">
              <a:spcAft>
                <a:spcPts val="500"/>
              </a:spcAft>
              <a:buSzPct val="100000"/>
              <a:buFont typeface="+mj-lt"/>
              <a:buAutoNum type="arabicPeriod"/>
            </a:pPr>
            <a:r>
              <a:rPr lang="en-US" sz="1300" dirty="0">
                <a:solidFill>
                  <a:srgbClr val="3D3D3B"/>
                </a:solidFill>
              </a:rPr>
              <a:t>Compléter les données critiques ou manquantes.</a:t>
            </a:r>
            <a:endParaRPr lang="en-US" sz="1400" dirty="0"/>
          </a:p>
          <a:p>
            <a:pPr marL="342900" indent="-342900">
              <a:spcAft>
                <a:spcPts val="500"/>
              </a:spcAft>
              <a:buSzPct val="100000"/>
              <a:buFont typeface="+mj-lt"/>
              <a:buAutoNum type="arabicPeriod"/>
            </a:pPr>
            <a:r>
              <a:rPr lang="en-US" sz="1300" dirty="0">
                <a:solidFill>
                  <a:srgbClr val="3D3D3B"/>
                </a:solidFill>
              </a:rPr>
              <a:t>Soumettre de nouveau.</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Un dossier qui ne produit pas de grade ne se soumet pas : il se complète.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3" type="title" hasCustomPrompt="1"/>
          </p:nvPr>
        </p:nvSpPr>
        <p:spPr>
          <a:xfrm>
            <a:off x="731520" y="3200400"/>
            <a:ext cx="8595360" cy="137160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4. VALIDER UNE NOTATION</a:t>
            </a:r>
            <a:endParaRPr lang="en-US" sz="4000" dirty="0"/>
          </a:p>
        </p:txBody>
      </p:sp>
      <p:sp>
        <p:nvSpPr>
          <p:cNvPr id="3" name="Text 0"/>
          <p:cNvSpPr/>
          <p:nvPr>
            <p:ph idx="104" type="body" hasCustomPrompt="1"/>
          </p:nvPr>
        </p:nvSpPr>
        <p:spPr>
          <a:xfrm>
            <a:off x="731520" y="4617720"/>
            <a:ext cx="8595360" cy="109728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Le rôle du gestionnaire des risques : traiter la file, valider ou rejeter avec un motif.</a:t>
            </a:r>
            <a:endParaRPr lang="en-US" sz="1800" dirty="0"/>
          </a:p>
        </p:txBody>
      </p:sp>
      <p:sp>
        <p:nvSpPr>
          <p:cNvPr id="4" name="Text 0"/>
          <p:cNvSpPr/>
          <p:nvPr>
            <p:ph idx="102" type="body" hasCustomPrompt="1"/>
          </p:nvPr>
        </p:nvSpPr>
        <p:spPr>
          <a:xfrm>
            <a:off x="731520" y="2103120"/>
            <a:ext cx="2743200" cy="1097280"/>
          </a:xfrm>
          <a:prstGeom prst="rect">
            <a:avLst/>
          </a:prstGeom>
          <a:noFill/>
          <a:ln/>
        </p:spPr>
        <p:txBody>
          <a:bodyPr wrap="square" rtlCol="0"/>
          <a:lstStyle/>
          <a:p>
            <a:pPr algn="l" indent="0" marL="0">
              <a:buNone/>
            </a:pPr>
            <a:endParaRPr lang="en-US" sz="6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LA FILE « À TRAITER »</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19-a-traiter.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Menu « Dossiers », onglet « À traiter ».</a:t>
            </a:r>
            <a:endParaRPr lang="en-US" sz="1400" dirty="0"/>
          </a:p>
          <a:p>
            <a:pPr marL="342900" indent="-342900">
              <a:spcAft>
                <a:spcPts val="500"/>
              </a:spcAft>
              <a:buSzPct val="100000"/>
              <a:buFont typeface="+mj-lt"/>
              <a:buAutoNum type="arabicPeriod"/>
            </a:pPr>
            <a:r>
              <a:rPr lang="en-US" sz="1300" dirty="0">
                <a:solidFill>
                  <a:srgbClr val="3D3D3B"/>
                </a:solidFill>
              </a:rPr>
              <a:t>Le valideur y trouve les dossiers soumis par d'autres.</a:t>
            </a:r>
            <a:endParaRPr lang="en-US" sz="1400" dirty="0"/>
          </a:p>
          <a:p>
            <a:pPr marL="342900" indent="-342900">
              <a:spcAft>
                <a:spcPts val="500"/>
              </a:spcAft>
              <a:buSzPct val="100000"/>
              <a:buFont typeface="+mj-lt"/>
              <a:buAutoNum type="arabicPeriod"/>
            </a:pPr>
            <a:r>
              <a:rPr lang="en-US" sz="1300" dirty="0">
                <a:solidFill>
                  <a:srgbClr val="3D3D3B"/>
                </a:solidFill>
              </a:rPr>
              <a:t>Cliquer sur la contrepartie pour ouvrir le dossier.</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La file liste aussi les notes à renouveler : dernière notation validée plus ancienne que la durée de validité.</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VALIDER OU REJETER</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20-decision.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Relire le résultat, la conversion des montants et la saisie.</a:t>
            </a:r>
            <a:endParaRPr lang="en-US" sz="1400" dirty="0"/>
          </a:p>
          <a:p>
            <a:pPr marL="342900" indent="-342900">
              <a:spcAft>
                <a:spcPts val="500"/>
              </a:spcAft>
              <a:buSzPct val="100000"/>
              <a:buFont typeface="+mj-lt"/>
              <a:buAutoNum type="arabicPeriod"/>
            </a:pPr>
            <a:r>
              <a:rPr lang="en-US" sz="1300" dirty="0">
                <a:solidFill>
                  <a:srgbClr val="3D3D3B"/>
                </a:solidFill>
              </a:rPr>
              <a:t>Saisir un commentaire (obligatoire pour un rejet, 10 caractères au moins).</a:t>
            </a:r>
            <a:endParaRPr lang="en-US" sz="1400" dirty="0"/>
          </a:p>
          <a:p>
            <a:pPr marL="342900" indent="-342900">
              <a:spcAft>
                <a:spcPts val="500"/>
              </a:spcAft>
              <a:buSzPct val="100000"/>
              <a:buFont typeface="+mj-lt"/>
              <a:buAutoNum type="arabicPeriod"/>
            </a:pPr>
            <a:r>
              <a:rPr lang="en-US" sz="1300" dirty="0">
                <a:solidFill>
                  <a:srgbClr val="3D3D3B"/>
                </a:solidFill>
              </a:rPr>
              <a:t>Cliquer sur « Valider la notation » ou « Rejeter ».</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Le panneau indique le rôle requis et les contributeurs exclus. Au-delà du seuil de délégation, un rôle supérieur est exigé.</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LA NOTE OFFICIELLE</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21-valide.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Le dossier passe « Validé ».</a:t>
            </a:r>
            <a:endParaRPr lang="en-US" sz="1400" dirty="0"/>
          </a:p>
          <a:p>
            <a:pPr marL="342900" indent="-342900">
              <a:spcAft>
                <a:spcPts val="500"/>
              </a:spcAft>
              <a:buSzPct val="100000"/>
              <a:buFont typeface="+mj-lt"/>
              <a:buAutoNum type="arabicPeriod"/>
            </a:pPr>
            <a:r>
              <a:rPr lang="en-US" sz="1300" dirty="0">
                <a:solidFill>
                  <a:srgbClr val="3D3D3B"/>
                </a:solidFill>
              </a:rPr>
              <a:t>La notation devient la note de la contrepartie.</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L'historique du dossier, en bas de page, trace chaque action : qui, quand, quoi.</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LIRE LE RÉSULTAT</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22-resultat.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Grade, score brut, classe de confiance et couverture observée.</a:t>
            </a:r>
            <a:endParaRPr lang="en-US" sz="1400" dirty="0"/>
          </a:p>
          <a:p>
            <a:pPr marL="342900" indent="-342900">
              <a:spcAft>
                <a:spcPts val="500"/>
              </a:spcAft>
              <a:buSzPct val="100000"/>
              <a:buFont typeface="+mj-lt"/>
              <a:buAutoNum type="arabicPeriod"/>
            </a:pPr>
            <a:r>
              <a:rPr lang="en-US" sz="1300" dirty="0">
                <a:solidFill>
                  <a:srgbClr val="3D3D3B"/>
                </a:solidFill>
              </a:rPr>
              <a:t>Les droits d'usage de la note.</a:t>
            </a:r>
            <a:endParaRPr lang="en-US" sz="1400" dirty="0"/>
          </a:p>
          <a:p>
            <a:pPr marL="342900" indent="-342900">
              <a:spcAft>
                <a:spcPts val="500"/>
              </a:spcAft>
              <a:buSzPct val="100000"/>
              <a:buFont typeface="+mj-lt"/>
              <a:buAutoNum type="arabicPeriod"/>
            </a:pPr>
            <a:r>
              <a:rPr lang="en-US" sz="1300" dirty="0">
                <a:solidFill>
                  <a:srgbClr val="3D3D3B"/>
                </a:solidFill>
              </a:rPr>
              <a:t>Les points forts et points faibles, critère par critère.</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 Imprimer / PDF » produit une trace papier pour le comité.</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REPRENDRE UN DOSSIER REJETÉ</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26-rejete-reprise.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Lire le motif du rejet.</a:t>
            </a:r>
            <a:endParaRPr lang="en-US" sz="1400" dirty="0"/>
          </a:p>
          <a:p>
            <a:pPr marL="342900" indent="-342900">
              <a:spcAft>
                <a:spcPts val="500"/>
              </a:spcAft>
              <a:buSzPct val="100000"/>
              <a:buFont typeface="+mj-lt"/>
              <a:buAutoNum type="arabicPeriod"/>
            </a:pPr>
            <a:r>
              <a:rPr lang="en-US" sz="1300" dirty="0">
                <a:solidFill>
                  <a:srgbClr val="3D3D3B"/>
                </a:solidFill>
              </a:rPr>
              <a:t>Cliquer sur « Reprendre le dossier ».</a:t>
            </a:r>
            <a:endParaRPr lang="en-US" sz="1400" dirty="0"/>
          </a:p>
          <a:p>
            <a:pPr marL="342900" indent="-342900">
              <a:spcAft>
                <a:spcPts val="500"/>
              </a:spcAft>
              <a:buSzPct val="100000"/>
              <a:buFont typeface="+mj-lt"/>
              <a:buAutoNum type="arabicPeriod"/>
            </a:pPr>
            <a:r>
              <a:rPr lang="en-US" sz="1300" dirty="0">
                <a:solidFill>
                  <a:srgbClr val="3D3D3B"/>
                </a:solidFill>
              </a:rPr>
              <a:t>Corriger, puis soumettre de nouveau.</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Un nouveau brouillon reprend la saisie ; le dossier rejeté reste dans l'historique et ne fait jamais foi.</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SUIVRE TOUS LES DOSSIERS</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27-dossiers.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Onglets : brouillons, à valider, validés, rejetés, abandonnés, tous.</a:t>
            </a:r>
            <a:endParaRPr lang="en-US" sz="1400" dirty="0"/>
          </a:p>
          <a:p>
            <a:pPr marL="342900" indent="-342900">
              <a:spcAft>
                <a:spcPts val="500"/>
              </a:spcAft>
              <a:buSzPct val="100000"/>
              <a:buFont typeface="+mj-lt"/>
              <a:buAutoNum type="arabicPeriod"/>
            </a:pPr>
            <a:r>
              <a:rPr lang="en-US" sz="1300" dirty="0">
                <a:solidFill>
                  <a:srgbClr val="3D3D3B"/>
                </a:solidFill>
              </a:rPr>
              <a:t>Les compteurs donnent l'état du stock.</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Un brouillon inutile s'abandonne depuis le dossier (« Abandonner le dossier »).</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3" type="title" hasCustomPrompt="1"/>
          </p:nvPr>
        </p:nvSpPr>
        <p:spPr>
          <a:xfrm>
            <a:off x="731520" y="3200400"/>
            <a:ext cx="8595360" cy="137160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5. DEMANDER ET DÉCIDER UNE DÉROGATION</a:t>
            </a:r>
            <a:endParaRPr lang="en-US" sz="4000" dirty="0"/>
          </a:p>
        </p:txBody>
      </p:sp>
      <p:sp>
        <p:nvSpPr>
          <p:cNvPr id="3" name="Text 0"/>
          <p:cNvSpPr/>
          <p:nvPr>
            <p:ph idx="104" type="body" hasCustomPrompt="1"/>
          </p:nvPr>
        </p:nvSpPr>
        <p:spPr>
          <a:xfrm>
            <a:off x="731520" y="4617720"/>
            <a:ext cx="8595360" cy="109728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Ajuster une note validée, dans une limite de crans : un gestionnaire des risques demande, un autre décide.</a:t>
            </a:r>
            <a:endParaRPr lang="en-US" sz="1800" dirty="0"/>
          </a:p>
        </p:txBody>
      </p:sp>
      <p:sp>
        <p:nvSpPr>
          <p:cNvPr id="4" name="Text 0"/>
          <p:cNvSpPr/>
          <p:nvPr>
            <p:ph idx="102" type="body" hasCustomPrompt="1"/>
          </p:nvPr>
        </p:nvSpPr>
        <p:spPr>
          <a:xfrm>
            <a:off x="731520" y="2103120"/>
            <a:ext cx="2743200" cy="1097280"/>
          </a:xfrm>
          <a:prstGeom prst="rect">
            <a:avLst/>
          </a:prstGeom>
          <a:noFill/>
          <a:ln/>
        </p:spPr>
        <p:txBody>
          <a:bodyPr wrap="square" rtlCol="0"/>
          <a:lstStyle/>
          <a:p>
            <a:pPr algn="l" indent="0" marL="0">
              <a:buNone/>
            </a:pPr>
            <a:endParaRPr lang="en-US" sz="6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DEMANDER UNE DÉROGATION</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23-derogation-demande.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Le gestionnaire des risques ouvre la notation validée (lien « run » du dossier).</a:t>
            </a:r>
            <a:endParaRPr lang="en-US" sz="1400" dirty="0"/>
          </a:p>
          <a:p>
            <a:pPr marL="342900" indent="-342900">
              <a:spcAft>
                <a:spcPts val="500"/>
              </a:spcAft>
              <a:buSzPct val="100000"/>
              <a:buFont typeface="+mj-lt"/>
              <a:buAutoNum type="arabicPeriod"/>
            </a:pPr>
            <a:r>
              <a:rPr lang="en-US" sz="1300" dirty="0">
                <a:solidFill>
                  <a:srgbClr val="3D3D3B"/>
                </a:solidFill>
              </a:rPr>
              <a:t>Il déplie « Demander une dérogation ».</a:t>
            </a:r>
            <a:endParaRPr lang="en-US" sz="1400" dirty="0"/>
          </a:p>
          <a:p>
            <a:pPr marL="342900" indent="-342900">
              <a:spcAft>
                <a:spcPts val="500"/>
              </a:spcAft>
              <a:buSzPct val="100000"/>
              <a:buFont typeface="+mj-lt"/>
              <a:buAutoNum type="arabicPeriod"/>
            </a:pPr>
            <a:r>
              <a:rPr lang="en-US" sz="1300" dirty="0">
                <a:solidFill>
                  <a:srgbClr val="3D3D3B"/>
                </a:solidFill>
              </a:rPr>
              <a:t>Il choisit le grade retenu et le motif, justifie, puis clique sur « Demander ».</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Réservé au gestionnaire des risques, comme par l'API. Deux crans au plus (paramétrable). Pas de dérogation vers ou depuis un grade de défaut.</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DÉCIDER D'UNE DÉROGATION</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24-derogation-decision.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Un autre gestionnaire des risques, ou un administrateur, ouvre la notation.</a:t>
            </a:r>
            <a:endParaRPr lang="en-US" sz="1400" dirty="0"/>
          </a:p>
          <a:p>
            <a:pPr marL="342900" indent="-342900">
              <a:spcAft>
                <a:spcPts val="500"/>
              </a:spcAft>
              <a:buSzPct val="100000"/>
              <a:buFont typeface="+mj-lt"/>
              <a:buAutoNum type="arabicPeriod"/>
            </a:pPr>
            <a:r>
              <a:rPr lang="en-US" sz="1300" dirty="0">
                <a:solidFill>
                  <a:srgbClr val="3D3D3B"/>
                </a:solidFill>
              </a:rPr>
              <a:t>Il lit la justification et saisit un commentaire.</a:t>
            </a:r>
            <a:endParaRPr lang="en-US" sz="1400" dirty="0"/>
          </a:p>
          <a:p>
            <a:pPr marL="342900" indent="-342900">
              <a:spcAft>
                <a:spcPts val="500"/>
              </a:spcAft>
              <a:buSzPct val="100000"/>
              <a:buFont typeface="+mj-lt"/>
              <a:buAutoNum type="arabicPeriod"/>
            </a:pPr>
            <a:r>
              <a:rPr lang="en-US" sz="1300" dirty="0">
                <a:solidFill>
                  <a:srgbClr val="3D3D3B"/>
                </a:solidFill>
              </a:rPr>
              <a:t>Il clique sur « Approuver » ou « Rejeter ».</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Le demandeur ne peut pas approuver sa propre dérogation. Le résultat du moteur n'est jamais réécrit.</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3" type="title" hasCustomPrompt="1"/>
          </p:nvPr>
        </p:nvSpPr>
        <p:spPr>
          <a:xfrm>
            <a:off x="731520" y="3200400"/>
            <a:ext cx="8595360" cy="137160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6. GROUPES D'AFFAIRES ET RENOTATION</a:t>
            </a:r>
            <a:endParaRPr lang="en-US" sz="4000" dirty="0"/>
          </a:p>
        </p:txBody>
      </p:sp>
      <p:sp>
        <p:nvSpPr>
          <p:cNvPr id="3" name="Text 0"/>
          <p:cNvSpPr/>
          <p:nvPr>
            <p:ph idx="104" type="body" hasCustomPrompt="1"/>
          </p:nvPr>
        </p:nvSpPr>
        <p:spPr>
          <a:xfrm>
            <a:off x="731520" y="4617720"/>
            <a:ext cx="8595360" cy="109728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Rattacher les contreparties à leur groupe d'affaires, puis renoter le portefeuille par lot, ponctuellement ou chaque mois.</a:t>
            </a:r>
            <a:endParaRPr lang="en-US" sz="1800" dirty="0"/>
          </a:p>
        </p:txBody>
      </p:sp>
      <p:sp>
        <p:nvSpPr>
          <p:cNvPr id="4" name="Text 0"/>
          <p:cNvSpPr/>
          <p:nvPr>
            <p:ph idx="102" type="body" hasCustomPrompt="1"/>
          </p:nvPr>
        </p:nvSpPr>
        <p:spPr>
          <a:xfrm>
            <a:off x="731520" y="2103120"/>
            <a:ext cx="2743200" cy="1097280"/>
          </a:xfrm>
          <a:prstGeom prst="rect">
            <a:avLst/>
          </a:prstGeom>
          <a:noFill/>
          <a:ln/>
        </p:spPr>
        <p:txBody>
          <a:bodyPr wrap="square" rtlCol="0"/>
          <a:lstStyle/>
          <a:p>
            <a:pPr algn="l" indent="0" marL="0">
              <a:buNone/>
            </a:pPr>
            <a:endParaRPr lang="en-US" sz="6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LES GROUPES D'AFFAIRES</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39-groupes.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Menu « Groupes ».</a:t>
            </a:r>
            <a:endParaRPr lang="en-US" sz="1400" dirty="0"/>
          </a:p>
          <a:p>
            <a:pPr marL="342900" indent="-342900">
              <a:spcAft>
                <a:spcPts val="500"/>
              </a:spcAft>
              <a:buSzPct val="100000"/>
              <a:buFont typeface="+mj-lt"/>
              <a:buAutoNum type="arabicPeriod"/>
            </a:pPr>
            <a:r>
              <a:rPr lang="en-US" sz="1300" dirty="0">
                <a:solidFill>
                  <a:srgbClr val="3D3D3B"/>
                </a:solidFill>
              </a:rPr>
              <a:t>Créer un groupe : code, nom, entité qui le suit.</a:t>
            </a:r>
            <a:endParaRPr lang="en-US" sz="1400" dirty="0"/>
          </a:p>
          <a:p>
            <a:pPr marL="342900" indent="-342900">
              <a:spcAft>
                <a:spcPts val="500"/>
              </a:spcAft>
              <a:buSzPct val="100000"/>
              <a:buFont typeface="+mj-lt"/>
              <a:buAutoNum type="arabicPeriod"/>
            </a:pPr>
            <a:r>
              <a:rPr lang="en-US" sz="1300" dirty="0">
                <a:solidFill>
                  <a:srgbClr val="3D3D3B"/>
                </a:solidFill>
              </a:rPr>
              <a:t>Le tableau donne le nombre de membres de chaque groupe ; « Renoter le groupe » ouvre un lot pré-rempli.</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Appartenir à un groupe ne relève jamais une note : le soutien du groupe reste soumis aux quatre conditions documentées du modèle.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LA FICHE D'UN GROUPE</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40-groupe-fiche.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Cliquer sur le code du groupe.</a:t>
            </a:r>
            <a:endParaRPr lang="en-US" sz="1400" dirty="0"/>
          </a:p>
          <a:p>
            <a:pPr marL="342900" indent="-342900">
              <a:spcAft>
                <a:spcPts val="500"/>
              </a:spcAft>
              <a:buSzPct val="100000"/>
              <a:buFont typeface="+mj-lt"/>
              <a:buAutoNum type="arabicPeriod"/>
            </a:pPr>
            <a:r>
              <a:rPr lang="en-US" sz="1300" dirty="0">
                <a:solidFill>
                  <a:srgbClr val="3D3D3B"/>
                </a:solidFill>
              </a:rPr>
              <a:t>Lire la note officielle et l'arrêté de chaque membre.</a:t>
            </a:r>
            <a:endParaRPr lang="en-US" sz="1400" dirty="0"/>
          </a:p>
          <a:p>
            <a:pPr marL="342900" indent="-342900">
              <a:spcAft>
                <a:spcPts val="500"/>
              </a:spcAft>
              <a:buSzPct val="100000"/>
              <a:buFont typeface="+mj-lt"/>
              <a:buAutoNum type="arabicPeriod"/>
            </a:pPr>
            <a:r>
              <a:rPr lang="en-US" sz="1300" dirty="0">
                <a:solidFill>
                  <a:srgbClr val="3D3D3B"/>
                </a:solidFill>
              </a:rPr>
              <a:t>Rattacher des contreparties en collant leurs ICE, un par ligne ; les détacher de la même façon.</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Seules les contreparties de l'entité du groupe et de sa descendance peuvent y être rattachées. Chaque rattachement est journalisé.</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LANCER UNE RENOTATION</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41-renotation-lancer.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Menu « Renotation » (gestionnaire des risques).</a:t>
            </a:r>
            <a:endParaRPr lang="en-US" sz="1400" dirty="0"/>
          </a:p>
          <a:p>
            <a:pPr marL="342900" indent="-342900">
              <a:spcAft>
                <a:spcPts val="500"/>
              </a:spcAft>
              <a:buSzPct val="100000"/>
              <a:buFont typeface="+mj-lt"/>
              <a:buAutoNum type="arabicPeriod"/>
            </a:pPr>
            <a:r>
              <a:rPr lang="en-US" sz="1300" dirty="0">
                <a:solidFill>
                  <a:srgbClr val="3D3D3B"/>
                </a:solidFill>
              </a:rPr>
              <a:t>Nommer le lot et choisir la date d'arrêté.</a:t>
            </a:r>
            <a:endParaRPr lang="en-US" sz="1400" dirty="0"/>
          </a:p>
          <a:p>
            <a:pPr marL="342900" indent="-342900">
              <a:spcAft>
                <a:spcPts val="500"/>
              </a:spcAft>
              <a:buSzPct val="100000"/>
              <a:buFont typeface="+mj-lt"/>
              <a:buAutoNum type="arabicPeriod"/>
            </a:pPr>
            <a:r>
              <a:rPr lang="en-US" sz="1300" dirty="0">
                <a:solidFill>
                  <a:srgbClr val="3D3D3B"/>
                </a:solidFill>
              </a:rPr>
              <a:t>Choisir la sélection : banque ou filiale, groupe d'affaires, segment, secteur, ancienneté de la validation.</a:t>
            </a:r>
            <a:endParaRPr lang="en-US" sz="1400" dirty="0"/>
          </a:p>
          <a:p>
            <a:pPr marL="342900" indent="-342900">
              <a:spcAft>
                <a:spcPts val="500"/>
              </a:spcAft>
              <a:buSzPct val="100000"/>
              <a:buFont typeface="+mj-lt"/>
              <a:buAutoNum type="arabicPeriod"/>
            </a:pPr>
            <a:r>
              <a:rPr lang="en-US" sz="1300" dirty="0">
                <a:solidFill>
                  <a:srgbClr val="3D3D3B"/>
                </a:solidFill>
              </a:rPr>
              <a:t>Joindre au besoin le fichier CSV de la DSI (première colonne « ice »).</a:t>
            </a:r>
            <a:endParaRPr lang="en-US" sz="1400" dirty="0"/>
          </a:p>
          <a:p>
            <a:pPr marL="342900" indent="-342900">
              <a:spcAft>
                <a:spcPts val="500"/>
              </a:spcAft>
              <a:buSzPct val="100000"/>
              <a:buFont typeface="+mj-lt"/>
              <a:buAutoNum type="arabicPeriod"/>
            </a:pPr>
            <a:r>
              <a:rPr lang="en-US" sz="1300" dirty="0">
                <a:solidFill>
                  <a:srgbClr val="3D3D3B"/>
                </a:solidFill>
              </a:rPr>
              <a:t>« Compter la sélection », puis « Lancer le lot ».</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Chaque contrepartie est renotée à partir de son dernier dossier validé. Une valeur du fichier hors grille est refusée, jamais appliquée.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SUIVRE UN LOT ET LIRE LA MIGRATION</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42-renotation-suivi.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Le lot se traite pendant que l'écran est ouvert ; la barre montre l'avancement.</a:t>
            </a:r>
            <a:endParaRPr lang="en-US" sz="1400" dirty="0"/>
          </a:p>
          <a:p>
            <a:pPr marL="342900" indent="-342900">
              <a:spcAft>
                <a:spcPts val="500"/>
              </a:spcAft>
              <a:buSzPct val="100000"/>
              <a:buFont typeface="+mj-lt"/>
              <a:buAutoNum type="arabicPeriod"/>
            </a:pPr>
            <a:r>
              <a:rPr lang="en-US" sz="1300" dirty="0">
                <a:solidFill>
                  <a:srgbClr val="3D3D3B"/>
                </a:solidFill>
              </a:rPr>
              <a:t>Lire les compteurs : inchangées, améliorations, dégradations, sans note, défauts.</a:t>
            </a:r>
            <a:endParaRPr lang="en-US" sz="1400" dirty="0"/>
          </a:p>
          <a:p>
            <a:pPr marL="342900" indent="-342900">
              <a:spcAft>
                <a:spcPts val="500"/>
              </a:spcAft>
              <a:buSzPct val="100000"/>
              <a:buFont typeface="+mj-lt"/>
              <a:buAutoNum type="arabicPeriod"/>
            </a:pPr>
            <a:r>
              <a:rPr lang="en-US" sz="1300" dirty="0">
                <a:solidFill>
                  <a:srgbClr val="3D3D3B"/>
                </a:solidFill>
              </a:rPr>
              <a:t>La matrice croise la note officielle (en ligne) et la note de surveillance (en colonne).</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Fermer l'écran n'arrête rien : la tâche planifiée du serveur reprend le lot là où il en est, sans jamais noter deux fois.</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LES CONTREPARTIES À REVOIR</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43-renotation-revoir.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Le filtre « À revoir » liste les migrations, absences de note et défauts.</a:t>
            </a:r>
            <a:endParaRPr lang="en-US" sz="1400" dirty="0"/>
          </a:p>
          <a:p>
            <a:pPr marL="342900" indent="-342900">
              <a:spcAft>
                <a:spcPts val="500"/>
              </a:spcAft>
              <a:buSzPct val="100000"/>
              <a:buFont typeface="+mj-lt"/>
              <a:buAutoNum type="arabicPeriod"/>
            </a:pPr>
            <a:r>
              <a:rPr lang="en-US" sz="1300" dirty="0">
                <a:solidFill>
                  <a:srgbClr val="3D3D3B"/>
                </a:solidFill>
              </a:rPr>
              <a:t>« Dossier » ouvre le dossier de revue créé par le lot.</a:t>
            </a:r>
            <a:endParaRPr lang="en-US" sz="1400" dirty="0"/>
          </a:p>
          <a:p>
            <a:pPr marL="342900" indent="-342900">
              <a:spcAft>
                <a:spcPts val="500"/>
              </a:spcAft>
              <a:buSzPct val="100000"/>
              <a:buFont typeface="+mj-lt"/>
              <a:buAutoNum type="arabicPeriod"/>
            </a:pPr>
            <a:r>
              <a:rPr lang="en-US" sz="1300" dirty="0">
                <a:solidFill>
                  <a:srgbClr val="3D3D3B"/>
                </a:solidFill>
              </a:rPr>
              <a:t>« Exporter le lot (CSV) » produit le détail pour Excel.</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Une contrepartie sans dossier validé (nouvelle relation) est « écartée » avec son motif : elle se note par un dossier, pas par le lot.</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PLANIFIER UNE RENOTATION PÉRIODIQUE</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44-renotation-planifier.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En bas de l'écran Renotation.</a:t>
            </a:r>
            <a:endParaRPr lang="en-US" sz="1400" dirty="0"/>
          </a:p>
          <a:p>
            <a:pPr marL="342900" indent="-342900">
              <a:spcAft>
                <a:spcPts val="500"/>
              </a:spcAft>
              <a:buSzPct val="100000"/>
              <a:buFont typeface="+mj-lt"/>
              <a:buAutoNum type="arabicPeriod"/>
            </a:pPr>
            <a:r>
              <a:rPr lang="en-US" sz="1300" dirty="0">
                <a:solidFill>
                  <a:srgbClr val="3D3D3B"/>
                </a:solidFill>
              </a:rPr>
              <a:t>Choisir la fréquence (mensuelle à annuelle) et le jour d'exécution.</a:t>
            </a:r>
            <a:endParaRPr lang="en-US" sz="1400" dirty="0"/>
          </a:p>
          <a:p>
            <a:pPr marL="342900" indent="-342900">
              <a:spcAft>
                <a:spcPts val="500"/>
              </a:spcAft>
              <a:buSzPct val="100000"/>
              <a:buFont typeface="+mj-lt"/>
              <a:buAutoNum type="arabicPeriod"/>
            </a:pPr>
            <a:r>
              <a:rPr lang="en-US" sz="1300" dirty="0">
                <a:solidFill>
                  <a:srgbClr val="3D3D3B"/>
                </a:solidFill>
              </a:rPr>
              <a:t>Choisir la sélection et le seuil de migration, puis enregistrer.</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À chaque échéance, un lot est créé avec pour date d'arrêté la fin du mois précédent. « Suspendre » arrête la planification sans la supprimer.</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INSTRUIRE UN DOSSIER DE REVUE</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45-dossier-revue.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Ouvrir le dossier depuis le lot ou la file « Dossiers ».</a:t>
            </a:r>
            <a:endParaRPr lang="en-US" sz="1400" dirty="0"/>
          </a:p>
          <a:p>
            <a:pPr marL="342900" indent="-342900">
              <a:spcAft>
                <a:spcPts val="500"/>
              </a:spcAft>
              <a:buSzPct val="100000"/>
              <a:buFont typeface="+mj-lt"/>
              <a:buAutoNum type="arabicPeriod"/>
            </a:pPr>
            <a:r>
              <a:rPr lang="en-US" sz="1300" dirty="0">
                <a:solidFill>
                  <a:srgbClr val="3D3D3B"/>
                </a:solidFill>
              </a:rPr>
              <a:t>Lire le bandeau : note officielle, note de surveillance, écart en crans.</a:t>
            </a:r>
            <a:endParaRPr lang="en-US" sz="1400" dirty="0"/>
          </a:p>
          <a:p>
            <a:pPr marL="342900" indent="-342900">
              <a:spcAft>
                <a:spcPts val="500"/>
              </a:spcAft>
              <a:buSzPct val="100000"/>
              <a:buFont typeface="+mj-lt"/>
              <a:buAutoNum type="arabicPeriod"/>
            </a:pPr>
            <a:r>
              <a:rPr lang="en-US" sz="1300" dirty="0">
                <a:solidFill>
                  <a:srgbClr val="3D3D3B"/>
                </a:solidFill>
              </a:rPr>
              <a:t>Vérifier et compléter la saisie reprise, puis soumettre à validation.</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La note officielle ne change qu'après validation de ce dossier par une seconde personne, comme pour tout dossier.</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3" type="title" hasCustomPrompt="1"/>
          </p:nvPr>
        </p:nvSpPr>
        <p:spPr>
          <a:xfrm>
            <a:off x="731520" y="3200400"/>
            <a:ext cx="8595360" cy="137160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7. AUTRES FONCTIONS</a:t>
            </a:r>
            <a:endParaRPr lang="en-US" sz="4000" dirty="0"/>
          </a:p>
        </p:txBody>
      </p:sp>
      <p:sp>
        <p:nvSpPr>
          <p:cNvPr id="3" name="Text 0"/>
          <p:cNvSpPr/>
          <p:nvPr>
            <p:ph idx="104" type="body" hasCustomPrompt="1"/>
          </p:nvPr>
        </p:nvSpPr>
        <p:spPr>
          <a:xfrm>
            <a:off x="731520" y="4617720"/>
            <a:ext cx="8595360" cy="109728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Simuler, consulter la grille et utiliser l'outil sur téléphone.</a:t>
            </a:r>
            <a:endParaRPr lang="en-US" sz="1800" dirty="0"/>
          </a:p>
        </p:txBody>
      </p:sp>
      <p:sp>
        <p:nvSpPr>
          <p:cNvPr id="4" name="Text 0"/>
          <p:cNvSpPr/>
          <p:nvPr>
            <p:ph idx="102" type="body" hasCustomPrompt="1"/>
          </p:nvPr>
        </p:nvSpPr>
        <p:spPr>
          <a:xfrm>
            <a:off x="731520" y="2103120"/>
            <a:ext cx="2743200" cy="1097280"/>
          </a:xfrm>
          <a:prstGeom prst="rect">
            <a:avLst/>
          </a:prstGeom>
          <a:noFill/>
          <a:ln/>
        </p:spPr>
        <p:txBody>
          <a:bodyPr wrap="square" rtlCol="0"/>
          <a:lstStyle/>
          <a:p>
            <a:pPr algn="l" indent="0" marL="0">
              <a:buNone/>
            </a:pPr>
            <a:endParaRPr lang="en-US" sz="6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SIMULER SANS ENREGISTRER</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29-simulation.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Menu « Nouvelle notation », partie « Simulation ».</a:t>
            </a:r>
            <a:endParaRPr lang="en-US" sz="1400" dirty="0"/>
          </a:p>
          <a:p>
            <a:pPr marL="342900" indent="-342900">
              <a:spcAft>
                <a:spcPts val="500"/>
              </a:spcAft>
              <a:buSzPct val="100000"/>
              <a:buFont typeface="+mj-lt"/>
              <a:buAutoNum type="arabicPeriod"/>
            </a:pPr>
            <a:r>
              <a:rPr lang="en-US" sz="1300" dirty="0">
                <a:solidFill>
                  <a:srgbClr val="3D3D3B"/>
                </a:solidFill>
              </a:rPr>
              <a:t>Saisir une grille et cliquer sur « Simuler la notation ».</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Utile pour la formation ou pour tester l'effet d'un ratio. Rien n'est enregistré.</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CONSULTER LA GRILLE DU MODÈLE</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30-modele.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Menu « Modèles », puis le modèle.</a:t>
            </a:r>
            <a:endParaRPr lang="en-US" sz="1400" dirty="0"/>
          </a:p>
          <a:p>
            <a:pPr marL="342900" indent="-342900">
              <a:spcAft>
                <a:spcPts val="500"/>
              </a:spcAft>
              <a:buSzPct val="100000"/>
              <a:buFont typeface="+mj-lt"/>
              <a:buAutoNum type="arabicPeriod"/>
            </a:pPr>
            <a:r>
              <a:rPr lang="en-US" sz="1300" dirty="0">
                <a:solidFill>
                  <a:srgbClr val="3D3D3B"/>
                </a:solidFill>
              </a:rPr>
              <a:t>Pondération des domaines, critères, barèmes et repères.</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La méthodologie complète est dans le menu « Méthodologie ».</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SUR TÉLÉPHONE</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38-mobile.jpg"/>
          <p:cNvPicPr>
            <a:picLocks noChangeAspect="1"/>
          </p:cNvPicPr>
          <p:nvPr/>
        </p:nvPicPr>
        <p:blipFill>
          <a:blip r:embed="rId3"/>
          <a:stretch>
            <a:fillRect/>
          </a:stretch>
        </p:blipFill>
        <p:spPr>
          <a:xfrm>
            <a:off x="3265562" y="1234440"/>
            <a:ext cx="1972796"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Le menu défile horizontalement.</a:t>
            </a:r>
            <a:endParaRPr lang="en-US" sz="1400" dirty="0"/>
          </a:p>
          <a:p>
            <a:pPr marL="342900" indent="-342900">
              <a:spcAft>
                <a:spcPts val="500"/>
              </a:spcAft>
              <a:buSzPct val="100000"/>
              <a:buFont typeface="+mj-lt"/>
              <a:buAutoNum type="arabicPeriod"/>
            </a:pPr>
            <a:r>
              <a:rPr lang="en-US" sz="1300" dirty="0">
                <a:solidFill>
                  <a:srgbClr val="3D3D3B"/>
                </a:solidFill>
              </a:rPr>
              <a:t>Les tableaux larges défilent dans leur cadre.</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La validation d'un dossier est possible sur téléphone ; la saisie d'une grille complète est plus confortable sur ordinateur.</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3" type="title" hasCustomPrompt="1"/>
          </p:nvPr>
        </p:nvSpPr>
        <p:spPr>
          <a:xfrm>
            <a:off x="731520" y="3200400"/>
            <a:ext cx="8595360" cy="137160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8. ADMINISTRATION</a:t>
            </a:r>
            <a:endParaRPr lang="en-US" sz="4000" dirty="0"/>
          </a:p>
        </p:txBody>
      </p:sp>
      <p:sp>
        <p:nvSpPr>
          <p:cNvPr id="3" name="Text 0"/>
          <p:cNvSpPr/>
          <p:nvPr>
            <p:ph idx="104" type="body" hasCustomPrompt="1"/>
          </p:nvPr>
        </p:nvSpPr>
        <p:spPr>
          <a:xfrm>
            <a:off x="731520" y="4617720"/>
            <a:ext cx="8595360" cy="109728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Réservé aux administrateurs : comptes, organisation, devises et paramétrage.</a:t>
            </a:r>
            <a:endParaRPr lang="en-US" sz="1800" dirty="0"/>
          </a:p>
        </p:txBody>
      </p:sp>
      <p:sp>
        <p:nvSpPr>
          <p:cNvPr id="4" name="Text 0"/>
          <p:cNvSpPr/>
          <p:nvPr>
            <p:ph idx="102" type="body" hasCustomPrompt="1"/>
          </p:nvPr>
        </p:nvSpPr>
        <p:spPr>
          <a:xfrm>
            <a:off x="731520" y="2103120"/>
            <a:ext cx="2743200" cy="1097280"/>
          </a:xfrm>
          <a:prstGeom prst="rect">
            <a:avLst/>
          </a:prstGeom>
          <a:noFill/>
          <a:ln/>
        </p:spPr>
        <p:txBody>
          <a:bodyPr wrap="square" rtlCol="0"/>
          <a:lstStyle/>
          <a:p>
            <a:pPr algn="l" indent="0" marL="0">
              <a:buNone/>
            </a:pPr>
            <a:endParaRPr lang="en-US" sz="6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VUE D'ENSEMBLE</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32-admin.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Menu « Administration ».</a:t>
            </a:r>
            <a:endParaRPr lang="en-US" sz="1400" dirty="0"/>
          </a:p>
          <a:p>
            <a:pPr marL="342900" indent="-342900">
              <a:spcAft>
                <a:spcPts val="500"/>
              </a:spcAft>
              <a:buSzPct val="100000"/>
              <a:buFont typeface="+mj-lt"/>
              <a:buAutoNum type="arabicPeriod"/>
            </a:pPr>
            <a:r>
              <a:rPr lang="en-US" sz="1300" dirty="0">
                <a:solidFill>
                  <a:srgbClr val="3D3D3B"/>
                </a:solidFill>
              </a:rPr>
              <a:t>Quatre domaines : utilisateurs, banques et filiales, devises, paramétrage.</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Un administrateur d'entité gère les comptes de son périmètre ; le paramétrage global relève de l'administrateur du groupe.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CRÉER UN COMPTE</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33-admin-utilisateurs.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Saisir l'identifiant, le nom, le rôle.</a:t>
            </a:r>
            <a:endParaRPr lang="en-US" sz="1400" dirty="0"/>
          </a:p>
          <a:p>
            <a:pPr marL="342900" indent="-342900">
              <a:spcAft>
                <a:spcPts val="500"/>
              </a:spcAft>
              <a:buSzPct val="100000"/>
              <a:buFont typeface="+mj-lt"/>
              <a:buAutoNum type="arabicPeriod"/>
            </a:pPr>
            <a:r>
              <a:rPr lang="en-US" sz="1300" dirty="0">
                <a:solidFill>
                  <a:srgbClr val="3D3D3B"/>
                </a:solidFill>
              </a:rPr>
              <a:t>Choisir l'entité de rattachement et la portée d'écriture.</a:t>
            </a:r>
            <a:endParaRPr lang="en-US" sz="1400" dirty="0"/>
          </a:p>
          <a:p>
            <a:pPr marL="342900" indent="-342900">
              <a:spcAft>
                <a:spcPts val="500"/>
              </a:spcAft>
              <a:buSzPct val="100000"/>
              <a:buFont typeface="+mj-lt"/>
              <a:buAutoNum type="arabicPeriod"/>
            </a:pPr>
            <a:r>
              <a:rPr lang="en-US" sz="1300" dirty="0">
                <a:solidFill>
                  <a:srgbClr val="3D3D3B"/>
                </a:solidFill>
              </a:rPr>
              <a:t>Cliquer sur « Créer » et remettre le mot de passe provisoire par un canal distinct.</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Un compte non rattaché à une entité n'a accès à rien, sauf l'administrateur du groupe.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BANQUES ET FILIALES</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34-admin-entites.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Créer une entité : code, entité mère, type, pays, devise.</a:t>
            </a:r>
            <a:endParaRPr lang="en-US" sz="1400" dirty="0"/>
          </a:p>
          <a:p>
            <a:pPr marL="342900" indent="-342900">
              <a:spcAft>
                <a:spcPts val="500"/>
              </a:spcAft>
              <a:buSzPct val="100000"/>
              <a:buFont typeface="+mj-lt"/>
              <a:buAutoNum type="arabicPeriod"/>
            </a:pPr>
            <a:r>
              <a:rPr lang="en-US" sz="1300" dirty="0">
                <a:solidFill>
                  <a:srgbClr val="3D3D3B"/>
                </a:solidFill>
              </a:rPr>
              <a:t>Habillage facultatif : nom de l'outil, logo, couleur.</a:t>
            </a:r>
            <a:endParaRPr lang="en-US" sz="1400" dirty="0"/>
          </a:p>
          <a:p>
            <a:pPr marL="342900" indent="-342900">
              <a:spcAft>
                <a:spcPts val="500"/>
              </a:spcAft>
              <a:buSzPct val="100000"/>
              <a:buFont typeface="+mj-lt"/>
              <a:buAutoNum type="arabicPeriod"/>
            </a:pPr>
            <a:r>
              <a:rPr lang="en-US" sz="1300" dirty="0">
                <a:solidFill>
                  <a:srgbClr val="3D3D3B"/>
                </a:solidFill>
              </a:rPr>
              <a:t>« Modifier » ou « Désactiver » une entité existante.</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Une entité voit sa descendance, jamais sa maison mère ni ses entités sœurs.</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PUBLIER UN COURS DE CHANGE</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35-admin-devises.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Saisir la devise, la date d'effet et le cours en MAD.</a:t>
            </a:r>
            <a:endParaRPr lang="en-US" sz="1400" dirty="0"/>
          </a:p>
          <a:p>
            <a:pPr marL="342900" indent="-342900">
              <a:spcAft>
                <a:spcPts val="500"/>
              </a:spcAft>
              <a:buSzPct val="100000"/>
              <a:buFont typeface="+mj-lt"/>
              <a:buAutoNum type="arabicPeriod"/>
            </a:pPr>
            <a:r>
              <a:rPr lang="en-US" sz="1300" dirty="0">
                <a:solidFill>
                  <a:srgbClr val="3D3D3B"/>
                </a:solidFill>
              </a:rPr>
              <a:t>Indiquer la source (Bank Al-Maghrib…).</a:t>
            </a:r>
            <a:endParaRPr lang="en-US" sz="1400" dirty="0"/>
          </a:p>
          <a:p>
            <a:pPr marL="342900" indent="-342900">
              <a:spcAft>
                <a:spcPts val="500"/>
              </a:spcAft>
              <a:buSzPct val="100000"/>
              <a:buFont typeface="+mj-lt"/>
              <a:buAutoNum type="arabicPeriod"/>
            </a:pPr>
            <a:r>
              <a:rPr lang="en-US" sz="1300" dirty="0">
                <a:solidFill>
                  <a:srgbClr val="3D3D3B"/>
                </a:solidFill>
              </a:rPr>
              <a:t>Cliquer sur « Publier ».</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Un cours publié ne se modifie pas : une correction est un nouveau cours daté.</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PARAMÉTRER LE WORKFLOW</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36-admin-parametrage.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Rôle du valideur et seuil de délégation.</a:t>
            </a:r>
            <a:endParaRPr lang="en-US" sz="1400" dirty="0"/>
          </a:p>
          <a:p>
            <a:pPr marL="342900" indent="-342900">
              <a:spcAft>
                <a:spcPts val="500"/>
              </a:spcAft>
              <a:buSzPct val="100000"/>
              <a:buFont typeface="+mj-lt"/>
              <a:buAutoNum type="arabicPeriod"/>
            </a:pPr>
            <a:r>
              <a:rPr lang="en-US" sz="1300" dirty="0">
                <a:solidFill>
                  <a:srgbClr val="3D3D3B"/>
                </a:solidFill>
              </a:rPr>
              <a:t>Durée de validité d'une note, ampleur des dérogations, taille des pièces.</a:t>
            </a:r>
            <a:endParaRPr lang="en-US" sz="1400" dirty="0"/>
          </a:p>
          <a:p>
            <a:pPr marL="342900" indent="-342900">
              <a:spcAft>
                <a:spcPts val="500"/>
              </a:spcAft>
              <a:buSzPct val="100000"/>
              <a:buFont typeface="+mj-lt"/>
              <a:buAutoNum type="arabicPeriod"/>
            </a:pPr>
            <a:r>
              <a:rPr lang="en-US" sz="1300" dirty="0">
                <a:solidFill>
                  <a:srgbClr val="3D3D3B"/>
                </a:solidFill>
              </a:rPr>
              <a:t>Cliquer sur « Enregistrer le paramétrage ».</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Chaque modification est journalisée. Les grilles de notation ne se paramètrent pas ici : elles relèvent du comité modèles.</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PARAMÉTRER L'IA</a:t>
            </a:r>
            <a:endParaRPr lang="en-US" sz="2400" dirty="0"/>
          </a:p>
        </p:txBody>
      </p:sp>
      <p:sp>
        <p:nvSpPr>
          <p:cNvPr id="4" name="pieces-check-list-cadre"/>
          <p:cNvSpPr/>
          <p:nvPr/>
        </p:nvSpPr>
        <p:spPr>
          <a:xfrm>
            <a:off x="420624" y="1197864"/>
            <a:ext cx="7662672" cy="4342486"/>
          </a:xfrm>
          <a:prstGeom prst="rect">
            <a:avLst/>
          </a:prstGeom>
          <a:solidFill>
            <a:srgbClr val="FFFFFF"/>
          </a:solidFill>
          <a:ln w="9525">
            <a:solidFill>
              <a:srgbClr val="C6C6C6"/>
            </a:solidFill>
            <a:prstDash val="solid"/>
          </a:ln>
          <a:effectLst>
            <a:outerShdw sx="100000" sy="100000" kx="0" ky="0" algn="bl" rotWithShape="0" blurRad="76200" dist="25400" dir="5400000">
              <a:srgbClr val="000000">
                <a:alpha val="18000"/>
              </a:srgbClr>
            </a:outerShdw>
          </a:effectLst>
        </p:spPr>
      </p:sp>
      <p:pic>
        <p:nvPicPr>
          <p:cNvPr id="26" name="capture" descr="37-admin-ia.jpg"/>
          <p:cNvPicPr>
            <a:picLocks noChangeAspect="1"/>
          </p:cNvPicPr>
          <p:nvPr/>
        </p:nvPicPr>
        <p:blipFill>
          <a:blip r:embed="rId3"/>
          <a:stretch>
            <a:fillRect/>
          </a:stretch>
        </p:blipFill>
        <p:spPr>
          <a:xfrm>
            <a:off x="457200" y="1234440"/>
            <a:ext cx="7589520" cy="4269334"/>
          </a:xfrm>
          <a:prstGeom prst="rect">
            <a:avLst/>
          </a:prstGeom>
        </p:spPr>
      </p:pic>
      <p:sp>
        <p:nvSpPr>
          <p:cNvPr id="6" name="Text 2"/>
          <p:cNvSpPr txBox="1"/>
          <p:nvPr/>
        </p:nvSpPr>
        <p:spPr>
          <a:xfrm>
            <a:off x="8321040" y="1234440"/>
            <a:ext cx="3474720" cy="365760"/>
          </a:xfrm>
          <a:prstGeom prst="rect">
            <a:avLst/>
          </a:prstGeom>
          <a:noFill/>
          <a:ln/>
        </p:spPr>
        <p:txBody>
          <a:bodyPr wrap="square" lIns="0" tIns="0" rIns="0" bIns="0" rtlCol="0" anchor="ctr"/>
          <a:lstStyle/>
          <a:p>
            <a:pPr indent="0" marL="0">
              <a:buNone/>
            </a:pPr>
            <a:r>
              <a:rPr lang="en-US" sz="1600" b="1" dirty="0">
                <a:solidFill>
                  <a:srgbClr val="E37B05"/>
                </a:solidFill>
              </a:rPr>
              <a:t>ÉTAPES</a:t>
            </a:r>
            <a:endParaRPr lang="en-US" sz="1600" dirty="0"/>
          </a:p>
        </p:txBody>
      </p:sp>
      <p:sp>
        <p:nvSpPr>
          <p:cNvPr id="7" name="Text 3"/>
          <p:cNvSpPr txBox="1"/>
          <p:nvPr/>
        </p:nvSpPr>
        <p:spPr>
          <a:xfrm>
            <a:off x="8321040" y="1645920"/>
            <a:ext cx="3474720" cy="2468880"/>
          </a:xfrm>
          <a:prstGeom prst="rect">
            <a:avLst/>
          </a:prstGeom>
          <a:noFill/>
          <a:ln/>
        </p:spPr>
        <p:txBody>
          <a:bodyPr wrap="square" lIns="0" tIns="0" rIns="0" bIns="0" rtlCol="0" anchor="t"/>
          <a:lstStyle/>
          <a:p>
            <a:pPr marL="342900" indent="-342900">
              <a:spcAft>
                <a:spcPts val="500"/>
              </a:spcAft>
              <a:buSzPct val="100000"/>
              <a:buFont typeface="+mj-lt"/>
              <a:buAutoNum type="arabicPeriod"/>
            </a:pPr>
            <a:r>
              <a:rPr lang="en-US" sz="1300" dirty="0">
                <a:solidFill>
                  <a:srgbClr val="3D3D3B"/>
                </a:solidFill>
              </a:rPr>
              <a:t>Cocher « Activée ».</a:t>
            </a:r>
            <a:endParaRPr lang="en-US" sz="1400" dirty="0"/>
          </a:p>
          <a:p>
            <a:pPr marL="342900" indent="-342900">
              <a:spcAft>
                <a:spcPts val="500"/>
              </a:spcAft>
              <a:buSzPct val="100000"/>
              <a:buFont typeface="+mj-lt"/>
              <a:buAutoNum type="arabicPeriod"/>
            </a:pPr>
            <a:r>
              <a:rPr lang="en-US" sz="1300" dirty="0">
                <a:solidFill>
                  <a:srgbClr val="3D3D3B"/>
                </a:solidFill>
              </a:rPr>
              <a:t>Choisir le fournisseur et le modèle ; l'adresse si l'API est interne.</a:t>
            </a:r>
            <a:endParaRPr lang="en-US" sz="1400" dirty="0"/>
          </a:p>
          <a:p>
            <a:pPr marL="342900" indent="-342900">
              <a:spcAft>
                <a:spcPts val="500"/>
              </a:spcAft>
              <a:buSzPct val="100000"/>
              <a:buFont typeface="+mj-lt"/>
              <a:buAutoNum type="arabicPeriod"/>
            </a:pPr>
            <a:r>
              <a:rPr lang="en-US" sz="1300" dirty="0">
                <a:solidFill>
                  <a:srgbClr val="3D3D3B"/>
                </a:solidFill>
              </a:rPr>
              <a:t>Enregistrer.</a:t>
            </a:r>
            <a:endParaRPr lang="en-US" sz="1400" dirty="0"/>
          </a:p>
        </p:txBody>
      </p:sp>
      <p:sp>
        <p:nvSpPr>
          <p:cNvPr id="8" name="Text 4"/>
          <p:cNvSpPr txBox="1"/>
          <p:nvPr/>
        </p:nvSpPr>
        <p:spPr>
          <a:xfrm>
            <a:off x="8321040" y="4206240"/>
            <a:ext cx="3474720" cy="365760"/>
          </a:xfrm>
          <a:prstGeom prst="rect">
            <a:avLst/>
          </a:prstGeom>
          <a:noFill/>
          <a:ln/>
        </p:spPr>
        <p:txBody>
          <a:bodyPr wrap="square" lIns="0" tIns="0" rIns="0" bIns="0" rtlCol="0" anchor="ctr"/>
          <a:lstStyle/>
          <a:p>
            <a:pPr indent="0" marL="0">
              <a:buNone/>
            </a:pPr>
            <a:r>
              <a:rPr lang="en-US" sz="1600" b="1" dirty="0">
                <a:solidFill>
                  <a:srgbClr val="8C5B52"/>
                </a:solidFill>
              </a:rPr>
              <a:t>À SAVOIR</a:t>
            </a:r>
            <a:endParaRPr lang="en-US" sz="1600" dirty="0"/>
          </a:p>
        </p:txBody>
      </p:sp>
      <p:sp>
        <p:nvSpPr>
          <p:cNvPr id="9" name="Text 5"/>
          <p:cNvSpPr txBox="1"/>
          <p:nvPr/>
        </p:nvSpPr>
        <p:spPr>
          <a:xfrm>
            <a:off x="8321040" y="4617720"/>
            <a:ext cx="3474720" cy="1005840"/>
          </a:xfrm>
          <a:prstGeom prst="rect">
            <a:avLst/>
          </a:prstGeom>
          <a:noFill/>
          <a:ln/>
        </p:spPr>
        <p:txBody>
          <a:bodyPr wrap="square" lIns="0" tIns="0" rIns="0" bIns="0" rtlCol="0" anchor="t"/>
          <a:lstStyle/>
          <a:p>
            <a:pPr marL="0" indent="0">
              <a:buSzPct val="100000"/>
              <a:buNone/>
            </a:pPr>
            <a:r>
              <a:rPr lang="en-US" sz="1200" dirty="0">
                <a:solidFill>
                  <a:srgbClr val="3D3D3B"/>
                </a:solidFill>
              </a:rPr>
              <a:t>La clé d'accès n'est jamais saisie à l'écran : elle est déposée par l'informatique dans la configuration du serveur.</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title" hasCustomPrompt="1"/>
          </p:nvPr>
        </p:nvSpPr>
        <p:spPr>
          <a:xfrm>
            <a:off x="594360" y="274320"/>
            <a:ext cx="9966960" cy="713232"/>
          </a:xfrm>
          <a:prstGeom prst="rect">
            <a:avLst/>
          </a:prstGeom>
          <a:noFill/>
          <a:ln/>
        </p:spPr>
        <p:txBody>
          <a:bodyPr wrap="square" rtlCol="0" anchor="ctr"/>
          <a:lstStyle/>
          <a:p>
            <a:pPr indent="0" marL="0">
              <a:buNone/>
            </a:pPr>
            <a:r>
              <a:rPr lang="en-US" sz="2400" b="1" dirty="0">
                <a:solidFill>
                  <a:schemeClr val="bg1"/>
                </a:solidFill>
                <a:latin typeface="Arial" pitchFamily="34" charset="0"/>
                <a:ea typeface="Arial" pitchFamily="34" charset="-122"/>
                <a:cs typeface="Arial" pitchFamily="34" charset="-120"/>
              </a:rPr>
              <a:t>LES RÈGLES À RETENIR</a:t>
            </a:r>
            <a:endParaRPr lang="en-US" sz="2400" dirty="0"/>
          </a:p>
        </p:txBody>
      </p:sp>
      <p:sp>
        <p:nvSpPr>
          <p:cNvPr id="4" name="decision-1"/>
          <p:cNvSpPr/>
          <p:nvPr/>
        </p:nvSpPr>
        <p:spPr>
          <a:xfrm>
            <a:off x="457200" y="1280160"/>
            <a:ext cx="11320272" cy="841248"/>
          </a:xfrm>
          <a:prstGeom prst="roundRect">
            <a:avLst>
              <a:gd name="adj" fmla="val 8696"/>
            </a:avLst>
          </a:prstGeom>
          <a:solidFill>
            <a:srgbClr val="F2E8DB"/>
          </a:solidFill>
          <a:ln/>
        </p:spPr>
      </p:sp>
      <p:sp>
        <p:nvSpPr>
          <p:cNvPr id="5" name="Text 2"/>
          <p:cNvSpPr txBox="1"/>
          <p:nvPr/>
        </p:nvSpPr>
        <p:spPr>
          <a:xfrm>
            <a:off x="685800" y="1280160"/>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01</a:t>
            </a:r>
            <a:endParaRPr lang="en-US" sz="2800" dirty="0"/>
          </a:p>
        </p:txBody>
      </p:sp>
      <p:sp>
        <p:nvSpPr>
          <p:cNvPr id="6" name="Text 3"/>
          <p:cNvSpPr txBox="1"/>
          <p:nvPr/>
        </p:nvSpPr>
        <p:spPr>
          <a:xfrm>
            <a:off x="1554480" y="1280160"/>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Note officielle</a:t>
            </a:r>
            <a:r>
              <a:rPr lang="en-US" sz="1600" dirty="0">
                <a:solidFill>
                  <a:srgbClr val="3D3D3B"/>
                </a:solidFill>
              </a:rPr>
              <a:t>  —  seule une notation validée par une seconde personne fait foi.</a:t>
            </a:r>
            <a:endParaRPr lang="en-US" sz="1600" dirty="0"/>
          </a:p>
        </p:txBody>
      </p:sp>
      <p:sp>
        <p:nvSpPr>
          <p:cNvPr id="7" name="decision-2"/>
          <p:cNvSpPr/>
          <p:nvPr/>
        </p:nvSpPr>
        <p:spPr>
          <a:xfrm>
            <a:off x="457200" y="2267712"/>
            <a:ext cx="11320272" cy="841248"/>
          </a:xfrm>
          <a:prstGeom prst="roundRect">
            <a:avLst>
              <a:gd name="adj" fmla="val 8696"/>
            </a:avLst>
          </a:prstGeom>
          <a:solidFill>
            <a:srgbClr val="FBF6F0"/>
          </a:solidFill>
          <a:ln/>
        </p:spPr>
      </p:sp>
      <p:sp>
        <p:nvSpPr>
          <p:cNvPr id="8" name="Text 5"/>
          <p:cNvSpPr txBox="1"/>
          <p:nvPr/>
        </p:nvSpPr>
        <p:spPr>
          <a:xfrm>
            <a:off x="685800" y="2267712"/>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02</a:t>
            </a:r>
            <a:endParaRPr lang="en-US" sz="2800" dirty="0"/>
          </a:p>
        </p:txBody>
      </p:sp>
      <p:sp>
        <p:nvSpPr>
          <p:cNvPr id="9" name="Text 6"/>
          <p:cNvSpPr txBox="1"/>
          <p:nvPr/>
        </p:nvSpPr>
        <p:spPr>
          <a:xfrm>
            <a:off x="1554480" y="2267712"/>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Séparation des fonctions</a:t>
            </a:r>
            <a:r>
              <a:rPr lang="en-US" sz="1600" dirty="0">
                <a:solidFill>
                  <a:srgbClr val="3D3D3B"/>
                </a:solidFill>
              </a:rPr>
              <a:t>  —  celui qui a contribué au dossier ne le valide pas.</a:t>
            </a:r>
            <a:endParaRPr lang="en-US" sz="1600" dirty="0"/>
          </a:p>
        </p:txBody>
      </p:sp>
      <p:sp>
        <p:nvSpPr>
          <p:cNvPr id="10" name="decision-3"/>
          <p:cNvSpPr/>
          <p:nvPr/>
        </p:nvSpPr>
        <p:spPr>
          <a:xfrm>
            <a:off x="457200" y="3255264"/>
            <a:ext cx="11320272" cy="841248"/>
          </a:xfrm>
          <a:prstGeom prst="roundRect">
            <a:avLst>
              <a:gd name="adj" fmla="val 8696"/>
            </a:avLst>
          </a:prstGeom>
          <a:solidFill>
            <a:srgbClr val="F2E8DB"/>
          </a:solidFill>
          <a:ln/>
        </p:spPr>
      </p:sp>
      <p:sp>
        <p:nvSpPr>
          <p:cNvPr id="11" name="Text 8"/>
          <p:cNvSpPr txBox="1"/>
          <p:nvPr/>
        </p:nvSpPr>
        <p:spPr>
          <a:xfrm>
            <a:off x="685800" y="3255264"/>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03</a:t>
            </a:r>
            <a:endParaRPr lang="en-US" sz="2800" dirty="0"/>
          </a:p>
        </p:txBody>
      </p:sp>
      <p:sp>
        <p:nvSpPr>
          <p:cNvPr id="12" name="Text 9"/>
          <p:cNvSpPr txBox="1"/>
          <p:nvPr/>
        </p:nvSpPr>
        <p:spPr>
          <a:xfrm>
            <a:off x="1554480" y="3255264"/>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Données critiques</a:t>
            </a:r>
            <a:r>
              <a:rPr lang="en-US" sz="1600" dirty="0">
                <a:solidFill>
                  <a:srgbClr val="3D3D3B"/>
                </a:solidFill>
              </a:rPr>
              <a:t>  —  sans fonds propres, dette nette sur EBE et retards de paiement, aucune note.</a:t>
            </a:r>
            <a:endParaRPr lang="en-US" sz="1600" dirty="0"/>
          </a:p>
        </p:txBody>
      </p:sp>
      <p:sp>
        <p:nvSpPr>
          <p:cNvPr id="13" name="decision-4"/>
          <p:cNvSpPr/>
          <p:nvPr/>
        </p:nvSpPr>
        <p:spPr>
          <a:xfrm>
            <a:off x="457200" y="4242816"/>
            <a:ext cx="11320272" cy="841248"/>
          </a:xfrm>
          <a:prstGeom prst="roundRect">
            <a:avLst>
              <a:gd name="adj" fmla="val 8696"/>
            </a:avLst>
          </a:prstGeom>
          <a:solidFill>
            <a:srgbClr val="FBF6F0"/>
          </a:solidFill>
          <a:ln/>
        </p:spPr>
      </p:sp>
      <p:sp>
        <p:nvSpPr>
          <p:cNvPr id="14" name="Text 11"/>
          <p:cNvSpPr txBox="1"/>
          <p:nvPr/>
        </p:nvSpPr>
        <p:spPr>
          <a:xfrm>
            <a:off x="685800" y="4242816"/>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04</a:t>
            </a:r>
            <a:endParaRPr lang="en-US" sz="2800" dirty="0"/>
          </a:p>
        </p:txBody>
      </p:sp>
      <p:sp>
        <p:nvSpPr>
          <p:cNvPr id="15" name="Text 12"/>
          <p:cNvSpPr txBox="1"/>
          <p:nvPr/>
        </p:nvSpPr>
        <p:spPr>
          <a:xfrm>
            <a:off x="1554480" y="4242816"/>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Intelligence artificielle</a:t>
            </a:r>
            <a:r>
              <a:rPr lang="en-US" sz="1600" dirty="0">
                <a:solidFill>
                  <a:srgbClr val="3D3D3B"/>
                </a:solidFill>
              </a:rPr>
              <a:t>  —  elle propose ; l'analyste décide, et chaque décision est tracée.</a:t>
            </a:r>
            <a:endParaRPr lang="en-US" sz="1600" dirty="0"/>
          </a:p>
        </p:txBody>
      </p:sp>
      <p:sp>
        <p:nvSpPr>
          <p:cNvPr id="16" name="decision-5"/>
          <p:cNvSpPr/>
          <p:nvPr/>
        </p:nvSpPr>
        <p:spPr>
          <a:xfrm>
            <a:off x="457200" y="5230368"/>
            <a:ext cx="11320272" cy="841248"/>
          </a:xfrm>
          <a:prstGeom prst="roundRect">
            <a:avLst>
              <a:gd name="adj" fmla="val 8696"/>
            </a:avLst>
          </a:prstGeom>
          <a:solidFill>
            <a:srgbClr val="F2E8DB"/>
          </a:solidFill>
          <a:ln/>
        </p:spPr>
      </p:sp>
      <p:sp>
        <p:nvSpPr>
          <p:cNvPr id="17" name="Text 14"/>
          <p:cNvSpPr txBox="1"/>
          <p:nvPr/>
        </p:nvSpPr>
        <p:spPr>
          <a:xfrm>
            <a:off x="685800" y="5230368"/>
            <a:ext cx="822960" cy="841248"/>
          </a:xfrm>
          <a:prstGeom prst="rect">
            <a:avLst/>
          </a:prstGeom>
          <a:noFill/>
          <a:ln/>
        </p:spPr>
        <p:txBody>
          <a:bodyPr wrap="square" lIns="0" tIns="0" rIns="0" bIns="0" rtlCol="0" anchor="ctr"/>
          <a:lstStyle/>
          <a:p>
            <a:pPr indent="0" marL="0">
              <a:buNone/>
            </a:pPr>
            <a:r>
              <a:rPr lang="en-US" sz="2800" b="1" dirty="0">
                <a:solidFill>
                  <a:srgbClr val="E37B05"/>
                </a:solidFill>
              </a:rPr>
              <a:t>05</a:t>
            </a:r>
            <a:endParaRPr lang="en-US" sz="2800" dirty="0"/>
          </a:p>
        </p:txBody>
      </p:sp>
      <p:sp>
        <p:nvSpPr>
          <p:cNvPr id="18" name="Text 15"/>
          <p:cNvSpPr txBox="1"/>
          <p:nvPr/>
        </p:nvSpPr>
        <p:spPr>
          <a:xfrm>
            <a:off x="1554480" y="5230368"/>
            <a:ext cx="10058400" cy="841248"/>
          </a:xfrm>
          <a:prstGeom prst="rect">
            <a:avLst/>
          </a:prstGeom>
          <a:noFill/>
          <a:ln/>
        </p:spPr>
        <p:txBody>
          <a:bodyPr wrap="square" lIns="0" tIns="0" rIns="0" bIns="0" rtlCol="0" anchor="ctr"/>
          <a:lstStyle/>
          <a:p>
            <a:pPr indent="0" marL="0">
              <a:buNone/>
            </a:pPr>
            <a:pPr indent="0" marL="0">
              <a:buNone/>
            </a:pPr>
            <a:r>
              <a:rPr lang="en-US" sz="1600" b="1" dirty="0">
                <a:solidFill>
                  <a:srgbClr val="462016"/>
                </a:solidFill>
              </a:rPr>
              <a:t>Défaut et dérogations</a:t>
            </a:r>
            <a:r>
              <a:rPr lang="en-US" sz="1600" dirty="0">
                <a:solidFill>
                  <a:srgbClr val="3D3D3B"/>
                </a:solidFill>
              </a:rPr>
              <a:t>  —  un défaut s'impose ; une dérogation est limitée et doublement validée.</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C5B52"/>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3" type="title" hasCustomPrompt="1"/>
          </p:nvPr>
        </p:nvSpPr>
        <p:spPr>
          <a:xfrm>
            <a:off x="731520" y="3200400"/>
            <a:ext cx="8595360" cy="137160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BESOIN D'AIDE ?</a:t>
            </a:r>
            <a:endParaRPr lang="en-US" sz="4000" dirty="0"/>
          </a:p>
        </p:txBody>
      </p:sp>
      <p:sp>
        <p:nvSpPr>
          <p:cNvPr id="3" name="Text 0"/>
          <p:cNvSpPr/>
          <p:nvPr>
            <p:ph idx="104" type="body" hasCustomPrompt="1"/>
          </p:nvPr>
        </p:nvSpPr>
        <p:spPr>
          <a:xfrm>
            <a:off x="731520" y="4617720"/>
            <a:ext cx="8595360" cy="1097280"/>
          </a:xfrm>
          <a:prstGeom prst="rect">
            <a:avLst/>
          </a:prstGeom>
          <a:noFill/>
          <a:ln/>
        </p:spPr>
        <p:txBody>
          <a:bodyPr wrap="square" rtlCol="0" anchor="t"/>
          <a:lstStyle/>
          <a:p>
            <a:pPr algn="l" indent="0" marL="0">
              <a:buNone/>
            </a:pPr>
            <a:r>
              <a:rPr lang="en-US" sz="1800" dirty="0">
                <a:solidFill>
                  <a:schemeClr val="bg1"/>
                </a:solidFill>
                <a:latin typeface="Arial" pitchFamily="34" charset="0"/>
                <a:ea typeface="Arial" pitchFamily="34" charset="-122"/>
                <a:cs typeface="Arial" pitchFamily="34" charset="-120"/>
              </a:rPr>
              <a:t>Accès, mot de passe, rattachement : l'administrateur de l'outil. Méthode de notation : la Fonction Risques.</a:t>
            </a:r>
            <a:endParaRPr lang="en-US" sz="1800" dirty="0"/>
          </a:p>
        </p:txBody>
      </p:sp>
      <p:sp>
        <p:nvSpPr>
          <p:cNvPr id="4" name="Text 0"/>
          <p:cNvSpPr/>
          <p:nvPr>
            <p:ph idx="102" type="body" hasCustomPrompt="1"/>
          </p:nvPr>
        </p:nvSpPr>
        <p:spPr>
          <a:xfrm>
            <a:off x="731520" y="2103120"/>
            <a:ext cx="2743200" cy="1097280"/>
          </a:xfrm>
          <a:prstGeom prst="rect">
            <a:avLst/>
          </a:prstGeom>
          <a:noFill/>
          <a:ln/>
        </p:spPr>
        <p:txBody>
          <a:bodyPr wrap="square" rtlCol="0"/>
          <a:lstStyle/>
          <a:p>
            <a:pPr algn="l" indent="0" marL="0">
              <a:buNone/>
            </a:pPr>
            <a:endParaRPr lang="en-US" sz="6000" dirty="0"/>
          </a:p>
        </p:txBody>
      </p:sp>
    </p:spTree>
  </p:cSld>
  <p:clrMapOvr>
    <a:masterClrMapping/>
  </p:clrMapOvr>
</p:sld>
</file>

<file path=ppt/theme/theme1.xml><?xml version="1.0" encoding="utf-8"?>
<a:theme xmlns:a="http://schemas.openxmlformats.org/drawingml/2006/main" name="Groupe BCP">
  <a:themeElements>
    <a:clrScheme name="Groupe BCP">
      <a:dk1>
        <a:srgbClr val="3D3D3B"/>
      </a:dk1>
      <a:lt1>
        <a:srgbClr val="FFFFFF"/>
      </a:lt1>
      <a:dk2>
        <a:srgbClr val="462016"/>
      </a:dk2>
      <a:lt2>
        <a:srgbClr val="F2E8DB"/>
      </a:lt2>
      <a:accent1>
        <a:srgbClr val="E37B05"/>
      </a:accent1>
      <a:accent2>
        <a:srgbClr val="ED6D19"/>
      </a:accent2>
      <a:accent3>
        <a:srgbClr val="E12E16"/>
      </a:accent3>
      <a:accent4>
        <a:srgbClr val="8C5B52"/>
      </a:accent4>
      <a:accent5>
        <a:srgbClr val="C9560C"/>
      </a:accent5>
      <a:accent6>
        <a:srgbClr val="B3B2B2"/>
      </a:accent6>
      <a:hlink>
        <a:srgbClr val="C9560C"/>
      </a:hlink>
      <a:folHlink>
        <a:srgbClr val="8C5B52"/>
      </a:folHlink>
    </a:clrScheme>
    <a:fontScheme name="Groupe BC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SGES — Présentation au management</dc:title>
  <dc:subject>PptxGenJS Presentation</dc:subject>
  <dc:creator>Projet SGES</dc:creator>
  <cp:lastModifiedBy>Projet SGES</cp:lastModifiedBy>
  <cp:revision>1</cp:revision>
  <dcterms:created xsi:type="dcterms:W3CDTF">2026-10-26T16:52:09Z</dcterms:created>
  <dcterms:modified xsi:type="dcterms:W3CDTF">2026-10-26T16:52:09Z</dcterms:modified>
</cp:coreProperties>
</file>